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 id="2147483672" r:id="rId2"/>
  </p:sldMasterIdLst>
  <p:notesMasterIdLst>
    <p:notesMasterId r:id="rId5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D5F857-DF80-4505-8F08-FE4FB7382C66}">
  <a:tblStyle styleId="{86D5F857-DF80-4505-8F08-FE4FB7382C6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1042"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d7b00c54fa_6_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g3d7b00c54fa_6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d7b00c54fa_6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3d7b00c54fa_6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d7b00c54fa_6_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g3d7b00c54fa_6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d7b00c54fa_6_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3d7b00c54fa_6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d7b00c54fa_6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g3d7b00c54fa_6_35: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d7b00c54fa_6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3d7b00c54fa_6_44: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d7b00c54fa_6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g3d7b00c54fa_6_53: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d7b00c54fa_6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g3d7b00c54fa_6_62: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d7b00c54fa_6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3d7b00c54fa_6_71: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d7b00c54fa_6_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d7b00c54fa_6_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d7b00c54fa_6_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g3d7b00c54fa_6_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d7b00c54fa_6_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g3d7b00c54fa_6_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d7b00c54fa_6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g3d7b00c54fa_6_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d7b00c54fa_6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d7b00c54fa_6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d7b00c54fa_6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d7b00c54fa_6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d7b00c54fa_6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d7b00c54fa_6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d7b00c54fa_6_1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g3d7b00c54fa_6_1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d7b00c54fa_4_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g3d7b00c54fa_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d7b00c54fa_4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g3d7b00c54fa_4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d7b00c54fa_4_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d7b00c54fa_4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d7b00c54fa_4_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g3d7b00c54fa_4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d7b00c54fa_4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1" name="Google Shape;331;g3d7b00c54fa_4_35: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d7b00c54fa_4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g3d7b00c54fa_4_44: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d7b00c54fa_4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g3d7b00c54fa_4_53: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d7b00c54fa_4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3d7b00c54fa_4_62: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d7b00c54fa_4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g3d7b00c54fa_4_71: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d7b00c54fa_4_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1" name="Google Shape;381;g3d7b00c54fa_4_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d7b00c54fa_4_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g3d7b00c54fa_4_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d7b00c54fa_4_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g3d7b00c54fa_4_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d7b00c54fa_4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g3d7b00c54fa_4_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d7b00c54fa_4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3d7b00c54fa_4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d7b00c54fa_4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d7b00c54fa_4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d7b00c54fa_4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3d7b00c54fa_4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d7b00c54fa_4_1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g3d7b00c54fa_4_1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d7b00c54fa_2_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g3d7b00c54fa_2_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3d7b00c54fa_2_10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1" name="Google Shape;461;g3d7b00c54fa_2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d7b00c54fa_2_1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0" name="Google Shape;470;g3d7b00c54fa_2_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d7b00c54fa_2_1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9" name="Google Shape;479;g3d7b00c54fa_2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d7b00c54fa_2_1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8" name="Google Shape;488;g3d7b00c54fa_2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d7b00c54fa_2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7" name="Google Shape;497;g3d7b00c54fa_2_133: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d7b00c54fa_2_1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7" name="Google Shape;507;g3d7b00c54fa_2_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3d7b00c54fa_2_1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8" name="Google Shape;518;g3d7b00c54fa_2_1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d7b00c54fa_2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9" name="Google Shape;529;g3d7b00c54fa_2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3d7b00c54fa_2_1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0" name="Google Shape;540;g3d7b00c54fa_2_1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3d7b00c54fa_2_1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g3d7b00c54fa_2_1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d7b00c54fa_2_1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0" name="Google Shape;560;g3d7b00c54fa_2_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d7b00c54fa_2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9" name="Google Shape;569;g3d7b00c54fa_2_198: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d7b00c54fa_2_2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8" name="Google Shape;578;g3d7b00c54fa_2_2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3d7b00c54fa_2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7" name="Google Shape;587;g3d7b00c54fa_2_214: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3d7b00c54fa_2_222: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3d7b00c54fa_2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d7b00c54fa_2_2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4" name="Google Shape;604;g3d7b00c54fa_2_2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8" name="Google Shape;58;p14"/>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59" name="Google Shape;59;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 name="Google Shape;64;p1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5" name="Google Shape;65;p1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1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16"/>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71" name="Google Shape;71;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 name="Google Shape;73;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7"/>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7"/>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8" name="Google Shape;78;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4" name="Google Shape;84;p18"/>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5" name="Google Shape;85;p1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6" name="Google Shape;86;p18"/>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7" name="Google Shape;87;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9" name="Google Shape;89;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4" name="Google Shape;94;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3" name="Google Shape;103;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22"/>
          <p:cNvSpPr>
            <a:spLocks noGrp="1"/>
          </p:cNvSpPr>
          <p:nvPr>
            <p:ph type="pic" idx="2"/>
          </p:nvPr>
        </p:nvSpPr>
        <p:spPr>
          <a:xfrm>
            <a:off x="3887391" y="740569"/>
            <a:ext cx="4629150" cy="3655219"/>
          </a:xfrm>
          <a:prstGeom prst="rect">
            <a:avLst/>
          </a:prstGeom>
          <a:noFill/>
          <a:ln>
            <a:noFill/>
          </a:ln>
        </p:spPr>
      </p:sp>
      <p:sp>
        <p:nvSpPr>
          <p:cNvPr id="109" name="Google Shape;109;p22"/>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0" name="Google Shape;110;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Title and Content 1">
  <p:cSld name="Title and Content">
    <p:bg>
      <p:bgPr>
        <a:solidFill>
          <a:schemeClr val="lt1"/>
        </a:solidFill>
        <a:effectLst/>
      </p:bgPr>
    </p:bg>
    <p:spTree>
      <p:nvGrpSpPr>
        <p:cNvPr id="1" name="Shape 125"/>
        <p:cNvGrpSpPr/>
        <p:nvPr/>
      </p:nvGrpSpPr>
      <p:grpSpPr>
        <a:xfrm>
          <a:off x="0" y="0"/>
          <a:ext cx="0" cy="0"/>
          <a:chOff x="0" y="0"/>
          <a:chExt cx="0" cy="0"/>
        </a:xfrm>
      </p:grpSpPr>
      <p:sp>
        <p:nvSpPr>
          <p:cNvPr id="126" name="Google Shape;126;p25"/>
          <p:cNvSpPr/>
          <p:nvPr/>
        </p:nvSpPr>
        <p:spPr>
          <a:xfrm>
            <a:off x="628649" y="581891"/>
            <a:ext cx="8006239" cy="4083844"/>
          </a:xfrm>
          <a:custGeom>
            <a:avLst/>
            <a:gdLst/>
            <a:ahLst/>
            <a:cxnLst/>
            <a:rect l="l" t="t" r="r" b="b"/>
            <a:pathLst>
              <a:path w="10674985" h="5445125" extrusionOk="0">
                <a:moveTo>
                  <a:pt x="0" y="0"/>
                </a:moveTo>
                <a:lnTo>
                  <a:pt x="10674926" y="0"/>
                </a:lnTo>
                <a:lnTo>
                  <a:pt x="10674926" y="5444835"/>
                </a:lnTo>
                <a:lnTo>
                  <a:pt x="0" y="5444835"/>
                </a:lnTo>
                <a:lnTo>
                  <a:pt x="0" y="0"/>
                </a:lnTo>
                <a:close/>
              </a:path>
            </a:pathLst>
          </a:custGeom>
          <a:noFill/>
          <a:ln w="9525" cap="flat" cmpd="sng">
            <a:solidFill>
              <a:srgbClr val="C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400"/>
          </a:p>
        </p:txBody>
      </p:sp>
      <p:sp>
        <p:nvSpPr>
          <p:cNvPr id="127" name="Google Shape;127;p25"/>
          <p:cNvSpPr txBox="1">
            <a:spLocks noGrp="1"/>
          </p:cNvSpPr>
          <p:nvPr>
            <p:ph type="title"/>
          </p:nvPr>
        </p:nvSpPr>
        <p:spPr>
          <a:xfrm>
            <a:off x="1713011" y="180681"/>
            <a:ext cx="5717925" cy="293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3300"/>
              <a:buNone/>
              <a:defRPr sz="1800" b="1" i="0">
                <a:solidFill>
                  <a:srgbClr val="0070C0"/>
                </a:solidFill>
                <a:latin typeface="Cambria"/>
                <a:ea typeface="Cambria"/>
                <a:cs typeface="Cambria"/>
                <a:sym typeface="Cambr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8" name="Google Shape;128;p25"/>
          <p:cNvSpPr txBox="1">
            <a:spLocks noGrp="1"/>
          </p:cNvSpPr>
          <p:nvPr>
            <p:ph type="body" idx="1"/>
          </p:nvPr>
        </p:nvSpPr>
        <p:spPr>
          <a:xfrm>
            <a:off x="595313" y="1229052"/>
            <a:ext cx="7650450" cy="3175200"/>
          </a:xfrm>
          <a:prstGeom prst="rect">
            <a:avLst/>
          </a:prstGeom>
          <a:noFill/>
          <a:ln>
            <a:noFill/>
          </a:ln>
        </p:spPr>
        <p:txBody>
          <a:bodyPr spcFirstLastPara="1" wrap="square" lIns="0" tIns="0" rIns="0" bIns="0" anchor="t" anchorCtr="0">
            <a:spAutoFit/>
          </a:bodyPr>
          <a:lstStyle>
            <a:lvl1pPr marL="457200" lvl="0" indent="-228600" algn="l">
              <a:spcBef>
                <a:spcPts val="800"/>
              </a:spcBef>
              <a:spcAft>
                <a:spcPts val="0"/>
              </a:spcAft>
              <a:buSzPts val="2100"/>
              <a:buNone/>
              <a:defRPr b="0" i="0">
                <a:solidFill>
                  <a:schemeClr val="dk1"/>
                </a:solidFill>
              </a:defRPr>
            </a:lvl1pPr>
            <a:lvl2pPr marL="914400" lvl="1" indent="-228600" algn="l">
              <a:spcBef>
                <a:spcPts val="400"/>
              </a:spcBef>
              <a:spcAft>
                <a:spcPts val="0"/>
              </a:spcAft>
              <a:buSzPts val="1800"/>
              <a:buNone/>
              <a:defRPr/>
            </a:lvl2pPr>
            <a:lvl3pPr marL="1371600" lvl="2" indent="-228600" algn="l">
              <a:spcBef>
                <a:spcPts val="400"/>
              </a:spcBef>
              <a:spcAft>
                <a:spcPts val="0"/>
              </a:spcAft>
              <a:buSzPts val="1500"/>
              <a:buNone/>
              <a:defRPr/>
            </a:lvl3pPr>
            <a:lvl4pPr marL="1828800" lvl="3" indent="-228600" algn="l">
              <a:spcBef>
                <a:spcPts val="400"/>
              </a:spcBef>
              <a:spcAft>
                <a:spcPts val="0"/>
              </a:spcAft>
              <a:buSzPts val="1400"/>
              <a:buNone/>
              <a:defRPr/>
            </a:lvl4pPr>
            <a:lvl5pPr marL="2286000" lvl="4" indent="-228600" algn="l">
              <a:spcBef>
                <a:spcPts val="400"/>
              </a:spcBef>
              <a:spcAft>
                <a:spcPts val="0"/>
              </a:spcAft>
              <a:buSzPts val="1400"/>
              <a:buNone/>
              <a:defRPr/>
            </a:lvl5pPr>
            <a:lvl6pPr marL="2743200" lvl="5" indent="-228600" algn="l">
              <a:spcBef>
                <a:spcPts val="400"/>
              </a:spcBef>
              <a:spcAft>
                <a:spcPts val="0"/>
              </a:spcAft>
              <a:buSzPts val="1400"/>
              <a:buNone/>
              <a:defRPr/>
            </a:lvl6pPr>
            <a:lvl7pPr marL="3200400" lvl="6" indent="-228600" algn="l">
              <a:spcBef>
                <a:spcPts val="400"/>
              </a:spcBef>
              <a:spcAft>
                <a:spcPts val="0"/>
              </a:spcAft>
              <a:buSzPts val="1400"/>
              <a:buNone/>
              <a:defRPr/>
            </a:lvl7pPr>
            <a:lvl8pPr marL="3657600" lvl="7" indent="-228600" algn="l">
              <a:spcBef>
                <a:spcPts val="400"/>
              </a:spcBef>
              <a:spcAft>
                <a:spcPts val="0"/>
              </a:spcAft>
              <a:buSzPts val="1400"/>
              <a:buNone/>
              <a:defRPr/>
            </a:lvl8pPr>
            <a:lvl9pPr marL="4114800" lvl="8" indent="-228600" algn="l">
              <a:spcBef>
                <a:spcPts val="400"/>
              </a:spcBef>
              <a:spcAft>
                <a:spcPts val="0"/>
              </a:spcAft>
              <a:buSzPts val="1400"/>
              <a:buNone/>
              <a:defRPr/>
            </a:lvl9pPr>
          </a:lstStyle>
          <a:p>
            <a:endParaRPr/>
          </a:p>
        </p:txBody>
      </p:sp>
      <p:sp>
        <p:nvSpPr>
          <p:cNvPr id="129" name="Google Shape;129;p25"/>
          <p:cNvSpPr txBox="1">
            <a:spLocks noGrp="1"/>
          </p:cNvSpPr>
          <p:nvPr>
            <p:ph type="ftr" idx="11"/>
          </p:nvPr>
        </p:nvSpPr>
        <p:spPr>
          <a:xfrm>
            <a:off x="3879549" y="4850082"/>
            <a:ext cx="1383975" cy="133425"/>
          </a:xfrm>
          <a:prstGeom prst="rect">
            <a:avLst/>
          </a:prstGeom>
          <a:noFill/>
          <a:ln>
            <a:noFill/>
          </a:ln>
        </p:spPr>
        <p:txBody>
          <a:bodyPr spcFirstLastPara="1" wrap="square" lIns="0" tIns="0" rIns="0" bIns="0" anchor="t" anchorCtr="0">
            <a:spAutoFit/>
          </a:bodyPr>
          <a:lstStyle>
            <a:lvl1pPr lvl="0">
              <a:spcBef>
                <a:spcPts val="0"/>
              </a:spcBef>
              <a:spcAft>
                <a:spcPts val="0"/>
              </a:spcAft>
              <a:buSzPts val="1100"/>
              <a:buNone/>
              <a:defRPr sz="900" b="0" i="0">
                <a:solidFill>
                  <a:srgbClr val="888888"/>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0" name="Google Shape;130;p25"/>
          <p:cNvSpPr txBox="1">
            <a:spLocks noGrp="1"/>
          </p:cNvSpPr>
          <p:nvPr>
            <p:ph type="dt" idx="10"/>
          </p:nvPr>
        </p:nvSpPr>
        <p:spPr>
          <a:xfrm>
            <a:off x="683419" y="4827794"/>
            <a:ext cx="818100" cy="190575"/>
          </a:xfrm>
          <a:prstGeom prst="rect">
            <a:avLst/>
          </a:prstGeom>
          <a:noFill/>
          <a:ln>
            <a:noFill/>
          </a:ln>
        </p:spPr>
        <p:txBody>
          <a:bodyPr spcFirstLastPara="1" wrap="square" lIns="0" tIns="0" rIns="0" bIns="0" anchor="t" anchorCtr="0">
            <a:spAutoFit/>
          </a:bodyPr>
          <a:lstStyle>
            <a:lvl1pPr lvl="0">
              <a:spcBef>
                <a:spcPts val="0"/>
              </a:spcBef>
              <a:spcAft>
                <a:spcPts val="0"/>
              </a:spcAft>
              <a:buSzPts val="1100"/>
              <a:buNone/>
              <a:defRPr sz="1400" b="1" i="0">
                <a:solidFill>
                  <a:srgbClr val="375523"/>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1" name="Google Shape;131;p25"/>
          <p:cNvSpPr txBox="1">
            <a:spLocks noGrp="1"/>
          </p:cNvSpPr>
          <p:nvPr>
            <p:ph type="sldNum" idx="12"/>
          </p:nvPr>
        </p:nvSpPr>
        <p:spPr>
          <a:xfrm>
            <a:off x="8306618" y="4827794"/>
            <a:ext cx="182700" cy="207900"/>
          </a:xfrm>
          <a:prstGeom prst="rect">
            <a:avLst/>
          </a:prstGeom>
          <a:noFill/>
          <a:ln>
            <a:noFill/>
          </a:ln>
        </p:spPr>
        <p:txBody>
          <a:bodyPr spcFirstLastPara="1" wrap="square" lIns="0" tIns="0" rIns="0" bIns="0" anchor="t" anchorCtr="0">
            <a:spAutoFit/>
          </a:bodyPr>
          <a:lstStyle>
            <a:lvl1pPr marL="63500" lvl="0" indent="0">
              <a:lnSpc>
                <a:spcPct val="100555"/>
              </a:lnSpc>
              <a:spcBef>
                <a:spcPts val="0"/>
              </a:spcBef>
              <a:buNone/>
              <a:defRPr sz="1400" b="1" i="0">
                <a:solidFill>
                  <a:srgbClr val="375523"/>
                </a:solidFill>
                <a:latin typeface="Calibri"/>
                <a:ea typeface="Calibri"/>
                <a:cs typeface="Calibri"/>
                <a:sym typeface="Calibri"/>
              </a:defRPr>
            </a:lvl1pPr>
            <a:lvl2pPr marL="63500" lvl="1" indent="0">
              <a:lnSpc>
                <a:spcPct val="100555"/>
              </a:lnSpc>
              <a:spcBef>
                <a:spcPts val="0"/>
              </a:spcBef>
              <a:buNone/>
              <a:defRPr sz="1400" b="1" i="0">
                <a:solidFill>
                  <a:srgbClr val="375523"/>
                </a:solidFill>
                <a:latin typeface="Calibri"/>
                <a:ea typeface="Calibri"/>
                <a:cs typeface="Calibri"/>
                <a:sym typeface="Calibri"/>
              </a:defRPr>
            </a:lvl2pPr>
            <a:lvl3pPr marL="63500" lvl="2" indent="0">
              <a:lnSpc>
                <a:spcPct val="100555"/>
              </a:lnSpc>
              <a:spcBef>
                <a:spcPts val="0"/>
              </a:spcBef>
              <a:buNone/>
              <a:defRPr sz="1400" b="1" i="0">
                <a:solidFill>
                  <a:srgbClr val="375523"/>
                </a:solidFill>
                <a:latin typeface="Calibri"/>
                <a:ea typeface="Calibri"/>
                <a:cs typeface="Calibri"/>
                <a:sym typeface="Calibri"/>
              </a:defRPr>
            </a:lvl3pPr>
            <a:lvl4pPr marL="63500" lvl="3" indent="0">
              <a:lnSpc>
                <a:spcPct val="100555"/>
              </a:lnSpc>
              <a:spcBef>
                <a:spcPts val="0"/>
              </a:spcBef>
              <a:buNone/>
              <a:defRPr sz="1400" b="1" i="0">
                <a:solidFill>
                  <a:srgbClr val="375523"/>
                </a:solidFill>
                <a:latin typeface="Calibri"/>
                <a:ea typeface="Calibri"/>
                <a:cs typeface="Calibri"/>
                <a:sym typeface="Calibri"/>
              </a:defRPr>
            </a:lvl4pPr>
            <a:lvl5pPr marL="63500" lvl="4" indent="0">
              <a:lnSpc>
                <a:spcPct val="100555"/>
              </a:lnSpc>
              <a:spcBef>
                <a:spcPts val="0"/>
              </a:spcBef>
              <a:buNone/>
              <a:defRPr sz="1400" b="1" i="0">
                <a:solidFill>
                  <a:srgbClr val="375523"/>
                </a:solidFill>
                <a:latin typeface="Calibri"/>
                <a:ea typeface="Calibri"/>
                <a:cs typeface="Calibri"/>
                <a:sym typeface="Calibri"/>
              </a:defRPr>
            </a:lvl5pPr>
            <a:lvl6pPr marL="63500" lvl="5" indent="0">
              <a:lnSpc>
                <a:spcPct val="100555"/>
              </a:lnSpc>
              <a:spcBef>
                <a:spcPts val="0"/>
              </a:spcBef>
              <a:buNone/>
              <a:defRPr sz="1400" b="1" i="0">
                <a:solidFill>
                  <a:srgbClr val="375523"/>
                </a:solidFill>
                <a:latin typeface="Calibri"/>
                <a:ea typeface="Calibri"/>
                <a:cs typeface="Calibri"/>
                <a:sym typeface="Calibri"/>
              </a:defRPr>
            </a:lvl6pPr>
            <a:lvl7pPr marL="63500" lvl="6" indent="0">
              <a:lnSpc>
                <a:spcPct val="100555"/>
              </a:lnSpc>
              <a:spcBef>
                <a:spcPts val="0"/>
              </a:spcBef>
              <a:buNone/>
              <a:defRPr sz="1400" b="1" i="0">
                <a:solidFill>
                  <a:srgbClr val="375523"/>
                </a:solidFill>
                <a:latin typeface="Calibri"/>
                <a:ea typeface="Calibri"/>
                <a:cs typeface="Calibri"/>
                <a:sym typeface="Calibri"/>
              </a:defRPr>
            </a:lvl7pPr>
            <a:lvl8pPr marL="63500" lvl="7" indent="0">
              <a:lnSpc>
                <a:spcPct val="100555"/>
              </a:lnSpc>
              <a:spcBef>
                <a:spcPts val="0"/>
              </a:spcBef>
              <a:buNone/>
              <a:defRPr sz="1400" b="1" i="0">
                <a:solidFill>
                  <a:srgbClr val="375523"/>
                </a:solidFill>
                <a:latin typeface="Calibri"/>
                <a:ea typeface="Calibri"/>
                <a:cs typeface="Calibri"/>
                <a:sym typeface="Calibri"/>
              </a:defRPr>
            </a:lvl8pPr>
            <a:lvl9pPr marL="63500" lvl="8" indent="0">
              <a:lnSpc>
                <a:spcPct val="100555"/>
              </a:lnSpc>
              <a:spcBef>
                <a:spcPts val="0"/>
              </a:spcBef>
              <a:buNone/>
              <a:defRPr sz="1400" b="1" i="0">
                <a:solidFill>
                  <a:srgbClr val="375523"/>
                </a:solidFill>
                <a:latin typeface="Calibri"/>
                <a:ea typeface="Calibri"/>
                <a:cs typeface="Calibri"/>
                <a:sym typeface="Calibri"/>
              </a:defRPr>
            </a:lvl9pPr>
          </a:lstStyle>
          <a:p>
            <a:pPr marL="63500" lvl="0" indent="0" algn="r" rtl="0">
              <a:spcBef>
                <a:spcPts val="0"/>
              </a:spcBef>
              <a:spcAft>
                <a:spcPts val="0"/>
              </a:spcAft>
              <a:buNone/>
            </a:pPr>
            <a:fld id="{00000000-1234-1234-1234-123412341234}" type="slidenum">
              <a:rPr lang="en"/>
              <a:t>‹#›</a:t>
            </a:fld>
            <a:endParaRPr b="0">
              <a:solidFill>
                <a:srgbClr val="888888"/>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react.js" TargetMode="External"/><Relationship Id="rId2" Type="http://schemas.openxmlformats.org/officeDocument/2006/relationships/notesSlide" Target="../notesSlides/notesSlide5.xml"/><Relationship Id="rId1" Type="http://schemas.openxmlformats.org/officeDocument/2006/relationships/slideLayout" Target="../slideLayouts/slideLayout23.xml"/><Relationship Id="rId4" Type="http://schemas.openxmlformats.org/officeDocument/2006/relationships/hyperlink" Target="http://express.j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react.js" TargetMode="External"/><Relationship Id="rId2" Type="http://schemas.openxmlformats.org/officeDocument/2006/relationships/notesSlide" Target="../notesSlides/notesSlide22.xml"/><Relationship Id="rId1" Type="http://schemas.openxmlformats.org/officeDocument/2006/relationships/slideLayout" Target="../slideLayouts/slideLayout23.xml"/><Relationship Id="rId4" Type="http://schemas.openxmlformats.org/officeDocument/2006/relationships/hyperlink" Target="http://express.j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6"/>
          <p:cNvSpPr txBox="1">
            <a:spLocks noGrp="1"/>
          </p:cNvSpPr>
          <p:nvPr>
            <p:ph type="ctrTitle"/>
          </p:nvPr>
        </p:nvSpPr>
        <p:spPr>
          <a:xfrm>
            <a:off x="1377024" y="1071738"/>
            <a:ext cx="6858000" cy="755400"/>
          </a:xfrm>
          <a:prstGeom prst="rect">
            <a:avLst/>
          </a:prstGeom>
          <a:noFill/>
          <a:ln>
            <a:noFill/>
          </a:ln>
        </p:spPr>
        <p:txBody>
          <a:bodyPr spcFirstLastPara="1" wrap="square" lIns="68575" tIns="34275" rIns="68575" bIns="34275" anchor="t" anchorCtr="0">
            <a:normAutofit/>
          </a:bodyPr>
          <a:lstStyle/>
          <a:p>
            <a:pPr marL="0" lvl="0" indent="0" algn="ctr" rtl="0">
              <a:lnSpc>
                <a:spcPct val="100000"/>
              </a:lnSpc>
              <a:spcBef>
                <a:spcPts val="0"/>
              </a:spcBef>
              <a:spcAft>
                <a:spcPts val="0"/>
              </a:spcAft>
              <a:buClr>
                <a:schemeClr val="dk1"/>
              </a:buClr>
              <a:buSzPts val="1400"/>
              <a:buFont typeface="Cambria"/>
              <a:buNone/>
            </a:pPr>
            <a:r>
              <a:rPr lang="en" sz="1400" b="1">
                <a:latin typeface="Cambria"/>
                <a:ea typeface="Cambria"/>
                <a:cs typeface="Cambria"/>
                <a:sym typeface="Cambria"/>
              </a:rPr>
              <a:t>Academic Year 2025 - 26 </a:t>
            </a:r>
            <a:br>
              <a:rPr lang="en" sz="1400" b="1">
                <a:latin typeface="Cambria"/>
                <a:ea typeface="Cambria"/>
                <a:cs typeface="Cambria"/>
                <a:sym typeface="Cambria"/>
              </a:rPr>
            </a:br>
            <a:r>
              <a:rPr lang="en" sz="1400" b="1">
                <a:solidFill>
                  <a:srgbClr val="C00000"/>
                </a:solidFill>
                <a:latin typeface="Cambria"/>
                <a:ea typeface="Cambria"/>
                <a:cs typeface="Cambria"/>
                <a:sym typeface="Cambria"/>
              </a:rPr>
              <a:t> MINI PROJECT </a:t>
            </a:r>
            <a:br>
              <a:rPr lang="en" sz="1400" b="1">
                <a:solidFill>
                  <a:srgbClr val="C00000"/>
                </a:solidFill>
                <a:latin typeface="Cambria"/>
                <a:ea typeface="Cambria"/>
                <a:cs typeface="Cambria"/>
                <a:sym typeface="Cambria"/>
              </a:rPr>
            </a:br>
            <a:r>
              <a:rPr lang="en" sz="1400" b="1">
                <a:latin typeface="Cambria"/>
                <a:ea typeface="Cambria"/>
                <a:cs typeface="Cambria"/>
                <a:sym typeface="Cambria"/>
              </a:rPr>
              <a:t>Phase - 2 Review </a:t>
            </a:r>
            <a:endParaRPr sz="1400" b="1">
              <a:latin typeface="Cambria"/>
              <a:ea typeface="Cambria"/>
              <a:cs typeface="Cambria"/>
              <a:sym typeface="Cambria"/>
            </a:endParaRPr>
          </a:p>
        </p:txBody>
      </p:sp>
      <p:sp>
        <p:nvSpPr>
          <p:cNvPr id="137" name="Google Shape;137;p26"/>
          <p:cNvSpPr txBox="1">
            <a:spLocks noGrp="1"/>
          </p:cNvSpPr>
          <p:nvPr>
            <p:ph type="subTitle" idx="1"/>
          </p:nvPr>
        </p:nvSpPr>
        <p:spPr>
          <a:xfrm>
            <a:off x="1377024" y="1884055"/>
            <a:ext cx="6858000" cy="9573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rgbClr val="385623"/>
              </a:buClr>
              <a:buSzPts val="1800"/>
              <a:buNone/>
            </a:pPr>
            <a:r>
              <a:rPr lang="en" b="1" dirty="0">
                <a:solidFill>
                  <a:srgbClr val="385623"/>
                </a:solidFill>
                <a:latin typeface="Cambria"/>
                <a:ea typeface="Cambria"/>
                <a:cs typeface="Cambria"/>
                <a:sym typeface="Cambria"/>
              </a:rPr>
              <a:t>PROJECT TITLE</a:t>
            </a:r>
            <a:endParaRPr b="1" dirty="0">
              <a:solidFill>
                <a:srgbClr val="385623"/>
              </a:solidFill>
              <a:latin typeface="Cambria"/>
              <a:ea typeface="Cambria"/>
              <a:cs typeface="Cambria"/>
              <a:sym typeface="Cambria"/>
            </a:endParaRPr>
          </a:p>
          <a:p>
            <a:pPr marL="0" indent="0">
              <a:lnSpc>
                <a:spcPct val="113958"/>
              </a:lnSpc>
              <a:spcBef>
                <a:spcPts val="0"/>
              </a:spcBef>
            </a:pPr>
            <a:r>
              <a:rPr lang="en-IN" b="1" dirty="0">
                <a:solidFill>
                  <a:srgbClr val="002060"/>
                </a:solidFill>
                <a:latin typeface="Times New Roman"/>
                <a:cs typeface="Times New Roman"/>
              </a:rPr>
              <a:t>Academic Learning Effectiveness Platform</a:t>
            </a:r>
          </a:p>
          <a:p>
            <a:pPr marL="0" lvl="0" indent="0" algn="ctr" rtl="0">
              <a:lnSpc>
                <a:spcPct val="113958"/>
              </a:lnSpc>
              <a:spcBef>
                <a:spcPts val="0"/>
              </a:spcBef>
              <a:spcAft>
                <a:spcPts val="0"/>
              </a:spcAft>
              <a:buClr>
                <a:schemeClr val="dk1"/>
              </a:buClr>
              <a:buFont typeface="Arial"/>
              <a:buNone/>
            </a:pPr>
            <a:r>
              <a:rPr lang="en-IN" sz="1500" b="1" dirty="0" err="1">
                <a:solidFill>
                  <a:srgbClr val="002060"/>
                </a:solidFill>
                <a:latin typeface="Times New Roman"/>
                <a:ea typeface="Cambria"/>
                <a:cs typeface="Times New Roman"/>
                <a:sym typeface="Times New Roman"/>
              </a:rPr>
              <a:t>SkillBridge</a:t>
            </a:r>
            <a:endParaRPr sz="1500" dirty="0">
              <a:latin typeface="Cambria"/>
              <a:ea typeface="Cambria"/>
              <a:cs typeface="Cambria"/>
              <a:sym typeface="Cambria"/>
            </a:endParaRPr>
          </a:p>
          <a:p>
            <a:pPr marL="0" lvl="0" indent="0" algn="ctr" rtl="0">
              <a:lnSpc>
                <a:spcPct val="90000"/>
              </a:lnSpc>
              <a:spcBef>
                <a:spcPts val="800"/>
              </a:spcBef>
              <a:spcAft>
                <a:spcPts val="0"/>
              </a:spcAft>
              <a:buClr>
                <a:schemeClr val="dk1"/>
              </a:buClr>
              <a:buSzPts val="1800"/>
              <a:buNone/>
            </a:pPr>
            <a:endParaRPr sz="1500" b="1" dirty="0">
              <a:solidFill>
                <a:srgbClr val="7030A0"/>
              </a:solidFill>
              <a:latin typeface="Cambria"/>
              <a:ea typeface="Cambria"/>
              <a:cs typeface="Cambria"/>
              <a:sym typeface="Cambria"/>
            </a:endParaRPr>
          </a:p>
          <a:p>
            <a:pPr marL="0" lvl="0" indent="0" algn="ctr" rtl="0">
              <a:lnSpc>
                <a:spcPct val="90000"/>
              </a:lnSpc>
              <a:spcBef>
                <a:spcPts val="800"/>
              </a:spcBef>
              <a:spcAft>
                <a:spcPts val="0"/>
              </a:spcAft>
              <a:buClr>
                <a:schemeClr val="dk1"/>
              </a:buClr>
              <a:buSzPts val="1800"/>
              <a:buNone/>
            </a:pPr>
            <a:endParaRPr sz="1500" b="1" dirty="0">
              <a:latin typeface="Cambria"/>
              <a:ea typeface="Cambria"/>
              <a:cs typeface="Cambria"/>
              <a:sym typeface="Cambria"/>
            </a:endParaRPr>
          </a:p>
        </p:txBody>
      </p:sp>
      <p:pic>
        <p:nvPicPr>
          <p:cNvPr id="138" name="Google Shape;138;p26"/>
          <p:cNvPicPr preferRelativeResize="0"/>
          <p:nvPr/>
        </p:nvPicPr>
        <p:blipFill rotWithShape="1">
          <a:blip r:embed="rId3">
            <a:alphaModFix/>
          </a:blip>
          <a:srcRect/>
          <a:stretch/>
        </p:blipFill>
        <p:spPr>
          <a:xfrm>
            <a:off x="1683326" y="19228"/>
            <a:ext cx="5756565" cy="981470"/>
          </a:xfrm>
          <a:prstGeom prst="rect">
            <a:avLst/>
          </a:prstGeom>
          <a:noFill/>
          <a:ln>
            <a:noFill/>
          </a:ln>
        </p:spPr>
      </p:pic>
      <p:sp>
        <p:nvSpPr>
          <p:cNvPr id="139" name="Google Shape;139;p26"/>
          <p:cNvSpPr txBox="1"/>
          <p:nvPr/>
        </p:nvSpPr>
        <p:spPr>
          <a:xfrm>
            <a:off x="2777006" y="2920241"/>
            <a:ext cx="3920100" cy="10599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800"/>
              </a:spcBef>
              <a:spcAft>
                <a:spcPts val="0"/>
              </a:spcAft>
              <a:buClr>
                <a:srgbClr val="7030A0"/>
              </a:buClr>
              <a:buSzPts val="1400"/>
              <a:buFont typeface="Arial"/>
              <a:buNone/>
            </a:pPr>
            <a:r>
              <a:rPr lang="en" sz="1200" b="1" dirty="0">
                <a:solidFill>
                  <a:srgbClr val="7030A0"/>
                </a:solidFill>
                <a:latin typeface="Cambria"/>
                <a:ea typeface="Cambria"/>
                <a:cs typeface="Cambria"/>
                <a:sym typeface="Cambria"/>
              </a:rPr>
              <a:t> </a:t>
            </a:r>
            <a:endParaRPr sz="1200" b="1" dirty="0">
              <a:solidFill>
                <a:srgbClr val="7030A0"/>
              </a:solidFill>
              <a:latin typeface="Cambria"/>
              <a:ea typeface="Cambria"/>
              <a:cs typeface="Cambria"/>
              <a:sym typeface="Cambria"/>
            </a:endParaRPr>
          </a:p>
          <a:p>
            <a:pPr marL="0" marR="0" lvl="0" indent="0" algn="ctr" rtl="0">
              <a:lnSpc>
                <a:spcPct val="115000"/>
              </a:lnSpc>
              <a:spcBef>
                <a:spcPts val="800"/>
              </a:spcBef>
              <a:spcAft>
                <a:spcPts val="0"/>
              </a:spcAft>
              <a:buClr>
                <a:srgbClr val="7030A0"/>
              </a:buClr>
              <a:buSzPts val="1400"/>
              <a:buFont typeface="Arial"/>
              <a:buNone/>
            </a:pPr>
            <a:r>
              <a:rPr lang="en" sz="1200" b="1" dirty="0">
                <a:solidFill>
                  <a:srgbClr val="7030A0"/>
                </a:solidFill>
                <a:latin typeface="Cambria"/>
                <a:ea typeface="Cambria"/>
                <a:cs typeface="Cambria"/>
                <a:sym typeface="Cambria"/>
              </a:rPr>
              <a:t>VIDHYA S</a:t>
            </a:r>
          </a:p>
          <a:p>
            <a:pPr marL="0" marR="0" lvl="0" indent="0" algn="ctr" rtl="0">
              <a:lnSpc>
                <a:spcPct val="115000"/>
              </a:lnSpc>
              <a:spcBef>
                <a:spcPts val="800"/>
              </a:spcBef>
              <a:spcAft>
                <a:spcPts val="0"/>
              </a:spcAft>
              <a:buClr>
                <a:srgbClr val="7030A0"/>
              </a:buClr>
              <a:buSzPts val="1400"/>
              <a:buFont typeface="Arial"/>
              <a:buNone/>
            </a:pPr>
            <a:r>
              <a:rPr lang="en" sz="1200" b="1" dirty="0">
                <a:solidFill>
                  <a:srgbClr val="7030A0"/>
                </a:solidFill>
                <a:latin typeface="Cambria"/>
                <a:ea typeface="Cambria"/>
                <a:cs typeface="Cambria"/>
                <a:sym typeface="Cambria"/>
              </a:rPr>
              <a:t>7376231MZ155</a:t>
            </a:r>
            <a:endParaRPr sz="1200" b="1" dirty="0">
              <a:solidFill>
                <a:srgbClr val="7030A0"/>
              </a:solidFill>
              <a:latin typeface="Cambria"/>
              <a:ea typeface="Cambria"/>
              <a:cs typeface="Cambria"/>
              <a:sym typeface="Cambria"/>
            </a:endParaRPr>
          </a:p>
          <a:p>
            <a:pPr marL="0" marR="0" lvl="0" indent="0" algn="ctr" rtl="0">
              <a:lnSpc>
                <a:spcPct val="90000"/>
              </a:lnSpc>
              <a:spcBef>
                <a:spcPts val="800"/>
              </a:spcBef>
              <a:spcAft>
                <a:spcPts val="0"/>
              </a:spcAft>
              <a:buClr>
                <a:schemeClr val="dk1"/>
              </a:buClr>
              <a:buSzPts val="1800"/>
              <a:buFont typeface="Arial"/>
              <a:buNone/>
            </a:pPr>
            <a:endParaRPr sz="1200" b="1" i="0" u="none" strike="noStrike" cap="none" dirty="0">
              <a:solidFill>
                <a:schemeClr val="dk1"/>
              </a:solidFill>
              <a:latin typeface="Cambria"/>
              <a:ea typeface="Cambria"/>
              <a:cs typeface="Cambria"/>
              <a:sym typeface="Cambria"/>
            </a:endParaRPr>
          </a:p>
        </p:txBody>
      </p:sp>
      <p:sp>
        <p:nvSpPr>
          <p:cNvPr id="140" name="Google Shape;140;p26"/>
          <p:cNvSpPr txBox="1"/>
          <p:nvPr/>
        </p:nvSpPr>
        <p:spPr>
          <a:xfrm>
            <a:off x="5078441" y="3844636"/>
            <a:ext cx="3774600" cy="1080675"/>
          </a:xfrm>
          <a:prstGeom prst="rect">
            <a:avLst/>
          </a:prstGeom>
          <a:noFill/>
          <a:ln>
            <a:noFill/>
          </a:ln>
        </p:spPr>
        <p:txBody>
          <a:bodyPr spcFirstLastPara="1" wrap="square" lIns="68575" tIns="34275" rIns="68575" bIns="34275" anchor="t" anchorCtr="0">
            <a:normAutofit/>
          </a:bodyPr>
          <a:lstStyle/>
          <a:p>
            <a:pPr marL="0" marR="0" lvl="0" indent="0" algn="ctr" rtl="0">
              <a:lnSpc>
                <a:spcPct val="100000"/>
              </a:lnSpc>
              <a:spcBef>
                <a:spcPts val="500"/>
              </a:spcBef>
              <a:spcAft>
                <a:spcPts val="0"/>
              </a:spcAft>
              <a:buClr>
                <a:srgbClr val="7030A0"/>
              </a:buClr>
              <a:buSzPts val="1400"/>
              <a:buFont typeface="Arial"/>
              <a:buNone/>
            </a:pPr>
            <a:endParaRPr sz="1800" b="1" i="0" u="none" strike="noStrike" cap="none">
              <a:solidFill>
                <a:schemeClr val="dk1"/>
              </a:solidFill>
              <a:latin typeface="Cambria"/>
              <a:ea typeface="Cambria"/>
              <a:cs typeface="Cambria"/>
              <a:sym typeface="Cambria"/>
            </a:endParaRPr>
          </a:p>
        </p:txBody>
      </p:sp>
      <p:sp>
        <p:nvSpPr>
          <p:cNvPr id="141" name="Google Shape;141;p26"/>
          <p:cNvSpPr txBox="1"/>
          <p:nvPr/>
        </p:nvSpPr>
        <p:spPr>
          <a:xfrm>
            <a:off x="1084724" y="2995628"/>
            <a:ext cx="2202900" cy="284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a:spLocks noGrp="1"/>
          </p:cNvSpPr>
          <p:nvPr>
            <p:ph type="ctrTitle"/>
          </p:nvPr>
        </p:nvSpPr>
        <p:spPr>
          <a:xfrm>
            <a:off x="1377024" y="1071738"/>
            <a:ext cx="6858000" cy="755400"/>
          </a:xfrm>
          <a:prstGeom prst="rect">
            <a:avLst/>
          </a:prstGeom>
          <a:noFill/>
          <a:ln>
            <a:noFill/>
          </a:ln>
        </p:spPr>
        <p:txBody>
          <a:bodyPr spcFirstLastPara="1" wrap="square" lIns="68575" tIns="34275" rIns="68575" bIns="34275" anchor="t" anchorCtr="0">
            <a:normAutofit/>
          </a:bodyPr>
          <a:lstStyle/>
          <a:p>
            <a:pPr marL="0" lvl="0" indent="0" algn="ctr" rtl="0">
              <a:lnSpc>
                <a:spcPct val="100000"/>
              </a:lnSpc>
              <a:spcBef>
                <a:spcPts val="0"/>
              </a:spcBef>
              <a:spcAft>
                <a:spcPts val="0"/>
              </a:spcAft>
              <a:buClr>
                <a:schemeClr val="dk1"/>
              </a:buClr>
              <a:buSzPts val="1400"/>
              <a:buFont typeface="Cambria"/>
              <a:buNone/>
            </a:pPr>
            <a:r>
              <a:rPr lang="en" sz="1400" b="1" dirty="0">
                <a:latin typeface="Cambria"/>
                <a:ea typeface="Cambria"/>
                <a:cs typeface="Cambria"/>
                <a:sym typeface="Cambria"/>
              </a:rPr>
              <a:t>Academic Year 2025 - 26 </a:t>
            </a:r>
            <a:br>
              <a:rPr lang="en" sz="1400" b="1" dirty="0">
                <a:latin typeface="Cambria"/>
                <a:ea typeface="Cambria"/>
                <a:cs typeface="Cambria"/>
                <a:sym typeface="Cambria"/>
              </a:rPr>
            </a:br>
            <a:r>
              <a:rPr lang="en" sz="1400" b="1" dirty="0">
                <a:solidFill>
                  <a:srgbClr val="C00000"/>
                </a:solidFill>
                <a:latin typeface="Cambria"/>
                <a:ea typeface="Cambria"/>
                <a:cs typeface="Cambria"/>
                <a:sym typeface="Cambria"/>
              </a:rPr>
              <a:t> MINI PROJECT </a:t>
            </a:r>
            <a:br>
              <a:rPr lang="en" sz="1400" b="1" dirty="0">
                <a:solidFill>
                  <a:srgbClr val="C00000"/>
                </a:solidFill>
                <a:latin typeface="Cambria"/>
                <a:ea typeface="Cambria"/>
                <a:cs typeface="Cambria"/>
                <a:sym typeface="Cambria"/>
              </a:rPr>
            </a:br>
            <a:r>
              <a:rPr lang="en" sz="1400" b="1" dirty="0">
                <a:latin typeface="Cambria"/>
                <a:ea typeface="Cambria"/>
                <a:cs typeface="Cambria"/>
                <a:sym typeface="Cambria"/>
              </a:rPr>
              <a:t>Phase - 2 Review </a:t>
            </a:r>
            <a:endParaRPr sz="1400" b="1" dirty="0">
              <a:latin typeface="Cambria"/>
              <a:ea typeface="Cambria"/>
              <a:cs typeface="Cambria"/>
              <a:sym typeface="Cambria"/>
            </a:endParaRPr>
          </a:p>
        </p:txBody>
      </p:sp>
      <p:sp>
        <p:nvSpPr>
          <p:cNvPr id="148" name="Google Shape;148;p27"/>
          <p:cNvSpPr txBox="1">
            <a:spLocks noGrp="1"/>
          </p:cNvSpPr>
          <p:nvPr>
            <p:ph type="subTitle" idx="1"/>
          </p:nvPr>
        </p:nvSpPr>
        <p:spPr>
          <a:xfrm>
            <a:off x="3430675" y="2027375"/>
            <a:ext cx="2750700" cy="2221200"/>
          </a:xfrm>
          <a:prstGeom prst="rect">
            <a:avLst/>
          </a:prstGeom>
          <a:noFill/>
          <a:ln>
            <a:noFill/>
          </a:ln>
        </p:spPr>
        <p:txBody>
          <a:bodyPr spcFirstLastPara="1" wrap="square" lIns="68575" tIns="34275" rIns="68575" bIns="34275" anchor="t" anchorCtr="0">
            <a:noAutofit/>
          </a:bodyPr>
          <a:lstStyle/>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1 . Aim and Objective of the project</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2. Literature Survey</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3. Technical Stack</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4. Proposed Methodology</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5. Design</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6.  Database Schema</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7. Reference</a:t>
            </a:r>
            <a:endParaRPr sz="1300" b="1">
              <a:latin typeface="Cambria"/>
              <a:ea typeface="Cambria"/>
              <a:cs typeface="Cambria"/>
              <a:sym typeface="Cambria"/>
            </a:endParaRPr>
          </a:p>
        </p:txBody>
      </p:sp>
      <p:pic>
        <p:nvPicPr>
          <p:cNvPr id="149" name="Google Shape;149;p27"/>
          <p:cNvPicPr preferRelativeResize="0"/>
          <p:nvPr/>
        </p:nvPicPr>
        <p:blipFill rotWithShape="1">
          <a:blip r:embed="rId3">
            <a:alphaModFix/>
          </a:blip>
          <a:srcRect/>
          <a:stretch/>
        </p:blipFill>
        <p:spPr>
          <a:xfrm>
            <a:off x="1683326" y="19228"/>
            <a:ext cx="5756565" cy="981470"/>
          </a:xfrm>
          <a:prstGeom prst="rect">
            <a:avLst/>
          </a:prstGeom>
          <a:noFill/>
          <a:ln>
            <a:noFill/>
          </a:ln>
        </p:spPr>
      </p:pic>
      <p:sp>
        <p:nvSpPr>
          <p:cNvPr id="150" name="Google Shape;150;p27"/>
          <p:cNvSpPr txBox="1"/>
          <p:nvPr/>
        </p:nvSpPr>
        <p:spPr>
          <a:xfrm>
            <a:off x="2845970" y="2977892"/>
            <a:ext cx="3920100" cy="10599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800"/>
              </a:spcBef>
              <a:spcAft>
                <a:spcPts val="0"/>
              </a:spcAft>
              <a:buClr>
                <a:srgbClr val="7030A0"/>
              </a:buClr>
              <a:buSzPts val="1400"/>
              <a:buFont typeface="Arial"/>
              <a:buNone/>
            </a:pPr>
            <a:endParaRPr sz="1200" b="1">
              <a:solidFill>
                <a:srgbClr val="7030A0"/>
              </a:solidFill>
              <a:latin typeface="Cambria"/>
              <a:ea typeface="Cambria"/>
              <a:cs typeface="Cambria"/>
              <a:sym typeface="Cambria"/>
            </a:endParaRPr>
          </a:p>
          <a:p>
            <a:pPr marL="0" marR="0" lvl="0" indent="0" algn="ctr" rtl="0">
              <a:lnSpc>
                <a:spcPct val="90000"/>
              </a:lnSpc>
              <a:spcBef>
                <a:spcPts val="800"/>
              </a:spcBef>
              <a:spcAft>
                <a:spcPts val="0"/>
              </a:spcAft>
              <a:buClr>
                <a:schemeClr val="dk1"/>
              </a:buClr>
              <a:buSzPts val="1800"/>
              <a:buFont typeface="Arial"/>
              <a:buNone/>
            </a:pPr>
            <a:endParaRPr sz="1200" b="1" i="0" u="none" strike="noStrike" cap="none">
              <a:solidFill>
                <a:schemeClr val="dk1"/>
              </a:solidFill>
              <a:latin typeface="Cambria"/>
              <a:ea typeface="Cambria"/>
              <a:cs typeface="Cambria"/>
              <a:sym typeface="Cambria"/>
            </a:endParaRPr>
          </a:p>
        </p:txBody>
      </p:sp>
      <p:sp>
        <p:nvSpPr>
          <p:cNvPr id="151" name="Google Shape;151;p27"/>
          <p:cNvSpPr txBox="1"/>
          <p:nvPr/>
        </p:nvSpPr>
        <p:spPr>
          <a:xfrm>
            <a:off x="5078441" y="3844636"/>
            <a:ext cx="3774600" cy="1080600"/>
          </a:xfrm>
          <a:prstGeom prst="rect">
            <a:avLst/>
          </a:prstGeom>
          <a:noFill/>
          <a:ln>
            <a:noFill/>
          </a:ln>
        </p:spPr>
        <p:txBody>
          <a:bodyPr spcFirstLastPara="1" wrap="square" lIns="68575" tIns="34275" rIns="68575" bIns="34275" anchor="t" anchorCtr="0">
            <a:normAutofit/>
          </a:bodyPr>
          <a:lstStyle/>
          <a:p>
            <a:pPr marL="0" marR="0" lvl="0" indent="0" algn="ctr" rtl="0">
              <a:lnSpc>
                <a:spcPct val="100000"/>
              </a:lnSpc>
              <a:spcBef>
                <a:spcPts val="500"/>
              </a:spcBef>
              <a:spcAft>
                <a:spcPts val="0"/>
              </a:spcAft>
              <a:buClr>
                <a:srgbClr val="7030A0"/>
              </a:buClr>
              <a:buSzPts val="1400"/>
              <a:buFont typeface="Arial"/>
              <a:buNone/>
            </a:pPr>
            <a:endParaRPr sz="1800" b="1" i="0" u="none" strike="noStrike" cap="none">
              <a:solidFill>
                <a:schemeClr val="dk1"/>
              </a:solidFill>
              <a:latin typeface="Cambria"/>
              <a:ea typeface="Cambria"/>
              <a:cs typeface="Cambria"/>
              <a:sym typeface="Cambria"/>
            </a:endParaRPr>
          </a:p>
        </p:txBody>
      </p:sp>
      <p:sp>
        <p:nvSpPr>
          <p:cNvPr id="152" name="Google Shape;152;p27"/>
          <p:cNvSpPr txBox="1"/>
          <p:nvPr/>
        </p:nvSpPr>
        <p:spPr>
          <a:xfrm>
            <a:off x="1084724" y="2995628"/>
            <a:ext cx="2202900" cy="284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mbria"/>
              <a:ea typeface="Cambria"/>
              <a:cs typeface="Cambria"/>
              <a:sym typeface="Cambria"/>
            </a:endParaRPr>
          </a:p>
        </p:txBody>
      </p:sp>
      <p:sp>
        <p:nvSpPr>
          <p:cNvPr id="153" name="Google Shape;153;p27"/>
          <p:cNvSpPr txBox="1"/>
          <p:nvPr/>
        </p:nvSpPr>
        <p:spPr>
          <a:xfrm>
            <a:off x="4249883" y="2977893"/>
            <a:ext cx="4603200" cy="284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txBox="1">
            <a:spLocks noGrp="1"/>
          </p:cNvSpPr>
          <p:nvPr>
            <p:ph type="body" idx="1"/>
          </p:nvPr>
        </p:nvSpPr>
        <p:spPr>
          <a:xfrm>
            <a:off x="628650" y="737755"/>
            <a:ext cx="7886700" cy="3894968"/>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0" lvl="0" indent="0" algn="l" rtl="0">
              <a:lnSpc>
                <a:spcPct val="100000"/>
              </a:lnSpc>
              <a:spcBef>
                <a:spcPts val="700"/>
              </a:spcBef>
              <a:spcAft>
                <a:spcPts val="0"/>
              </a:spcAft>
              <a:buClr>
                <a:schemeClr val="dk1"/>
              </a:buClr>
              <a:buSzPts val="800"/>
              <a:buFont typeface="Arial"/>
              <a:buNone/>
            </a:pPr>
            <a:r>
              <a:rPr lang="en" sz="1800" b="1">
                <a:solidFill>
                  <a:srgbClr val="4BACC6"/>
                </a:solidFill>
                <a:latin typeface="Cambria"/>
                <a:ea typeface="Cambria"/>
                <a:cs typeface="Cambria"/>
                <a:sym typeface="Cambria"/>
              </a:rPr>
              <a:t>AIM : </a:t>
            </a:r>
            <a:endParaRPr sz="1800" b="1">
              <a:solidFill>
                <a:srgbClr val="4BACC6"/>
              </a:solidFill>
              <a:latin typeface="Cambria"/>
              <a:ea typeface="Cambria"/>
              <a:cs typeface="Cambria"/>
              <a:sym typeface="Cambria"/>
            </a:endParaRPr>
          </a:p>
          <a:p>
            <a:pPr marL="457200" lvl="0" indent="-323850" algn="l" rtl="0">
              <a:lnSpc>
                <a:spcPct val="100000"/>
              </a:lnSpc>
              <a:spcBef>
                <a:spcPts val="700"/>
              </a:spcBef>
              <a:spcAft>
                <a:spcPts val="0"/>
              </a:spcAft>
              <a:buSzPts val="1500"/>
              <a:buFont typeface="Cambria"/>
              <a:buChar char="•"/>
            </a:pPr>
            <a:r>
              <a:rPr lang="en" sz="1500">
                <a:latin typeface="Cambria"/>
                <a:ea typeface="Cambria"/>
                <a:cs typeface="Cambria"/>
                <a:sym typeface="Cambria"/>
              </a:rPr>
              <a:t>Local sellers struggle to reach nearby customers due to the lack of accessible digital platforms.</a:t>
            </a:r>
            <a:endParaRPr sz="1800" b="1">
              <a:solidFill>
                <a:srgbClr val="4BACC6"/>
              </a:solidFill>
              <a:latin typeface="Cambria"/>
              <a:ea typeface="Cambria"/>
              <a:cs typeface="Cambria"/>
              <a:sym typeface="Cambria"/>
            </a:endParaRPr>
          </a:p>
          <a:p>
            <a:pPr marL="457200" lvl="0" indent="-323850" algn="l" rtl="0">
              <a:lnSpc>
                <a:spcPct val="100000"/>
              </a:lnSpc>
              <a:spcBef>
                <a:spcPts val="0"/>
              </a:spcBef>
              <a:spcAft>
                <a:spcPts val="0"/>
              </a:spcAft>
              <a:buSzPts val="1500"/>
              <a:buFont typeface="Cambria"/>
              <a:buChar char="•"/>
            </a:pPr>
            <a:r>
              <a:rPr lang="en" sz="1500">
                <a:latin typeface="Cambria"/>
                <a:ea typeface="Cambria"/>
                <a:cs typeface="Cambria"/>
                <a:sym typeface="Cambria"/>
              </a:rPr>
              <a:t>Customers find it difficult to discover and shop from local businesses efficiently.</a:t>
            </a:r>
            <a:endParaRPr sz="1500">
              <a:latin typeface="Cambria"/>
              <a:ea typeface="Cambria"/>
              <a:cs typeface="Cambria"/>
              <a:sym typeface="Cambria"/>
            </a:endParaRPr>
          </a:p>
          <a:p>
            <a:pPr marL="457200" lvl="0" indent="-323850" algn="l" rtl="0">
              <a:lnSpc>
                <a:spcPct val="100000"/>
              </a:lnSpc>
              <a:spcBef>
                <a:spcPts val="0"/>
              </a:spcBef>
              <a:spcAft>
                <a:spcPts val="0"/>
              </a:spcAft>
              <a:buSzPts val="1500"/>
              <a:buFont typeface="Cambria"/>
              <a:buChar char="•"/>
            </a:pPr>
            <a:r>
              <a:rPr lang="en" sz="1500">
                <a:latin typeface="Cambria"/>
                <a:ea typeface="Cambria"/>
                <a:cs typeface="Cambria"/>
                <a:sym typeface="Cambria"/>
              </a:rPr>
              <a:t>Existing online marketplaces primarily focus on large vendors, resulting in low visibility for small community sellers.</a:t>
            </a:r>
            <a:endParaRPr sz="1500">
              <a:latin typeface="Cambria"/>
              <a:ea typeface="Cambria"/>
              <a:cs typeface="Cambria"/>
              <a:sym typeface="Cambria"/>
            </a:endParaRPr>
          </a:p>
          <a:p>
            <a:pPr marL="457200" lvl="0" indent="-323850" algn="l" rtl="0">
              <a:lnSpc>
                <a:spcPct val="100000"/>
              </a:lnSpc>
              <a:spcBef>
                <a:spcPts val="0"/>
              </a:spcBef>
              <a:spcAft>
                <a:spcPts val="0"/>
              </a:spcAft>
              <a:buSzPts val="1500"/>
              <a:buFont typeface="Cambria"/>
              <a:buChar char="•"/>
            </a:pPr>
            <a:r>
              <a:rPr lang="en" sz="1500">
                <a:latin typeface="Cambria"/>
                <a:ea typeface="Cambria"/>
                <a:cs typeface="Cambria"/>
                <a:sym typeface="Cambria"/>
              </a:rPr>
              <a:t>There is a need for a simple and user-friendly web application that connects local sellers and customers, enabling easy product discovery, ordering, and communication within the community.</a:t>
            </a:r>
            <a:endParaRPr sz="1500">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None/>
            </a:pPr>
            <a:r>
              <a:rPr lang="en" sz="1800" b="1">
                <a:solidFill>
                  <a:srgbClr val="4BACC6"/>
                </a:solidFill>
                <a:latin typeface="Cambria"/>
                <a:ea typeface="Cambria"/>
                <a:cs typeface="Cambria"/>
                <a:sym typeface="Cambria"/>
              </a:rPr>
              <a:t>OBJECTIVE : </a:t>
            </a:r>
            <a:endParaRPr sz="1800" b="1">
              <a:solidFill>
                <a:srgbClr val="4BACC6"/>
              </a:solidFill>
              <a:latin typeface="Cambria"/>
              <a:ea typeface="Cambria"/>
              <a:cs typeface="Cambria"/>
              <a:sym typeface="Cambria"/>
            </a:endParaRPr>
          </a:p>
          <a:p>
            <a:pPr marL="457200" lvl="0" indent="-323850" algn="l" rtl="0">
              <a:lnSpc>
                <a:spcPct val="100000"/>
              </a:lnSpc>
              <a:spcBef>
                <a:spcPts val="700"/>
              </a:spcBef>
              <a:spcAft>
                <a:spcPts val="0"/>
              </a:spcAft>
              <a:buSzPts val="1500"/>
              <a:buFont typeface="Cambria"/>
              <a:buChar char="•"/>
            </a:pPr>
            <a:r>
              <a:rPr lang="en" sz="1500">
                <a:latin typeface="Cambria"/>
                <a:ea typeface="Cambria"/>
                <a:cs typeface="Cambria"/>
                <a:sym typeface="Cambria"/>
              </a:rPr>
              <a:t>To develop a secure and user-friendly web application that connects local sellers, buyers, and delivery partners within a community.</a:t>
            </a:r>
            <a:endParaRPr sz="1500">
              <a:latin typeface="Cambria"/>
              <a:ea typeface="Cambria"/>
              <a:cs typeface="Cambria"/>
              <a:sym typeface="Cambria"/>
            </a:endParaRPr>
          </a:p>
          <a:p>
            <a:pPr marL="457200" lvl="0" indent="-323850" algn="l" rtl="0">
              <a:lnSpc>
                <a:spcPct val="100000"/>
              </a:lnSpc>
              <a:spcBef>
                <a:spcPts val="0"/>
              </a:spcBef>
              <a:spcAft>
                <a:spcPts val="0"/>
              </a:spcAft>
              <a:buSzPts val="1500"/>
              <a:buFont typeface="Cambria"/>
              <a:buChar char="•"/>
            </a:pPr>
            <a:r>
              <a:rPr lang="en" sz="1500">
                <a:latin typeface="Cambria"/>
                <a:ea typeface="Cambria"/>
                <a:cs typeface="Cambria"/>
                <a:sym typeface="Cambria"/>
              </a:rPr>
              <a:t>The system aims to enable easy product listing, browsing, ordering, and delivery management through a role-based digital marketplace.</a:t>
            </a:r>
            <a:endParaRPr sz="1800" b="1">
              <a:solidFill>
                <a:srgbClr val="4BACC6"/>
              </a:solidFill>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endParaRPr sz="1800" b="1">
              <a:solidFill>
                <a:srgbClr val="4BACC6"/>
              </a:solidFill>
              <a:latin typeface="Cambria"/>
              <a:ea typeface="Cambria"/>
              <a:cs typeface="Cambria"/>
              <a:sym typeface="Cambria"/>
            </a:endParaRPr>
          </a:p>
        </p:txBody>
      </p:sp>
      <p:sp>
        <p:nvSpPr>
          <p:cNvPr id="159" name="Google Shape;159;p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sz="1400" b="1">
                <a:solidFill>
                  <a:srgbClr val="385623"/>
                </a:solidFill>
              </a:rPr>
              <a:t>PHASE-1 REVIEW PRESENTATION</a:t>
            </a:r>
            <a:endParaRPr sz="1400" b="1">
              <a:solidFill>
                <a:srgbClr val="385623"/>
              </a:solidFill>
            </a:endParaRPr>
          </a:p>
        </p:txBody>
      </p:sp>
      <p:sp>
        <p:nvSpPr>
          <p:cNvPr id="160" name="Google Shape;160;p2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fld id="{00000000-1234-1234-1234-123412341234}" type="slidenum">
              <a:rPr lang="en" sz="1400" b="1">
                <a:solidFill>
                  <a:srgbClr val="385623"/>
                </a:solidFill>
              </a:rPr>
              <a:t>3</a:t>
            </a:fld>
            <a:endParaRPr sz="1400" b="1">
              <a:solidFill>
                <a:srgbClr val="385623"/>
              </a:solidFill>
            </a:endParaRPr>
          </a:p>
        </p:txBody>
      </p:sp>
      <p:sp>
        <p:nvSpPr>
          <p:cNvPr id="161" name="Google Shape;161;p28"/>
          <p:cNvSpPr txBox="1">
            <a:spLocks noGrp="1"/>
          </p:cNvSpPr>
          <p:nvPr>
            <p:ph type="title"/>
          </p:nvPr>
        </p:nvSpPr>
        <p:spPr>
          <a:xfrm>
            <a:off x="628650" y="180326"/>
            <a:ext cx="7886700" cy="432737"/>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AIM &amp; OBJECTIVES OF THE PROJECT </a:t>
            </a:r>
            <a:br>
              <a:rPr lang="en" sz="1800" b="1">
                <a:solidFill>
                  <a:srgbClr val="2F5496"/>
                </a:solidFill>
                <a:latin typeface="Cambria"/>
                <a:ea typeface="Cambria"/>
                <a:cs typeface="Cambria"/>
                <a:sym typeface="Cambria"/>
              </a:rPr>
            </a:br>
            <a:r>
              <a:rPr lang="en" sz="1800" b="1">
                <a:solidFill>
                  <a:srgbClr val="2F5496"/>
                </a:solidFill>
                <a:latin typeface="Cambria"/>
                <a:ea typeface="Cambria"/>
                <a:cs typeface="Cambria"/>
                <a:sym typeface="Cambria"/>
              </a:rPr>
              <a:t>(Problem Statement)</a:t>
            </a:r>
            <a:endParaRPr sz="1800" b="1">
              <a:solidFill>
                <a:srgbClr val="2F5496"/>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9"/>
          <p:cNvSpPr txBox="1">
            <a:spLocks noGrp="1"/>
          </p:cNvSpPr>
          <p:nvPr>
            <p:ph type="title"/>
          </p:nvPr>
        </p:nvSpPr>
        <p:spPr>
          <a:xfrm>
            <a:off x="628650" y="126574"/>
            <a:ext cx="7886700" cy="202800"/>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rgbClr val="2F5496"/>
              </a:buClr>
              <a:buSzPct val="100000"/>
              <a:buFont typeface="Cambria"/>
              <a:buNone/>
            </a:pPr>
            <a:r>
              <a:rPr lang="en" sz="2700" b="1">
                <a:solidFill>
                  <a:srgbClr val="2F5496"/>
                </a:solidFill>
                <a:latin typeface="Cambria"/>
                <a:ea typeface="Cambria"/>
                <a:cs typeface="Cambria"/>
                <a:sym typeface="Cambria"/>
              </a:rPr>
              <a:t>LITERATURE SURVEY </a:t>
            </a:r>
            <a:endParaRPr sz="2700" b="1">
              <a:solidFill>
                <a:srgbClr val="2F5496"/>
              </a:solidFill>
              <a:latin typeface="Cambria"/>
              <a:ea typeface="Cambria"/>
              <a:cs typeface="Cambria"/>
              <a:sym typeface="Cambria"/>
            </a:endParaRPr>
          </a:p>
        </p:txBody>
      </p:sp>
      <p:sp>
        <p:nvSpPr>
          <p:cNvPr id="167" name="Google Shape;167;p29"/>
          <p:cNvSpPr txBox="1">
            <a:spLocks noGrp="1"/>
          </p:cNvSpPr>
          <p:nvPr>
            <p:ph type="ftr" idx="11"/>
          </p:nvPr>
        </p:nvSpPr>
        <p:spPr>
          <a:xfrm>
            <a:off x="3184816"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sz="1400">
                <a:solidFill>
                  <a:srgbClr val="0070C0"/>
                </a:solidFill>
                <a:latin typeface="Cambria"/>
                <a:ea typeface="Cambria"/>
                <a:cs typeface="Cambria"/>
                <a:sym typeface="Cambria"/>
              </a:rPr>
              <a:t>FIRST REVIEW PRESENTATION</a:t>
            </a:r>
            <a:endParaRPr sz="1400">
              <a:solidFill>
                <a:srgbClr val="0070C0"/>
              </a:solidFill>
              <a:latin typeface="Cambria"/>
              <a:ea typeface="Cambria"/>
              <a:cs typeface="Cambria"/>
              <a:sym typeface="Cambria"/>
            </a:endParaRPr>
          </a:p>
        </p:txBody>
      </p:sp>
      <p:sp>
        <p:nvSpPr>
          <p:cNvPr id="168" name="Google Shape;168;p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fld id="{00000000-1234-1234-1234-123412341234}" type="slidenum">
              <a:rPr lang="en" sz="1400">
                <a:solidFill>
                  <a:srgbClr val="0070C0"/>
                </a:solidFill>
              </a:rPr>
              <a:t>4</a:t>
            </a:fld>
            <a:endParaRPr sz="1400">
              <a:solidFill>
                <a:srgbClr val="0070C0"/>
              </a:solidFill>
            </a:endParaRPr>
          </a:p>
        </p:txBody>
      </p:sp>
      <p:graphicFrame>
        <p:nvGraphicFramePr>
          <p:cNvPr id="169" name="Google Shape;169;p29"/>
          <p:cNvGraphicFramePr/>
          <p:nvPr/>
        </p:nvGraphicFramePr>
        <p:xfrm>
          <a:off x="317913" y="446259"/>
          <a:ext cx="8508175" cy="4594900"/>
        </p:xfrm>
        <a:graphic>
          <a:graphicData uri="http://schemas.openxmlformats.org/drawingml/2006/table">
            <a:tbl>
              <a:tblPr firstRow="1" bandRow="1">
                <a:noFill/>
                <a:tableStyleId>{86D5F857-DF80-4505-8F08-FE4FB7382C66}</a:tableStyleId>
              </a:tblPr>
              <a:tblGrid>
                <a:gridCol w="774400">
                  <a:extLst>
                    <a:ext uri="{9D8B030D-6E8A-4147-A177-3AD203B41FA5}">
                      <a16:colId xmlns:a16="http://schemas.microsoft.com/office/drawing/2014/main" val="20000"/>
                    </a:ext>
                  </a:extLst>
                </a:gridCol>
                <a:gridCol w="1878450">
                  <a:extLst>
                    <a:ext uri="{9D8B030D-6E8A-4147-A177-3AD203B41FA5}">
                      <a16:colId xmlns:a16="http://schemas.microsoft.com/office/drawing/2014/main" val="20001"/>
                    </a:ext>
                  </a:extLst>
                </a:gridCol>
                <a:gridCol w="3554600">
                  <a:extLst>
                    <a:ext uri="{9D8B030D-6E8A-4147-A177-3AD203B41FA5}">
                      <a16:colId xmlns:a16="http://schemas.microsoft.com/office/drawing/2014/main" val="20002"/>
                    </a:ext>
                  </a:extLst>
                </a:gridCol>
                <a:gridCol w="2300725">
                  <a:extLst>
                    <a:ext uri="{9D8B030D-6E8A-4147-A177-3AD203B41FA5}">
                      <a16:colId xmlns:a16="http://schemas.microsoft.com/office/drawing/2014/main" val="20003"/>
                    </a:ext>
                  </a:extLst>
                </a:gridCol>
              </a:tblGrid>
              <a:tr h="3611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Sl.No.</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Journal Paper Title with Author </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Works carried out  </a:t>
                      </a:r>
                      <a:endParaRPr sz="1100" u="none" strike="noStrike" cap="none"/>
                    </a:p>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 with details of Methods/ Materials/ Software/ Algorithms / fabrication / techniques/ components used ) </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Information gathered relevant to your project</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0"/>
                  </a:ext>
                </a:extLst>
              </a:tr>
              <a:tr h="8988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rPr>
                        <a:t>1</a:t>
                      </a:r>
                      <a:endParaRPr sz="1400"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lvl="0" indent="0" algn="ctr" rtl="0">
                        <a:spcBef>
                          <a:spcPts val="0"/>
                        </a:spcBef>
                        <a:spcAft>
                          <a:spcPts val="0"/>
                        </a:spcAft>
                        <a:buClr>
                          <a:schemeClr val="dk1"/>
                        </a:buClr>
                        <a:buFont typeface="Arial"/>
                        <a:buNone/>
                      </a:pPr>
                      <a:r>
                        <a:rPr lang="en" sz="1500">
                          <a:highlight>
                            <a:srgbClr val="BBD6EE"/>
                          </a:highlight>
                          <a:latin typeface="Cambria"/>
                          <a:ea typeface="Cambria"/>
                          <a:cs typeface="Cambria"/>
                          <a:sym typeface="Cambria"/>
                        </a:rPr>
                        <a:t>Peri Hartman; Jeffrey P. Bezos; </a:t>
                      </a:r>
                      <a:endParaRPr sz="1500">
                        <a:highlight>
                          <a:srgbClr val="BBD6EE"/>
                        </a:highlight>
                        <a:latin typeface="Cambria"/>
                        <a:ea typeface="Cambria"/>
                        <a:cs typeface="Cambria"/>
                        <a:sym typeface="Cambria"/>
                      </a:endParaRPr>
                    </a:p>
                    <a:p>
                      <a:pPr marL="0" lvl="0" indent="0" algn="ctr" rtl="0">
                        <a:spcBef>
                          <a:spcPts val="0"/>
                        </a:spcBef>
                        <a:spcAft>
                          <a:spcPts val="0"/>
                        </a:spcAft>
                        <a:buClr>
                          <a:schemeClr val="dk1"/>
                        </a:buClr>
                        <a:buFont typeface="Arial"/>
                        <a:buNone/>
                      </a:pPr>
                      <a:r>
                        <a:rPr lang="en" sz="1500">
                          <a:highlight>
                            <a:srgbClr val="BBD6EE"/>
                          </a:highlight>
                          <a:latin typeface="Cambria"/>
                          <a:ea typeface="Cambria"/>
                          <a:cs typeface="Cambria"/>
                          <a:sym typeface="Cambria"/>
                        </a:rPr>
                        <a:t>Shel Kapha</a:t>
                      </a:r>
                      <a:endParaRPr sz="1500">
                        <a:highlight>
                          <a:srgbClr val="BBD6EE"/>
                        </a:highlight>
                        <a:latin typeface="Cambria"/>
                        <a:ea typeface="Cambria"/>
                        <a:cs typeface="Cambria"/>
                        <a:sym typeface="Cambria"/>
                      </a:endParaRPr>
                    </a:p>
                    <a:p>
                      <a:pPr marL="0" lvl="0" indent="0" algn="ctr" rtl="0">
                        <a:spcBef>
                          <a:spcPts val="0"/>
                        </a:spcBef>
                        <a:spcAft>
                          <a:spcPts val="0"/>
                        </a:spcAft>
                        <a:buClr>
                          <a:schemeClr val="dk1"/>
                        </a:buClr>
                        <a:buFont typeface="Arial"/>
                        <a:buNone/>
                      </a:pPr>
                      <a:r>
                        <a:rPr lang="en" sz="1500">
                          <a:highlight>
                            <a:srgbClr val="BBD6EE"/>
                          </a:highlight>
                          <a:latin typeface="Cambria"/>
                          <a:ea typeface="Cambria"/>
                          <a:cs typeface="Cambria"/>
                          <a:sym typeface="Cambria"/>
                        </a:rPr>
                        <a:t>Patent Id : 5,960,411 </a:t>
                      </a:r>
                      <a:endParaRPr sz="1400" b="1"/>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lvl="0" indent="0" algn="just" rtl="0">
                        <a:lnSpc>
                          <a:spcPct val="100000"/>
                        </a:lnSpc>
                        <a:spcBef>
                          <a:spcPts val="0"/>
                        </a:spcBef>
                        <a:spcAft>
                          <a:spcPts val="0"/>
                        </a:spcAft>
                        <a:buClr>
                          <a:schemeClr val="dk1"/>
                        </a:buClr>
                        <a:buFont typeface="Arial"/>
                        <a:buNone/>
                      </a:pPr>
                      <a:r>
                        <a:rPr lang="en"/>
                        <a:t>Frontend - HTML, CSS, JavaScript</a:t>
                      </a:r>
                      <a:endParaRPr/>
                    </a:p>
                    <a:p>
                      <a:pPr marL="0" lvl="0" indent="0" algn="just" rtl="0">
                        <a:lnSpc>
                          <a:spcPct val="100000"/>
                        </a:lnSpc>
                        <a:spcBef>
                          <a:spcPts val="0"/>
                        </a:spcBef>
                        <a:spcAft>
                          <a:spcPts val="0"/>
                        </a:spcAft>
                        <a:buClr>
                          <a:schemeClr val="dk1"/>
                        </a:buClr>
                        <a:buFont typeface="Arial"/>
                        <a:buNone/>
                      </a:pPr>
                      <a:r>
                        <a:rPr lang="en"/>
                        <a:t>Backend - Java / PHP / Python (Server-side scripting) Database - MongoDB ,Session Handling - Cookies / Session Tokens</a:t>
                      </a:r>
                      <a:endParaRPr/>
                    </a:p>
                    <a:p>
                      <a:pPr marL="0" lvl="0" indent="0" algn="just" rtl="0">
                        <a:lnSpc>
                          <a:spcPct val="100000"/>
                        </a:lnSpc>
                        <a:spcBef>
                          <a:spcPts val="0"/>
                        </a:spcBef>
                        <a:spcAft>
                          <a:spcPts val="0"/>
                        </a:spcAft>
                        <a:buClr>
                          <a:schemeClr val="dk1"/>
                        </a:buClr>
                        <a:buFont typeface="Arial"/>
                        <a:buNone/>
                      </a:pPr>
                      <a:r>
                        <a:rPr lang="en"/>
                        <a:t>Security - SSL/TLS encryption</a:t>
                      </a:r>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tc>
                  <a:txBody>
                    <a:bodyPr/>
                    <a:lstStyle/>
                    <a:p>
                      <a:pPr marL="0" lvl="0" indent="0" algn="l" rtl="0">
                        <a:spcBef>
                          <a:spcPts val="0"/>
                        </a:spcBef>
                        <a:spcAft>
                          <a:spcPts val="0"/>
                        </a:spcAft>
                        <a:buClr>
                          <a:schemeClr val="dk1"/>
                        </a:buClr>
                        <a:buSzPts val="800"/>
                        <a:buFont typeface="Arial"/>
                        <a:buNone/>
                      </a:pPr>
                      <a:r>
                        <a:rPr lang="en" dirty="0"/>
                        <a:t>React.js (frontend), Node.js &amp; Express.js (backend), MongoDB Atlas (database), JWT authentication, and Firebase services</a:t>
                      </a:r>
                      <a:endParaRPr sz="1400" dirty="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r h="23787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rPr>
                        <a:t>2</a:t>
                      </a:r>
                      <a:endParaRPr sz="1400"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lvl="0" indent="0" algn="l" rtl="0">
                        <a:spcBef>
                          <a:spcPts val="0"/>
                        </a:spcBef>
                        <a:spcAft>
                          <a:spcPts val="0"/>
                        </a:spcAft>
                        <a:buClr>
                          <a:schemeClr val="dk1"/>
                        </a:buClr>
                        <a:buSzPts val="1400"/>
                        <a:buFont typeface="Arial"/>
                        <a:buNone/>
                      </a:pPr>
                      <a:r>
                        <a:rPr lang="en"/>
                        <a:t>Richa Arora, Priyanshu Raj, Srinivas Deshpande, Ananda Matthur, Roshan Nair, Sasikanth Lenka. Praveen R S</a:t>
                      </a:r>
                      <a:endParaRPr/>
                    </a:p>
                    <a:p>
                      <a:pPr marL="0" lvl="0" indent="0" algn="l" rtl="0">
                        <a:spcBef>
                          <a:spcPts val="0"/>
                        </a:spcBef>
                        <a:spcAft>
                          <a:spcPts val="0"/>
                        </a:spcAft>
                        <a:buClr>
                          <a:schemeClr val="dk1"/>
                        </a:buClr>
                        <a:buSzPts val="1400"/>
                        <a:buFont typeface="Arial"/>
                        <a:buNone/>
                      </a:pPr>
                      <a:r>
                        <a:rPr lang="en"/>
                        <a:t>Patent Id: 11907094</a:t>
                      </a:r>
                      <a:endParaRPr sz="1500">
                        <a:highlight>
                          <a:srgbClr val="F5F7F9"/>
                        </a:highlight>
                        <a:latin typeface="Arial"/>
                        <a:ea typeface="Arial"/>
                        <a:cs typeface="Arial"/>
                        <a:sym typeface="Arial"/>
                      </a:endParaRPr>
                    </a:p>
                  </a:txBody>
                  <a:tcPr marL="68600" marR="68600" marT="34300" marB="34300">
                    <a:lnL w="12700" cap="flat" cmpd="sng">
                      <a:solidFill>
                        <a:schemeClr val="dk1"/>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Font typeface="Arial"/>
                        <a:buNone/>
                      </a:pPr>
                      <a:r>
                        <a:rPr lang="en"/>
                        <a:t> Backend Processing - Java/ Python/Node.js</a:t>
                      </a:r>
                      <a:endParaRPr/>
                    </a:p>
                    <a:p>
                      <a:pPr marL="0" marR="0" lvl="0" indent="0" algn="l" rtl="0">
                        <a:lnSpc>
                          <a:spcPct val="100000"/>
                        </a:lnSpc>
                        <a:spcBef>
                          <a:spcPts val="0"/>
                        </a:spcBef>
                        <a:spcAft>
                          <a:spcPts val="0"/>
                        </a:spcAft>
                        <a:buClr>
                          <a:srgbClr val="000000"/>
                        </a:buClr>
                        <a:buFont typeface="Arial"/>
                        <a:buNone/>
                      </a:pPr>
                      <a:r>
                        <a:rPr lang="en"/>
                        <a:t> Data Streaming - Apache Kafka / Streaming APIs</a:t>
                      </a:r>
                      <a:endParaRPr/>
                    </a:p>
                    <a:p>
                      <a:pPr marL="0" marR="0" lvl="0" indent="0" algn="l" rtl="0">
                        <a:lnSpc>
                          <a:spcPct val="100000"/>
                        </a:lnSpc>
                        <a:spcBef>
                          <a:spcPts val="0"/>
                        </a:spcBef>
                        <a:spcAft>
                          <a:spcPts val="0"/>
                        </a:spcAft>
                        <a:buClr>
                          <a:srgbClr val="000000"/>
                        </a:buClr>
                        <a:buFont typeface="Arial"/>
                        <a:buNone/>
                      </a:pPr>
                      <a:r>
                        <a:rPr lang="en"/>
                        <a:t> Database - SQL </a:t>
                      </a:r>
                      <a:endParaRPr/>
                    </a:p>
                    <a:p>
                      <a:pPr marL="0" marR="0" lvl="0" indent="0" algn="l" rtl="0">
                        <a:lnSpc>
                          <a:spcPct val="100000"/>
                        </a:lnSpc>
                        <a:spcBef>
                          <a:spcPts val="0"/>
                        </a:spcBef>
                        <a:spcAft>
                          <a:spcPts val="0"/>
                        </a:spcAft>
                        <a:buClr>
                          <a:srgbClr val="000000"/>
                        </a:buClr>
                        <a:buFont typeface="Arial"/>
                        <a:buNone/>
                      </a:pPr>
                      <a:r>
                        <a:rPr lang="en"/>
                        <a:t> Deployment - Cloud Infrastructure</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tc>
                  <a:txBody>
                    <a:bodyPr/>
                    <a:lstStyle/>
                    <a:p>
                      <a:pPr marL="0" lvl="0" indent="0" algn="l" rtl="0">
                        <a:lnSpc>
                          <a:spcPct val="100000"/>
                        </a:lnSpc>
                        <a:spcBef>
                          <a:spcPts val="1500"/>
                        </a:spcBef>
                        <a:spcAft>
                          <a:spcPts val="0"/>
                        </a:spcAft>
                        <a:buClr>
                          <a:schemeClr val="dk1"/>
                        </a:buClr>
                        <a:buSzPts val="1100"/>
                        <a:buFont typeface="Arial"/>
                        <a:buNone/>
                      </a:pPr>
                      <a:r>
                        <a:rPr lang="en" dirty="0"/>
                        <a:t> Studied real-time data    monitoring techniques and  anomaly detection methods. Understood how current metrics are compared with historical benchmarks using thresholds. Learned about automated detection systems that improve system reliability and reduce manual monitoring.</a:t>
                      </a:r>
                      <a:endParaRPr dirty="0"/>
                    </a:p>
                    <a:p>
                      <a:pPr marL="0" marR="0" lvl="0" indent="0" algn="ctr" rtl="0">
                        <a:lnSpc>
                          <a:spcPct val="100000"/>
                        </a:lnSpc>
                        <a:spcBef>
                          <a:spcPts val="1500"/>
                        </a:spcBef>
                        <a:spcAft>
                          <a:spcPts val="0"/>
                        </a:spcAft>
                        <a:buClr>
                          <a:srgbClr val="000000"/>
                        </a:buClr>
                        <a:buFont typeface="Arial"/>
                        <a:buNone/>
                      </a:pPr>
                      <a:endParaRPr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p:nvPr/>
        </p:nvSpPr>
        <p:spPr>
          <a:xfrm>
            <a:off x="723410" y="501423"/>
            <a:ext cx="6469425" cy="304425"/>
          </a:xfrm>
          <a:prstGeom prst="rect">
            <a:avLst/>
          </a:prstGeom>
          <a:noFill/>
          <a:ln>
            <a:noFill/>
          </a:ln>
        </p:spPr>
        <p:txBody>
          <a:bodyPr spcFirstLastPara="1" wrap="square" lIns="0" tIns="72875" rIns="0" bIns="0" anchor="t" anchorCtr="0">
            <a:spAutoFit/>
          </a:bodyPr>
          <a:lstStyle/>
          <a:p>
            <a:pPr marL="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175" name="Google Shape;175;p30"/>
          <p:cNvSpPr txBox="1">
            <a:spLocks noGrp="1"/>
          </p:cNvSpPr>
          <p:nvPr>
            <p:ph type="dt" idx="10"/>
          </p:nvPr>
        </p:nvSpPr>
        <p:spPr>
          <a:xfrm>
            <a:off x="683419" y="4827784"/>
            <a:ext cx="9411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13-02-2026</a:t>
            </a:r>
            <a:endParaRPr sz="900" b="0">
              <a:solidFill>
                <a:srgbClr val="888888"/>
              </a:solidFill>
            </a:endParaRPr>
          </a:p>
        </p:txBody>
      </p:sp>
      <p:sp>
        <p:nvSpPr>
          <p:cNvPr id="176" name="Google Shape;176;p30"/>
          <p:cNvSpPr txBox="1">
            <a:spLocks noGrp="1"/>
          </p:cNvSpPr>
          <p:nvPr>
            <p:ph type="sldNum" idx="12"/>
          </p:nvPr>
        </p:nvSpPr>
        <p:spPr>
          <a:xfrm>
            <a:off x="8306618" y="4827794"/>
            <a:ext cx="182700" cy="2079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5</a:t>
            </a:fld>
            <a:endParaRPr b="0">
              <a:solidFill>
                <a:srgbClr val="888888"/>
              </a:solidFill>
            </a:endParaRPr>
          </a:p>
        </p:txBody>
      </p:sp>
      <p:sp>
        <p:nvSpPr>
          <p:cNvPr id="177" name="Google Shape;177;p30"/>
          <p:cNvSpPr txBox="1">
            <a:spLocks noGrp="1"/>
          </p:cNvSpPr>
          <p:nvPr>
            <p:ph type="title"/>
          </p:nvPr>
        </p:nvSpPr>
        <p:spPr>
          <a:xfrm>
            <a:off x="865800" y="-34018"/>
            <a:ext cx="7802325" cy="616950"/>
          </a:xfrm>
          <a:prstGeom prst="rect">
            <a:avLst/>
          </a:prstGeom>
          <a:noFill/>
          <a:ln>
            <a:noFill/>
          </a:ln>
        </p:spPr>
        <p:txBody>
          <a:bodyPr spcFirstLastPara="1" wrap="square" lIns="0" tIns="40475" rIns="0" bIns="0" anchor="t" anchorCtr="0">
            <a:spAutoFit/>
          </a:bodyPr>
          <a:lstStyle/>
          <a:p>
            <a:pPr marL="914400" marR="0" lvl="0" indent="-901700" algn="l" rtl="0">
              <a:lnSpc>
                <a:spcPct val="107916"/>
              </a:lnSpc>
              <a:spcBef>
                <a:spcPts val="0"/>
              </a:spcBef>
              <a:spcAft>
                <a:spcPts val="0"/>
              </a:spcAft>
              <a:buNone/>
            </a:pPr>
            <a:r>
              <a:rPr lang="en">
                <a:solidFill>
                  <a:srgbClr val="2F5496"/>
                </a:solidFill>
              </a:rPr>
              <a:t>CHOICE	OF	COMPONENTS / MODULES /  METHODS / TECHNIQUES EQUIPMENT USED FOR PROJECT DEVELOPMENT</a:t>
            </a:r>
            <a:endParaRPr/>
          </a:p>
        </p:txBody>
      </p:sp>
      <p:sp>
        <p:nvSpPr>
          <p:cNvPr id="178" name="Google Shape;178;p30"/>
          <p:cNvSpPr txBox="1"/>
          <p:nvPr/>
        </p:nvSpPr>
        <p:spPr>
          <a:xfrm>
            <a:off x="683419" y="664988"/>
            <a:ext cx="7917000" cy="3654900"/>
          </a:xfrm>
          <a:prstGeom prst="rect">
            <a:avLst/>
          </a:prstGeom>
          <a:noFill/>
          <a:ln>
            <a:noFill/>
          </a:ln>
        </p:spPr>
        <p:txBody>
          <a:bodyPr spcFirstLastPara="1" wrap="square" lIns="68575" tIns="68575" rIns="68575" bIns="68575" anchor="t" anchorCtr="0">
            <a:spAutoFit/>
          </a:bodyPr>
          <a:lstStyle/>
          <a:p>
            <a:pPr marL="0" lvl="0" indent="0" algn="l" rtl="0">
              <a:lnSpc>
                <a:spcPct val="115000"/>
              </a:lnSpc>
              <a:spcBef>
                <a:spcPts val="1100"/>
              </a:spcBef>
              <a:spcAft>
                <a:spcPts val="0"/>
              </a:spcAft>
              <a:buClr>
                <a:schemeClr val="dk1"/>
              </a:buClr>
              <a:buSzPts val="800"/>
              <a:buFont typeface="Arial"/>
              <a:buNone/>
            </a:pPr>
            <a:r>
              <a:rPr lang="en" sz="1800" b="1">
                <a:solidFill>
                  <a:schemeClr val="accent5"/>
                </a:solidFill>
                <a:latin typeface="Cambria"/>
                <a:ea typeface="Cambria"/>
                <a:cs typeface="Cambria"/>
                <a:sym typeface="Cambria"/>
              </a:rPr>
              <a:t>COMPONENTS:</a:t>
            </a:r>
            <a:endParaRPr sz="800" b="1">
              <a:solidFill>
                <a:schemeClr val="dk1"/>
              </a:solidFill>
            </a:endParaRPr>
          </a:p>
          <a:p>
            <a:pPr marL="0" lvl="0" indent="0" algn="l" rtl="0">
              <a:lnSpc>
                <a:spcPct val="115000"/>
              </a:lnSpc>
              <a:spcBef>
                <a:spcPts val="900"/>
              </a:spcBef>
              <a:spcAft>
                <a:spcPts val="0"/>
              </a:spcAft>
              <a:buNone/>
            </a:pPr>
            <a:r>
              <a:rPr lang="en" sz="1500">
                <a:solidFill>
                  <a:schemeClr val="dk1"/>
                </a:solidFill>
                <a:latin typeface="Cambria"/>
                <a:ea typeface="Cambria"/>
                <a:cs typeface="Cambria"/>
                <a:sym typeface="Cambria"/>
              </a:rPr>
              <a:t>Frontend Technologies Used : </a:t>
            </a:r>
            <a:endParaRPr sz="1500">
              <a:solidFill>
                <a:schemeClr val="dk1"/>
              </a:solidFill>
              <a:latin typeface="Cambria"/>
              <a:ea typeface="Cambria"/>
              <a:cs typeface="Cambria"/>
              <a:sym typeface="Cambria"/>
            </a:endParaRPr>
          </a:p>
          <a:p>
            <a:pPr marL="457200" lvl="0" indent="-323850" algn="l" rtl="0">
              <a:lnSpc>
                <a:spcPct val="115000"/>
              </a:lnSpc>
              <a:spcBef>
                <a:spcPts val="90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 Framework: HTML, CSS, </a:t>
            </a:r>
            <a:r>
              <a:rPr lang="en" sz="1500" u="sng">
                <a:solidFill>
                  <a:schemeClr val="hlink"/>
                </a:solidFill>
                <a:latin typeface="Cambria"/>
                <a:ea typeface="Cambria"/>
                <a:cs typeface="Cambria"/>
                <a:sym typeface="Cambria"/>
                <a:hlinkClick r:id="rId3"/>
              </a:rPr>
              <a:t>React.js</a:t>
            </a:r>
            <a:endParaRPr sz="1500">
              <a:solidFill>
                <a:schemeClr val="dk1"/>
              </a:solidFill>
              <a:latin typeface="Cambria"/>
              <a:ea typeface="Cambria"/>
              <a:cs typeface="Cambria"/>
              <a:sym typeface="Cambria"/>
            </a:endParaRPr>
          </a:p>
          <a:p>
            <a:pPr marL="457200" lvl="0" indent="-3238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Programming Languages: JavaScript</a:t>
            </a:r>
            <a:endParaRPr sz="1500">
              <a:solidFill>
                <a:schemeClr val="dk1"/>
              </a:solidFill>
              <a:latin typeface="Cambria"/>
              <a:ea typeface="Cambria"/>
              <a:cs typeface="Cambria"/>
              <a:sym typeface="Cambria"/>
            </a:endParaRPr>
          </a:p>
          <a:p>
            <a:pPr marL="457200" lvl="0" indent="0" algn="l" rtl="0">
              <a:lnSpc>
                <a:spcPct val="115000"/>
              </a:lnSpc>
              <a:spcBef>
                <a:spcPts val="900"/>
              </a:spcBef>
              <a:spcAft>
                <a:spcPts val="0"/>
              </a:spcAft>
              <a:buNone/>
            </a:pPr>
            <a:endParaRPr sz="1500">
              <a:solidFill>
                <a:schemeClr val="dk1"/>
              </a:solidFill>
              <a:latin typeface="Cambria"/>
              <a:ea typeface="Cambria"/>
              <a:cs typeface="Cambria"/>
              <a:sym typeface="Cambria"/>
            </a:endParaRPr>
          </a:p>
          <a:p>
            <a:pPr marL="0" lvl="0" indent="0" algn="l" rtl="0">
              <a:lnSpc>
                <a:spcPct val="115000"/>
              </a:lnSpc>
              <a:spcBef>
                <a:spcPts val="900"/>
              </a:spcBef>
              <a:spcAft>
                <a:spcPts val="0"/>
              </a:spcAft>
              <a:buNone/>
            </a:pPr>
            <a:r>
              <a:rPr lang="en" sz="1500">
                <a:solidFill>
                  <a:schemeClr val="dk1"/>
                </a:solidFill>
                <a:latin typeface="Cambria"/>
                <a:ea typeface="Cambria"/>
                <a:cs typeface="Cambria"/>
                <a:sym typeface="Cambria"/>
              </a:rPr>
              <a:t>Backend Technologies Used</a:t>
            </a:r>
            <a:endParaRPr sz="1500">
              <a:solidFill>
                <a:schemeClr val="dk1"/>
              </a:solidFill>
              <a:latin typeface="Cambria"/>
              <a:ea typeface="Cambria"/>
              <a:cs typeface="Cambria"/>
              <a:sym typeface="Cambria"/>
            </a:endParaRPr>
          </a:p>
          <a:p>
            <a:pPr marL="457200" lvl="0" indent="-323850" algn="l" rtl="0">
              <a:lnSpc>
                <a:spcPct val="115000"/>
              </a:lnSpc>
              <a:spcBef>
                <a:spcPts val="90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Backend Platform: Node.js, </a:t>
            </a:r>
            <a:r>
              <a:rPr lang="en" sz="1500" u="sng">
                <a:solidFill>
                  <a:schemeClr val="hlink"/>
                </a:solidFill>
                <a:latin typeface="Cambria"/>
                <a:ea typeface="Cambria"/>
                <a:cs typeface="Cambria"/>
                <a:sym typeface="Cambria"/>
                <a:hlinkClick r:id="rId4"/>
              </a:rPr>
              <a:t>Express.js</a:t>
            </a:r>
            <a:endParaRPr sz="1500">
              <a:solidFill>
                <a:schemeClr val="dk1"/>
              </a:solidFill>
              <a:latin typeface="Cambria"/>
              <a:ea typeface="Cambria"/>
              <a:cs typeface="Cambria"/>
              <a:sym typeface="Cambria"/>
            </a:endParaRPr>
          </a:p>
          <a:p>
            <a:pPr marL="457200" lvl="0" indent="-3238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 Database: MongoDB Atlas</a:t>
            </a:r>
            <a:endParaRPr sz="1500">
              <a:solidFill>
                <a:schemeClr val="dk1"/>
              </a:solidFill>
              <a:latin typeface="Cambria"/>
              <a:ea typeface="Cambria"/>
              <a:cs typeface="Cambria"/>
              <a:sym typeface="Cambria"/>
            </a:endParaRPr>
          </a:p>
          <a:p>
            <a:pPr marL="457200" lvl="0" indent="-3238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Authentication: JWT (JSON Web Token)</a:t>
            </a:r>
            <a:endParaRPr sz="1500">
              <a:solidFill>
                <a:schemeClr val="dk1"/>
              </a:solidFill>
              <a:latin typeface="Cambria"/>
              <a:ea typeface="Cambria"/>
              <a:cs typeface="Cambria"/>
              <a:sym typeface="Cambria"/>
            </a:endParaRPr>
          </a:p>
          <a:p>
            <a:pPr marL="457200" lvl="0" indent="-3238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 Notifications: Firebase Cloud Messaging</a:t>
            </a:r>
            <a:endParaRPr sz="1500">
              <a:solidFill>
                <a:schemeClr val="dk1"/>
              </a:solidFill>
              <a:latin typeface="Cambria"/>
              <a:ea typeface="Cambria"/>
              <a:cs typeface="Cambria"/>
              <a:sym typeface="Cambria"/>
            </a:endParaRPr>
          </a:p>
          <a:p>
            <a:pPr marL="457200" lvl="0" indent="-3238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Tools: Figma, GitHub, Postman, VS Code</a:t>
            </a:r>
            <a:endParaRPr sz="1500">
              <a:solidFill>
                <a:schemeClr val="dk1"/>
              </a:solidFill>
              <a:latin typeface="Cambria"/>
              <a:ea typeface="Cambria"/>
              <a:cs typeface="Cambria"/>
              <a:sym typeface="Cambria"/>
            </a:endParaRPr>
          </a:p>
        </p:txBody>
      </p:sp>
      <p:sp>
        <p:nvSpPr>
          <p:cNvPr id="179" name="Google Shape;179;p30"/>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 - 1  REVIEW PRESENTATION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1"/>
          <p:cNvSpPr txBox="1"/>
          <p:nvPr/>
        </p:nvSpPr>
        <p:spPr>
          <a:xfrm>
            <a:off x="723410" y="501423"/>
            <a:ext cx="6469500" cy="304500"/>
          </a:xfrm>
          <a:prstGeom prst="rect">
            <a:avLst/>
          </a:prstGeom>
          <a:noFill/>
          <a:ln>
            <a:noFill/>
          </a:ln>
        </p:spPr>
        <p:txBody>
          <a:bodyPr spcFirstLastPara="1" wrap="square" lIns="0" tIns="72875" rIns="0" bIns="0" anchor="t" anchorCtr="0">
            <a:spAutoFit/>
          </a:bodyPr>
          <a:lstStyle/>
          <a:p>
            <a:pPr marL="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185" name="Google Shape;185;p31"/>
          <p:cNvSpPr txBox="1">
            <a:spLocks noGrp="1"/>
          </p:cNvSpPr>
          <p:nvPr>
            <p:ph type="dt" idx="10"/>
          </p:nvPr>
        </p:nvSpPr>
        <p:spPr>
          <a:xfrm>
            <a:off x="683419" y="4827784"/>
            <a:ext cx="9411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13-02-2026</a:t>
            </a:r>
            <a:endParaRPr sz="900" b="0">
              <a:solidFill>
                <a:srgbClr val="888888"/>
              </a:solidFill>
            </a:endParaRPr>
          </a:p>
        </p:txBody>
      </p:sp>
      <p:sp>
        <p:nvSpPr>
          <p:cNvPr id="186" name="Google Shape;186;p31"/>
          <p:cNvSpPr txBox="1">
            <a:spLocks noGrp="1"/>
          </p:cNvSpPr>
          <p:nvPr>
            <p:ph type="sldNum" idx="12"/>
          </p:nvPr>
        </p:nvSpPr>
        <p:spPr>
          <a:xfrm>
            <a:off x="8306618" y="4827794"/>
            <a:ext cx="182700" cy="2154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6</a:t>
            </a:fld>
            <a:endParaRPr b="0">
              <a:solidFill>
                <a:srgbClr val="888888"/>
              </a:solidFill>
            </a:endParaRPr>
          </a:p>
        </p:txBody>
      </p:sp>
      <p:sp>
        <p:nvSpPr>
          <p:cNvPr id="187" name="Google Shape;187;p31"/>
          <p:cNvSpPr txBox="1">
            <a:spLocks noGrp="1"/>
          </p:cNvSpPr>
          <p:nvPr>
            <p:ph type="title"/>
          </p:nvPr>
        </p:nvSpPr>
        <p:spPr>
          <a:xfrm>
            <a:off x="779275" y="119807"/>
            <a:ext cx="7802400" cy="318000"/>
          </a:xfrm>
          <a:prstGeom prst="rect">
            <a:avLst/>
          </a:prstGeom>
          <a:noFill/>
          <a:ln>
            <a:noFill/>
          </a:ln>
        </p:spPr>
        <p:txBody>
          <a:bodyPr spcFirstLastPara="1" wrap="square" lIns="0" tIns="40475" rIns="0" bIns="0" anchor="t" anchorCtr="0">
            <a:spAutoFit/>
          </a:bodyPr>
          <a:lstStyle/>
          <a:p>
            <a:pPr marL="914400" marR="0" lvl="0" indent="-901700" algn="ctr" rtl="0">
              <a:lnSpc>
                <a:spcPct val="107916"/>
              </a:lnSpc>
              <a:spcBef>
                <a:spcPts val="0"/>
              </a:spcBef>
              <a:spcAft>
                <a:spcPts val="0"/>
              </a:spcAft>
              <a:buNone/>
            </a:pPr>
            <a:r>
              <a:rPr lang="en">
                <a:solidFill>
                  <a:srgbClr val="2F5496"/>
                </a:solidFill>
              </a:rPr>
              <a:t>PROPOSED METHODOLOGY</a:t>
            </a:r>
            <a:endParaRPr/>
          </a:p>
        </p:txBody>
      </p:sp>
      <p:sp>
        <p:nvSpPr>
          <p:cNvPr id="188" name="Google Shape;188;p3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 - 1  REVIEW PRESENTATION</a:t>
            </a:r>
            <a:endParaRPr/>
          </a:p>
        </p:txBody>
      </p:sp>
      <p:pic>
        <p:nvPicPr>
          <p:cNvPr id="189" name="Google Shape;189;p31"/>
          <p:cNvPicPr preferRelativeResize="0"/>
          <p:nvPr/>
        </p:nvPicPr>
        <p:blipFill rotWithShape="1">
          <a:blip r:embed="rId3">
            <a:alphaModFix/>
          </a:blip>
          <a:srcRect b="12080"/>
          <a:stretch/>
        </p:blipFill>
        <p:spPr>
          <a:xfrm>
            <a:off x="1504425" y="887475"/>
            <a:ext cx="6500501" cy="3214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2"/>
          <p:cNvSpPr txBox="1"/>
          <p:nvPr/>
        </p:nvSpPr>
        <p:spPr>
          <a:xfrm>
            <a:off x="723410" y="501423"/>
            <a:ext cx="6469500" cy="304500"/>
          </a:xfrm>
          <a:prstGeom prst="rect">
            <a:avLst/>
          </a:prstGeom>
          <a:noFill/>
          <a:ln>
            <a:noFill/>
          </a:ln>
        </p:spPr>
        <p:txBody>
          <a:bodyPr spcFirstLastPara="1" wrap="square" lIns="0" tIns="72875" rIns="0" bIns="0" anchor="t" anchorCtr="0">
            <a:spAutoFit/>
          </a:bodyPr>
          <a:lstStyle/>
          <a:p>
            <a:pPr marL="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195" name="Google Shape;195;p32"/>
          <p:cNvSpPr txBox="1">
            <a:spLocks noGrp="1"/>
          </p:cNvSpPr>
          <p:nvPr>
            <p:ph type="dt" idx="10"/>
          </p:nvPr>
        </p:nvSpPr>
        <p:spPr>
          <a:xfrm>
            <a:off x="683419" y="4827784"/>
            <a:ext cx="9411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13-02-2026</a:t>
            </a:r>
            <a:endParaRPr sz="900" b="0">
              <a:solidFill>
                <a:srgbClr val="888888"/>
              </a:solidFill>
            </a:endParaRPr>
          </a:p>
        </p:txBody>
      </p:sp>
      <p:sp>
        <p:nvSpPr>
          <p:cNvPr id="196" name="Google Shape;196;p32"/>
          <p:cNvSpPr txBox="1">
            <a:spLocks noGrp="1"/>
          </p:cNvSpPr>
          <p:nvPr>
            <p:ph type="sldNum" idx="12"/>
          </p:nvPr>
        </p:nvSpPr>
        <p:spPr>
          <a:xfrm>
            <a:off x="8306618" y="4827794"/>
            <a:ext cx="182700" cy="2154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7</a:t>
            </a:fld>
            <a:endParaRPr b="0">
              <a:solidFill>
                <a:srgbClr val="888888"/>
              </a:solidFill>
            </a:endParaRPr>
          </a:p>
        </p:txBody>
      </p:sp>
      <p:sp>
        <p:nvSpPr>
          <p:cNvPr id="197" name="Google Shape;197;p32"/>
          <p:cNvSpPr txBox="1">
            <a:spLocks noGrp="1"/>
          </p:cNvSpPr>
          <p:nvPr>
            <p:ph type="title"/>
          </p:nvPr>
        </p:nvSpPr>
        <p:spPr>
          <a:xfrm>
            <a:off x="779275" y="119807"/>
            <a:ext cx="7802400" cy="318000"/>
          </a:xfrm>
          <a:prstGeom prst="rect">
            <a:avLst/>
          </a:prstGeom>
          <a:noFill/>
          <a:ln>
            <a:noFill/>
          </a:ln>
        </p:spPr>
        <p:txBody>
          <a:bodyPr spcFirstLastPara="1" wrap="square" lIns="0" tIns="40475" rIns="0" bIns="0" anchor="t" anchorCtr="0">
            <a:spAutoFit/>
          </a:bodyPr>
          <a:lstStyle/>
          <a:p>
            <a:pPr marL="914400" marR="0" lvl="0" indent="-901700" algn="ctr" rtl="0">
              <a:lnSpc>
                <a:spcPct val="107916"/>
              </a:lnSpc>
              <a:spcBef>
                <a:spcPts val="0"/>
              </a:spcBef>
              <a:spcAft>
                <a:spcPts val="0"/>
              </a:spcAft>
              <a:buNone/>
            </a:pPr>
            <a:r>
              <a:rPr lang="en">
                <a:solidFill>
                  <a:srgbClr val="2F5496"/>
                </a:solidFill>
              </a:rPr>
              <a:t>PROPOSED METHODOLOGY</a:t>
            </a:r>
            <a:endParaRPr/>
          </a:p>
        </p:txBody>
      </p:sp>
      <p:sp>
        <p:nvSpPr>
          <p:cNvPr id="198" name="Google Shape;198;p3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 - 1  REVIEW PRESENTATION</a:t>
            </a:r>
            <a:endParaRPr/>
          </a:p>
        </p:txBody>
      </p:sp>
      <p:pic>
        <p:nvPicPr>
          <p:cNvPr id="199" name="Google Shape;199;p32"/>
          <p:cNvPicPr preferRelativeResize="0"/>
          <p:nvPr/>
        </p:nvPicPr>
        <p:blipFill rotWithShape="1">
          <a:blip r:embed="rId3">
            <a:alphaModFix/>
          </a:blip>
          <a:srcRect l="24259" t="9886" r="26372" b="25958"/>
          <a:stretch/>
        </p:blipFill>
        <p:spPr>
          <a:xfrm>
            <a:off x="3392579" y="628542"/>
            <a:ext cx="2358849" cy="394411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3"/>
          <p:cNvSpPr txBox="1"/>
          <p:nvPr/>
        </p:nvSpPr>
        <p:spPr>
          <a:xfrm>
            <a:off x="723410" y="501423"/>
            <a:ext cx="6469500" cy="304500"/>
          </a:xfrm>
          <a:prstGeom prst="rect">
            <a:avLst/>
          </a:prstGeom>
          <a:noFill/>
          <a:ln>
            <a:noFill/>
          </a:ln>
        </p:spPr>
        <p:txBody>
          <a:bodyPr spcFirstLastPara="1" wrap="square" lIns="0" tIns="72875" rIns="0" bIns="0" anchor="t" anchorCtr="0">
            <a:spAutoFit/>
          </a:bodyPr>
          <a:lstStyle/>
          <a:p>
            <a:pPr marL="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205" name="Google Shape;205;p33"/>
          <p:cNvSpPr txBox="1">
            <a:spLocks noGrp="1"/>
          </p:cNvSpPr>
          <p:nvPr>
            <p:ph type="dt" idx="10"/>
          </p:nvPr>
        </p:nvSpPr>
        <p:spPr>
          <a:xfrm>
            <a:off x="683419" y="4827784"/>
            <a:ext cx="9411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13-02-2026</a:t>
            </a:r>
            <a:endParaRPr sz="900" b="0">
              <a:solidFill>
                <a:srgbClr val="888888"/>
              </a:solidFill>
            </a:endParaRPr>
          </a:p>
        </p:txBody>
      </p:sp>
      <p:sp>
        <p:nvSpPr>
          <p:cNvPr id="206" name="Google Shape;206;p33"/>
          <p:cNvSpPr txBox="1">
            <a:spLocks noGrp="1"/>
          </p:cNvSpPr>
          <p:nvPr>
            <p:ph type="sldNum" idx="12"/>
          </p:nvPr>
        </p:nvSpPr>
        <p:spPr>
          <a:xfrm>
            <a:off x="8306618" y="4827794"/>
            <a:ext cx="182700" cy="2154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8</a:t>
            </a:fld>
            <a:endParaRPr b="0">
              <a:solidFill>
                <a:srgbClr val="888888"/>
              </a:solidFill>
            </a:endParaRPr>
          </a:p>
        </p:txBody>
      </p:sp>
      <p:sp>
        <p:nvSpPr>
          <p:cNvPr id="207" name="Google Shape;207;p33"/>
          <p:cNvSpPr txBox="1">
            <a:spLocks noGrp="1"/>
          </p:cNvSpPr>
          <p:nvPr>
            <p:ph type="title"/>
          </p:nvPr>
        </p:nvSpPr>
        <p:spPr>
          <a:xfrm>
            <a:off x="779275" y="119807"/>
            <a:ext cx="7802400" cy="318000"/>
          </a:xfrm>
          <a:prstGeom prst="rect">
            <a:avLst/>
          </a:prstGeom>
          <a:noFill/>
          <a:ln>
            <a:noFill/>
          </a:ln>
        </p:spPr>
        <p:txBody>
          <a:bodyPr spcFirstLastPara="1" wrap="square" lIns="0" tIns="40475" rIns="0" bIns="0" anchor="t" anchorCtr="0">
            <a:spAutoFit/>
          </a:bodyPr>
          <a:lstStyle/>
          <a:p>
            <a:pPr marL="914400" marR="0" lvl="0" indent="-901700" algn="ctr" rtl="0">
              <a:lnSpc>
                <a:spcPct val="107916"/>
              </a:lnSpc>
              <a:spcBef>
                <a:spcPts val="0"/>
              </a:spcBef>
              <a:spcAft>
                <a:spcPts val="0"/>
              </a:spcAft>
              <a:buNone/>
            </a:pPr>
            <a:r>
              <a:rPr lang="en">
                <a:solidFill>
                  <a:srgbClr val="2F5496"/>
                </a:solidFill>
              </a:rPr>
              <a:t>PROPOSED METHODOLOGY</a:t>
            </a:r>
            <a:endParaRPr/>
          </a:p>
        </p:txBody>
      </p:sp>
      <p:sp>
        <p:nvSpPr>
          <p:cNvPr id="208" name="Google Shape;208;p3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 - 1  REVIEW PRESENTATION</a:t>
            </a:r>
            <a:endParaRPr/>
          </a:p>
        </p:txBody>
      </p:sp>
      <p:pic>
        <p:nvPicPr>
          <p:cNvPr id="209" name="Google Shape;209;p33"/>
          <p:cNvPicPr preferRelativeResize="0"/>
          <p:nvPr/>
        </p:nvPicPr>
        <p:blipFill rotWithShape="1">
          <a:blip r:embed="rId3">
            <a:alphaModFix/>
          </a:blip>
          <a:srcRect l="30462" t="9568" r="30564" b="27069"/>
          <a:stretch/>
        </p:blipFill>
        <p:spPr>
          <a:xfrm>
            <a:off x="3832825" y="666888"/>
            <a:ext cx="2223676" cy="38712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4"/>
          <p:cNvSpPr txBox="1"/>
          <p:nvPr/>
        </p:nvSpPr>
        <p:spPr>
          <a:xfrm>
            <a:off x="723410" y="501423"/>
            <a:ext cx="6469500" cy="304500"/>
          </a:xfrm>
          <a:prstGeom prst="rect">
            <a:avLst/>
          </a:prstGeom>
          <a:noFill/>
          <a:ln>
            <a:noFill/>
          </a:ln>
        </p:spPr>
        <p:txBody>
          <a:bodyPr spcFirstLastPara="1" wrap="square" lIns="0" tIns="72875" rIns="0" bIns="0" anchor="t" anchorCtr="0">
            <a:spAutoFit/>
          </a:bodyPr>
          <a:lstStyle/>
          <a:p>
            <a:pPr marL="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215" name="Google Shape;215;p34"/>
          <p:cNvSpPr txBox="1">
            <a:spLocks noGrp="1"/>
          </p:cNvSpPr>
          <p:nvPr>
            <p:ph type="dt" idx="10"/>
          </p:nvPr>
        </p:nvSpPr>
        <p:spPr>
          <a:xfrm>
            <a:off x="683419" y="4827784"/>
            <a:ext cx="9411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13-02-2026</a:t>
            </a:r>
            <a:endParaRPr sz="900" b="0">
              <a:solidFill>
                <a:srgbClr val="888888"/>
              </a:solidFill>
            </a:endParaRPr>
          </a:p>
        </p:txBody>
      </p:sp>
      <p:sp>
        <p:nvSpPr>
          <p:cNvPr id="216" name="Google Shape;216;p34"/>
          <p:cNvSpPr txBox="1">
            <a:spLocks noGrp="1"/>
          </p:cNvSpPr>
          <p:nvPr>
            <p:ph type="sldNum" idx="12"/>
          </p:nvPr>
        </p:nvSpPr>
        <p:spPr>
          <a:xfrm>
            <a:off x="8306618" y="4827794"/>
            <a:ext cx="182700" cy="2154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9</a:t>
            </a:fld>
            <a:endParaRPr b="0">
              <a:solidFill>
                <a:srgbClr val="888888"/>
              </a:solidFill>
            </a:endParaRPr>
          </a:p>
        </p:txBody>
      </p:sp>
      <p:sp>
        <p:nvSpPr>
          <p:cNvPr id="217" name="Google Shape;217;p34"/>
          <p:cNvSpPr txBox="1">
            <a:spLocks noGrp="1"/>
          </p:cNvSpPr>
          <p:nvPr>
            <p:ph type="title"/>
          </p:nvPr>
        </p:nvSpPr>
        <p:spPr>
          <a:xfrm>
            <a:off x="779275" y="119807"/>
            <a:ext cx="7802400" cy="318000"/>
          </a:xfrm>
          <a:prstGeom prst="rect">
            <a:avLst/>
          </a:prstGeom>
          <a:noFill/>
          <a:ln>
            <a:noFill/>
          </a:ln>
        </p:spPr>
        <p:txBody>
          <a:bodyPr spcFirstLastPara="1" wrap="square" lIns="0" tIns="40475" rIns="0" bIns="0" anchor="t" anchorCtr="0">
            <a:spAutoFit/>
          </a:bodyPr>
          <a:lstStyle/>
          <a:p>
            <a:pPr marL="914400" marR="0" lvl="0" indent="-901700" algn="ctr" rtl="0">
              <a:lnSpc>
                <a:spcPct val="107916"/>
              </a:lnSpc>
              <a:spcBef>
                <a:spcPts val="0"/>
              </a:spcBef>
              <a:spcAft>
                <a:spcPts val="0"/>
              </a:spcAft>
              <a:buNone/>
            </a:pPr>
            <a:r>
              <a:rPr lang="en">
                <a:solidFill>
                  <a:srgbClr val="2F5496"/>
                </a:solidFill>
              </a:rPr>
              <a:t>PROPOSED METHODOLOGY</a:t>
            </a:r>
            <a:endParaRPr/>
          </a:p>
        </p:txBody>
      </p:sp>
      <p:sp>
        <p:nvSpPr>
          <p:cNvPr id="218" name="Google Shape;218;p3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 - 1  REVIEW PRESENTATION</a:t>
            </a:r>
            <a:endParaRPr/>
          </a:p>
        </p:txBody>
      </p:sp>
      <p:pic>
        <p:nvPicPr>
          <p:cNvPr id="219" name="Google Shape;219;p34"/>
          <p:cNvPicPr preferRelativeResize="0"/>
          <p:nvPr/>
        </p:nvPicPr>
        <p:blipFill>
          <a:blip r:embed="rId3">
            <a:alphaModFix/>
          </a:blip>
          <a:stretch>
            <a:fillRect/>
          </a:stretch>
        </p:blipFill>
        <p:spPr>
          <a:xfrm>
            <a:off x="3397000" y="1261613"/>
            <a:ext cx="3086100" cy="268183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5"/>
          <p:cNvSpPr txBox="1">
            <a:spLocks noGrp="1"/>
          </p:cNvSpPr>
          <p:nvPr>
            <p:ph type="body" idx="1"/>
          </p:nvPr>
        </p:nvSpPr>
        <p:spPr>
          <a:xfrm>
            <a:off x="628649" y="581891"/>
            <a:ext cx="8006195" cy="4083627"/>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77800" lvl="0" indent="-38100" algn="l" rtl="0">
              <a:lnSpc>
                <a:spcPct val="90000"/>
              </a:lnSpc>
              <a:spcBef>
                <a:spcPts val="800"/>
              </a:spcBef>
              <a:spcAft>
                <a:spcPts val="0"/>
              </a:spcAft>
              <a:buClr>
                <a:schemeClr val="dk1"/>
              </a:buClr>
              <a:buSzPts val="2100"/>
              <a:buNone/>
            </a:pPr>
            <a:endParaRPr/>
          </a:p>
        </p:txBody>
      </p:sp>
      <p:sp>
        <p:nvSpPr>
          <p:cNvPr id="225" name="Google Shape;225;p3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13-02-2026</a:t>
            </a:r>
            <a:endParaRPr/>
          </a:p>
        </p:txBody>
      </p:sp>
      <p:sp>
        <p:nvSpPr>
          <p:cNvPr id="226" name="Google Shape;226;p3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10</a:t>
            </a:fld>
            <a:endParaRPr/>
          </a:p>
        </p:txBody>
      </p:sp>
      <p:sp>
        <p:nvSpPr>
          <p:cNvPr id="227" name="Google Shape;227;p35"/>
          <p:cNvSpPr txBox="1">
            <a:spLocks noGrp="1"/>
          </p:cNvSpPr>
          <p:nvPr>
            <p:ph type="title"/>
          </p:nvPr>
        </p:nvSpPr>
        <p:spPr>
          <a:xfrm>
            <a:off x="628650" y="180325"/>
            <a:ext cx="7886700" cy="328829"/>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sp>
        <p:nvSpPr>
          <p:cNvPr id="228" name="Google Shape;228;p35"/>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PHASE-1 REVIEW PRESENTATION</a:t>
            </a:r>
            <a:endParaRPr/>
          </a:p>
        </p:txBody>
      </p:sp>
      <p:pic>
        <p:nvPicPr>
          <p:cNvPr id="229" name="Google Shape;229;p35"/>
          <p:cNvPicPr preferRelativeResize="0"/>
          <p:nvPr/>
        </p:nvPicPr>
        <p:blipFill rotWithShape="1">
          <a:blip r:embed="rId3">
            <a:alphaModFix/>
          </a:blip>
          <a:srcRect l="13900" t="8878" r="22745" b="3311"/>
          <a:stretch/>
        </p:blipFill>
        <p:spPr>
          <a:xfrm>
            <a:off x="4778275" y="816258"/>
            <a:ext cx="3639742" cy="3511000"/>
          </a:xfrm>
          <a:prstGeom prst="rect">
            <a:avLst/>
          </a:prstGeom>
          <a:noFill/>
          <a:ln>
            <a:noFill/>
          </a:ln>
        </p:spPr>
      </p:pic>
      <p:pic>
        <p:nvPicPr>
          <p:cNvPr id="230" name="Google Shape;230;p35"/>
          <p:cNvPicPr preferRelativeResize="0"/>
          <p:nvPr/>
        </p:nvPicPr>
        <p:blipFill>
          <a:blip r:embed="rId4">
            <a:alphaModFix/>
          </a:blip>
          <a:stretch>
            <a:fillRect/>
          </a:stretch>
        </p:blipFill>
        <p:spPr>
          <a:xfrm>
            <a:off x="971125" y="830752"/>
            <a:ext cx="3639750" cy="3451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body" idx="1"/>
          </p:nvPr>
        </p:nvSpPr>
        <p:spPr>
          <a:xfrm>
            <a:off x="628649" y="581891"/>
            <a:ext cx="8006100" cy="4083600"/>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39700" lvl="0" indent="0" algn="l" rtl="0">
              <a:lnSpc>
                <a:spcPct val="90000"/>
              </a:lnSpc>
              <a:spcBef>
                <a:spcPts val="800"/>
              </a:spcBef>
              <a:spcAft>
                <a:spcPts val="0"/>
              </a:spcAft>
              <a:buClr>
                <a:schemeClr val="dk1"/>
              </a:buClr>
              <a:buSzPts val="2100"/>
              <a:buNone/>
            </a:pPr>
            <a:endParaRPr/>
          </a:p>
        </p:txBody>
      </p:sp>
      <p:sp>
        <p:nvSpPr>
          <p:cNvPr id="236" name="Google Shape;236;p3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13-02-2026</a:t>
            </a:r>
            <a:endParaRPr/>
          </a:p>
        </p:txBody>
      </p:sp>
      <p:sp>
        <p:nvSpPr>
          <p:cNvPr id="237" name="Google Shape;237;p3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11</a:t>
            </a:fld>
            <a:endParaRPr/>
          </a:p>
        </p:txBody>
      </p:sp>
      <p:sp>
        <p:nvSpPr>
          <p:cNvPr id="238" name="Google Shape;238;p36"/>
          <p:cNvSpPr txBox="1">
            <a:spLocks noGrp="1"/>
          </p:cNvSpPr>
          <p:nvPr>
            <p:ph type="title"/>
          </p:nvPr>
        </p:nvSpPr>
        <p:spPr>
          <a:xfrm>
            <a:off x="628650" y="180326"/>
            <a:ext cx="7886700" cy="3288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sp>
        <p:nvSpPr>
          <p:cNvPr id="239" name="Google Shape;239;p3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PHASE-1  REVIEW PRESENTATION</a:t>
            </a:r>
            <a:endParaRPr/>
          </a:p>
        </p:txBody>
      </p:sp>
      <p:pic>
        <p:nvPicPr>
          <p:cNvPr id="240" name="Google Shape;240;p36"/>
          <p:cNvPicPr preferRelativeResize="0"/>
          <p:nvPr/>
        </p:nvPicPr>
        <p:blipFill>
          <a:blip r:embed="rId3">
            <a:alphaModFix/>
          </a:blip>
          <a:stretch>
            <a:fillRect/>
          </a:stretch>
        </p:blipFill>
        <p:spPr>
          <a:xfrm>
            <a:off x="5020700" y="957050"/>
            <a:ext cx="2977264" cy="3031574"/>
          </a:xfrm>
          <a:prstGeom prst="rect">
            <a:avLst/>
          </a:prstGeom>
          <a:noFill/>
          <a:ln>
            <a:noFill/>
          </a:ln>
        </p:spPr>
      </p:pic>
      <p:pic>
        <p:nvPicPr>
          <p:cNvPr id="241" name="Google Shape;241;p36"/>
          <p:cNvPicPr preferRelativeResize="0"/>
          <p:nvPr/>
        </p:nvPicPr>
        <p:blipFill rotWithShape="1">
          <a:blip r:embed="rId4">
            <a:alphaModFix/>
          </a:blip>
          <a:srcRect l="5284" r="15733" b="2960"/>
          <a:stretch/>
        </p:blipFill>
        <p:spPr>
          <a:xfrm>
            <a:off x="1256775" y="923275"/>
            <a:ext cx="3259424" cy="3099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7"/>
          <p:cNvSpPr txBox="1">
            <a:spLocks noGrp="1"/>
          </p:cNvSpPr>
          <p:nvPr>
            <p:ph type="body" idx="1"/>
          </p:nvPr>
        </p:nvSpPr>
        <p:spPr>
          <a:xfrm>
            <a:off x="628649" y="581891"/>
            <a:ext cx="8006100" cy="4083600"/>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77800" lvl="0" indent="-38100" algn="l" rtl="0">
              <a:lnSpc>
                <a:spcPct val="90000"/>
              </a:lnSpc>
              <a:spcBef>
                <a:spcPts val="800"/>
              </a:spcBef>
              <a:spcAft>
                <a:spcPts val="0"/>
              </a:spcAft>
              <a:buClr>
                <a:schemeClr val="dk1"/>
              </a:buClr>
              <a:buSzPts val="2100"/>
              <a:buNone/>
            </a:pPr>
            <a:endParaRPr/>
          </a:p>
        </p:txBody>
      </p:sp>
      <p:sp>
        <p:nvSpPr>
          <p:cNvPr id="247" name="Google Shape;247;p3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13-02-2026</a:t>
            </a:r>
            <a:endParaRPr/>
          </a:p>
        </p:txBody>
      </p:sp>
      <p:sp>
        <p:nvSpPr>
          <p:cNvPr id="248" name="Google Shape;248;p3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12</a:t>
            </a:fld>
            <a:endParaRPr/>
          </a:p>
        </p:txBody>
      </p:sp>
      <p:sp>
        <p:nvSpPr>
          <p:cNvPr id="249" name="Google Shape;249;p37"/>
          <p:cNvSpPr txBox="1">
            <a:spLocks noGrp="1"/>
          </p:cNvSpPr>
          <p:nvPr>
            <p:ph type="title"/>
          </p:nvPr>
        </p:nvSpPr>
        <p:spPr>
          <a:xfrm>
            <a:off x="628650" y="180326"/>
            <a:ext cx="7886700" cy="3288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sp>
        <p:nvSpPr>
          <p:cNvPr id="250" name="Google Shape;250;p3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PHASE-1  REVIEW PRESENTATION</a:t>
            </a:r>
            <a:endParaRPr/>
          </a:p>
        </p:txBody>
      </p:sp>
      <p:pic>
        <p:nvPicPr>
          <p:cNvPr id="251" name="Google Shape;251;p37"/>
          <p:cNvPicPr preferRelativeResize="0"/>
          <p:nvPr/>
        </p:nvPicPr>
        <p:blipFill rotWithShape="1">
          <a:blip r:embed="rId3">
            <a:alphaModFix/>
          </a:blip>
          <a:srcRect l="1939" r="14498" b="6183"/>
          <a:stretch/>
        </p:blipFill>
        <p:spPr>
          <a:xfrm>
            <a:off x="989400" y="928125"/>
            <a:ext cx="7284575" cy="34201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8"/>
          <p:cNvSpPr txBox="1">
            <a:spLocks noGrp="1"/>
          </p:cNvSpPr>
          <p:nvPr>
            <p:ph type="body" idx="1"/>
          </p:nvPr>
        </p:nvSpPr>
        <p:spPr>
          <a:xfrm>
            <a:off x="628649" y="581891"/>
            <a:ext cx="8006100" cy="4083600"/>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77800" lvl="0" indent="-38100" algn="l" rtl="0">
              <a:lnSpc>
                <a:spcPct val="90000"/>
              </a:lnSpc>
              <a:spcBef>
                <a:spcPts val="800"/>
              </a:spcBef>
              <a:spcAft>
                <a:spcPts val="0"/>
              </a:spcAft>
              <a:buClr>
                <a:schemeClr val="dk1"/>
              </a:buClr>
              <a:buSzPts val="2100"/>
              <a:buNone/>
            </a:pPr>
            <a:endParaRPr/>
          </a:p>
        </p:txBody>
      </p:sp>
      <p:sp>
        <p:nvSpPr>
          <p:cNvPr id="257" name="Google Shape;257;p3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13-02-2026</a:t>
            </a:r>
            <a:endParaRPr/>
          </a:p>
        </p:txBody>
      </p:sp>
      <p:sp>
        <p:nvSpPr>
          <p:cNvPr id="258" name="Google Shape;258;p3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13</a:t>
            </a:fld>
            <a:endParaRPr/>
          </a:p>
        </p:txBody>
      </p:sp>
      <p:sp>
        <p:nvSpPr>
          <p:cNvPr id="259" name="Google Shape;259;p38"/>
          <p:cNvSpPr txBox="1">
            <a:spLocks noGrp="1"/>
          </p:cNvSpPr>
          <p:nvPr>
            <p:ph type="title"/>
          </p:nvPr>
        </p:nvSpPr>
        <p:spPr>
          <a:xfrm>
            <a:off x="628650" y="180326"/>
            <a:ext cx="7886700" cy="3288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sp>
        <p:nvSpPr>
          <p:cNvPr id="260" name="Google Shape;260;p3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PHASE-1  REVIEW PRESENTATION</a:t>
            </a:r>
            <a:endParaRPr/>
          </a:p>
        </p:txBody>
      </p:sp>
      <p:pic>
        <p:nvPicPr>
          <p:cNvPr id="261" name="Google Shape;261;p38"/>
          <p:cNvPicPr preferRelativeResize="0"/>
          <p:nvPr/>
        </p:nvPicPr>
        <p:blipFill>
          <a:blip r:embed="rId3">
            <a:alphaModFix/>
          </a:blip>
          <a:stretch>
            <a:fillRect/>
          </a:stretch>
        </p:blipFill>
        <p:spPr>
          <a:xfrm>
            <a:off x="985525" y="814183"/>
            <a:ext cx="7172951" cy="3359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9"/>
          <p:cNvSpPr txBox="1">
            <a:spLocks noGrp="1"/>
          </p:cNvSpPr>
          <p:nvPr>
            <p:ph type="title"/>
          </p:nvPr>
        </p:nvSpPr>
        <p:spPr>
          <a:xfrm>
            <a:off x="1713011" y="180681"/>
            <a:ext cx="5718000" cy="2493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a:t>DATABASE SCHEMA</a:t>
            </a:r>
            <a:endParaRPr/>
          </a:p>
        </p:txBody>
      </p:sp>
      <p:sp>
        <p:nvSpPr>
          <p:cNvPr id="267" name="Google Shape;267;p39"/>
          <p:cNvSpPr txBox="1">
            <a:spLocks noGrp="1"/>
          </p:cNvSpPr>
          <p:nvPr>
            <p:ph type="body" idx="1"/>
          </p:nvPr>
        </p:nvSpPr>
        <p:spPr>
          <a:xfrm>
            <a:off x="746688" y="706127"/>
            <a:ext cx="7650600" cy="263100"/>
          </a:xfrm>
          <a:prstGeom prst="rect">
            <a:avLst/>
          </a:prstGeom>
        </p:spPr>
        <p:txBody>
          <a:bodyPr spcFirstLastPara="1" wrap="square" lIns="0" tIns="0" rIns="0" bIns="0" anchor="t" anchorCtr="0">
            <a:spAutoFit/>
          </a:bodyPr>
          <a:lstStyle/>
          <a:p>
            <a:pPr marL="0" lvl="0" indent="0" algn="l" rtl="0">
              <a:spcBef>
                <a:spcPts val="800"/>
              </a:spcBef>
              <a:spcAft>
                <a:spcPts val="0"/>
              </a:spcAft>
              <a:buNone/>
            </a:pPr>
            <a:r>
              <a:rPr lang="en" sz="1900" b="1"/>
              <a:t>Users :</a:t>
            </a:r>
            <a:endParaRPr sz="1900" b="1"/>
          </a:p>
        </p:txBody>
      </p:sp>
      <p:pic>
        <p:nvPicPr>
          <p:cNvPr id="268" name="Google Shape;268;p39"/>
          <p:cNvPicPr preferRelativeResize="0"/>
          <p:nvPr/>
        </p:nvPicPr>
        <p:blipFill>
          <a:blip r:embed="rId3">
            <a:alphaModFix/>
          </a:blip>
          <a:stretch>
            <a:fillRect/>
          </a:stretch>
        </p:blipFill>
        <p:spPr>
          <a:xfrm>
            <a:off x="1778375" y="785815"/>
            <a:ext cx="5172075" cy="3571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0"/>
          <p:cNvSpPr txBox="1">
            <a:spLocks noGrp="1"/>
          </p:cNvSpPr>
          <p:nvPr>
            <p:ph type="title"/>
          </p:nvPr>
        </p:nvSpPr>
        <p:spPr>
          <a:xfrm>
            <a:off x="1713011" y="180681"/>
            <a:ext cx="5718000" cy="2493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a:t>DATABASE SCHEMA</a:t>
            </a:r>
            <a:endParaRPr/>
          </a:p>
        </p:txBody>
      </p:sp>
      <p:sp>
        <p:nvSpPr>
          <p:cNvPr id="274" name="Google Shape;274;p40"/>
          <p:cNvSpPr txBox="1">
            <a:spLocks noGrp="1"/>
          </p:cNvSpPr>
          <p:nvPr>
            <p:ph type="body" idx="1"/>
          </p:nvPr>
        </p:nvSpPr>
        <p:spPr>
          <a:xfrm>
            <a:off x="746688" y="706127"/>
            <a:ext cx="7650600" cy="263100"/>
          </a:xfrm>
          <a:prstGeom prst="rect">
            <a:avLst/>
          </a:prstGeom>
        </p:spPr>
        <p:txBody>
          <a:bodyPr spcFirstLastPara="1" wrap="square" lIns="0" tIns="0" rIns="0" bIns="0" anchor="t" anchorCtr="0">
            <a:spAutoFit/>
          </a:bodyPr>
          <a:lstStyle/>
          <a:p>
            <a:pPr marL="0" lvl="0" indent="0" algn="l" rtl="0">
              <a:spcBef>
                <a:spcPts val="800"/>
              </a:spcBef>
              <a:spcAft>
                <a:spcPts val="0"/>
              </a:spcAft>
              <a:buNone/>
            </a:pPr>
            <a:r>
              <a:rPr lang="en" sz="1900" b="1"/>
              <a:t>Products :</a:t>
            </a:r>
            <a:endParaRPr sz="1900" b="1"/>
          </a:p>
        </p:txBody>
      </p:sp>
      <p:pic>
        <p:nvPicPr>
          <p:cNvPr id="275" name="Google Shape;275;p40"/>
          <p:cNvPicPr preferRelativeResize="0"/>
          <p:nvPr/>
        </p:nvPicPr>
        <p:blipFill>
          <a:blip r:embed="rId3">
            <a:alphaModFix/>
          </a:blip>
          <a:stretch>
            <a:fillRect/>
          </a:stretch>
        </p:blipFill>
        <p:spPr>
          <a:xfrm>
            <a:off x="1883826" y="706125"/>
            <a:ext cx="5618575" cy="3557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1"/>
          <p:cNvSpPr txBox="1">
            <a:spLocks noGrp="1"/>
          </p:cNvSpPr>
          <p:nvPr>
            <p:ph type="title"/>
          </p:nvPr>
        </p:nvSpPr>
        <p:spPr>
          <a:xfrm>
            <a:off x="1713011" y="180681"/>
            <a:ext cx="5718000" cy="2493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a:t>DATABASE SCHEMA</a:t>
            </a:r>
            <a:endParaRPr/>
          </a:p>
        </p:txBody>
      </p:sp>
      <p:sp>
        <p:nvSpPr>
          <p:cNvPr id="281" name="Google Shape;281;p41"/>
          <p:cNvSpPr txBox="1">
            <a:spLocks noGrp="1"/>
          </p:cNvSpPr>
          <p:nvPr>
            <p:ph type="body" idx="1"/>
          </p:nvPr>
        </p:nvSpPr>
        <p:spPr>
          <a:xfrm>
            <a:off x="746688" y="706127"/>
            <a:ext cx="7650600" cy="263100"/>
          </a:xfrm>
          <a:prstGeom prst="rect">
            <a:avLst/>
          </a:prstGeom>
        </p:spPr>
        <p:txBody>
          <a:bodyPr spcFirstLastPara="1" wrap="square" lIns="0" tIns="0" rIns="0" bIns="0" anchor="t" anchorCtr="0">
            <a:spAutoFit/>
          </a:bodyPr>
          <a:lstStyle/>
          <a:p>
            <a:pPr marL="0" lvl="0" indent="0" algn="l" rtl="0">
              <a:spcBef>
                <a:spcPts val="800"/>
              </a:spcBef>
              <a:spcAft>
                <a:spcPts val="0"/>
              </a:spcAft>
              <a:buNone/>
            </a:pPr>
            <a:r>
              <a:rPr lang="en" sz="1900" b="1"/>
              <a:t>Orders  :</a:t>
            </a:r>
            <a:endParaRPr sz="1900" b="1"/>
          </a:p>
        </p:txBody>
      </p:sp>
      <p:pic>
        <p:nvPicPr>
          <p:cNvPr id="282" name="Google Shape;282;p41"/>
          <p:cNvPicPr preferRelativeResize="0"/>
          <p:nvPr/>
        </p:nvPicPr>
        <p:blipFill>
          <a:blip r:embed="rId3">
            <a:alphaModFix/>
          </a:blip>
          <a:stretch>
            <a:fillRect/>
          </a:stretch>
        </p:blipFill>
        <p:spPr>
          <a:xfrm>
            <a:off x="1969075" y="813475"/>
            <a:ext cx="6072375" cy="3342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2"/>
          <p:cNvSpPr txBox="1">
            <a:spLocks noGrp="1"/>
          </p:cNvSpPr>
          <p:nvPr>
            <p:ph type="body" idx="1"/>
          </p:nvPr>
        </p:nvSpPr>
        <p:spPr>
          <a:xfrm>
            <a:off x="628650" y="683636"/>
            <a:ext cx="8006195" cy="4083627"/>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12700" lvl="0" indent="0" algn="l" rtl="0">
              <a:lnSpc>
                <a:spcPct val="100000"/>
              </a:lnSpc>
              <a:spcBef>
                <a:spcPts val="0"/>
              </a:spcBef>
              <a:spcAft>
                <a:spcPts val="0"/>
              </a:spcAft>
              <a:buClr>
                <a:schemeClr val="dk1"/>
              </a:buClr>
              <a:buFont typeface="Arial"/>
              <a:buNone/>
            </a:pPr>
            <a:r>
              <a:rPr lang="en" sz="1800">
                <a:solidFill>
                  <a:srgbClr val="C00000"/>
                </a:solidFill>
              </a:rPr>
              <a:t>Journal</a:t>
            </a:r>
            <a:endParaRPr sz="1800"/>
          </a:p>
          <a:p>
            <a:pPr marL="12700" lvl="0" indent="0" algn="l" rtl="0">
              <a:lnSpc>
                <a:spcPct val="113888"/>
              </a:lnSpc>
              <a:spcBef>
                <a:spcPts val="600"/>
              </a:spcBef>
              <a:spcAft>
                <a:spcPts val="0"/>
              </a:spcAft>
              <a:buClr>
                <a:schemeClr val="dk1"/>
              </a:buClr>
              <a:buFont typeface="Arial"/>
              <a:buNone/>
            </a:pPr>
            <a:r>
              <a:rPr lang="en" sz="1500">
                <a:latin typeface="Cambria"/>
                <a:ea typeface="Cambria"/>
                <a:cs typeface="Cambria"/>
                <a:sym typeface="Cambria"/>
              </a:rPr>
              <a:t>Design and Implementation of a Hyperlocal E-Commerce Marketplace – S. Sharma, R. Verma (2021)</a:t>
            </a:r>
            <a:endParaRPr sz="1500">
              <a:latin typeface="Cambria"/>
              <a:ea typeface="Cambria"/>
              <a:cs typeface="Cambria"/>
              <a:sym typeface="Cambria"/>
            </a:endParaRPr>
          </a:p>
          <a:p>
            <a:pPr marL="12700" lvl="0" indent="0" algn="l" rtl="0">
              <a:lnSpc>
                <a:spcPct val="100000"/>
              </a:lnSpc>
              <a:spcBef>
                <a:spcPts val="500"/>
              </a:spcBef>
              <a:spcAft>
                <a:spcPts val="0"/>
              </a:spcAft>
              <a:buClr>
                <a:schemeClr val="dk1"/>
              </a:buClr>
              <a:buFont typeface="Arial"/>
              <a:buNone/>
            </a:pPr>
            <a:r>
              <a:rPr lang="en" sz="1800">
                <a:solidFill>
                  <a:srgbClr val="C00000"/>
                </a:solidFill>
              </a:rPr>
              <a:t>Books</a:t>
            </a:r>
            <a:endParaRPr sz="1800">
              <a:latin typeface="Cambria"/>
              <a:ea typeface="Cambria"/>
              <a:cs typeface="Cambria"/>
              <a:sym typeface="Cambria"/>
            </a:endParaRPr>
          </a:p>
          <a:p>
            <a:pPr marL="0" lvl="0" indent="0" algn="l" rtl="0">
              <a:lnSpc>
                <a:spcPct val="115000"/>
              </a:lnSpc>
              <a:spcBef>
                <a:spcPts val="900"/>
              </a:spcBef>
              <a:spcAft>
                <a:spcPts val="0"/>
              </a:spcAft>
              <a:buClr>
                <a:schemeClr val="dk1"/>
              </a:buClr>
              <a:buSzPts val="800"/>
              <a:buFont typeface="Arial"/>
              <a:buNone/>
            </a:pPr>
            <a:r>
              <a:rPr lang="en" sz="1200">
                <a:latin typeface="Cambria"/>
                <a:ea typeface="Cambria"/>
                <a:cs typeface="Cambria"/>
                <a:sym typeface="Cambria"/>
              </a:rPr>
              <a:t> </a:t>
            </a:r>
            <a:r>
              <a:rPr lang="en" sz="1500">
                <a:latin typeface="Cambria"/>
                <a:ea typeface="Cambria"/>
                <a:cs typeface="Cambria"/>
                <a:sym typeface="Cambria"/>
              </a:rPr>
              <a:t>E-Commerce Analytics: Predict, Improve, and Grow Your Business – Judah Phillips</a:t>
            </a:r>
            <a:endParaRPr sz="1500">
              <a:latin typeface="Cambria"/>
              <a:ea typeface="Cambria"/>
              <a:cs typeface="Cambria"/>
              <a:sym typeface="Cambria"/>
            </a:endParaRPr>
          </a:p>
          <a:p>
            <a:pPr marL="0" lvl="0" indent="0" algn="l" rtl="0">
              <a:lnSpc>
                <a:spcPct val="100000"/>
              </a:lnSpc>
              <a:spcBef>
                <a:spcPts val="900"/>
              </a:spcBef>
              <a:spcAft>
                <a:spcPts val="0"/>
              </a:spcAft>
              <a:buClr>
                <a:schemeClr val="dk1"/>
              </a:buClr>
              <a:buFont typeface="Arial"/>
              <a:buNone/>
            </a:pPr>
            <a:r>
              <a:rPr lang="en" sz="1800">
                <a:solidFill>
                  <a:srgbClr val="C00000"/>
                </a:solidFill>
              </a:rPr>
              <a:t>Patent</a:t>
            </a:r>
            <a:endParaRPr sz="1800"/>
          </a:p>
          <a:p>
            <a:pPr marL="0" lvl="0" indent="0" algn="l" rtl="0">
              <a:lnSpc>
                <a:spcPct val="100000"/>
              </a:lnSpc>
              <a:spcBef>
                <a:spcPts val="800"/>
              </a:spcBef>
              <a:spcAft>
                <a:spcPts val="0"/>
              </a:spcAft>
              <a:buClr>
                <a:schemeClr val="dk1"/>
              </a:buClr>
              <a:buFont typeface="Arial"/>
              <a:buNone/>
            </a:pPr>
            <a:r>
              <a:rPr lang="en" sz="1500">
                <a:latin typeface="Cambria"/>
                <a:ea typeface="Cambria"/>
                <a:cs typeface="Cambria"/>
                <a:sym typeface="Cambria"/>
              </a:rPr>
              <a:t>Peri Hartman; Jeffrey P.Bezos; Shel Kapha. Patent Id: 5,960,411</a:t>
            </a:r>
            <a:endParaRPr sz="1400" b="1"/>
          </a:p>
          <a:p>
            <a:pPr marL="0" lvl="0" indent="0" algn="l" rtl="0">
              <a:lnSpc>
                <a:spcPct val="100000"/>
              </a:lnSpc>
              <a:spcBef>
                <a:spcPts val="600"/>
              </a:spcBef>
              <a:spcAft>
                <a:spcPts val="0"/>
              </a:spcAft>
              <a:buClr>
                <a:schemeClr val="dk1"/>
              </a:buClr>
              <a:buFont typeface="Arial"/>
              <a:buNone/>
            </a:pPr>
            <a:endParaRPr sz="1500">
              <a:latin typeface="Cambria"/>
              <a:ea typeface="Cambria"/>
              <a:cs typeface="Cambria"/>
              <a:sym typeface="Cambria"/>
            </a:endParaRPr>
          </a:p>
          <a:p>
            <a:pPr marL="0" lvl="0" indent="0" algn="l" rtl="0">
              <a:lnSpc>
                <a:spcPct val="90000"/>
              </a:lnSpc>
              <a:spcBef>
                <a:spcPts val="800"/>
              </a:spcBef>
              <a:spcAft>
                <a:spcPts val="0"/>
              </a:spcAft>
              <a:buClr>
                <a:schemeClr val="dk1"/>
              </a:buClr>
              <a:buSzPts val="1400"/>
              <a:buNone/>
            </a:pPr>
            <a:endParaRPr sz="1800">
              <a:solidFill>
                <a:srgbClr val="C00000"/>
              </a:solidFill>
            </a:endParaRPr>
          </a:p>
        </p:txBody>
      </p:sp>
      <p:sp>
        <p:nvSpPr>
          <p:cNvPr id="288" name="Google Shape;288;p4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PHASE-1  REVIEW PRESENTATION</a:t>
            </a:r>
            <a:endParaRPr/>
          </a:p>
        </p:txBody>
      </p:sp>
      <p:sp>
        <p:nvSpPr>
          <p:cNvPr id="289" name="Google Shape;289;p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17</a:t>
            </a:fld>
            <a:endParaRPr/>
          </a:p>
        </p:txBody>
      </p:sp>
      <p:sp>
        <p:nvSpPr>
          <p:cNvPr id="290" name="Google Shape;290;p42"/>
          <p:cNvSpPr txBox="1">
            <a:spLocks noGrp="1"/>
          </p:cNvSpPr>
          <p:nvPr>
            <p:ph type="title"/>
          </p:nvPr>
        </p:nvSpPr>
        <p:spPr>
          <a:xfrm>
            <a:off x="628650" y="180325"/>
            <a:ext cx="7886700" cy="328829"/>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0070C0"/>
              </a:buClr>
              <a:buSzPts val="1800"/>
              <a:buFont typeface="Cambria"/>
              <a:buNone/>
            </a:pPr>
            <a:r>
              <a:rPr lang="en" sz="1800" b="1">
                <a:solidFill>
                  <a:srgbClr val="0070C0"/>
                </a:solidFill>
                <a:latin typeface="Cambria"/>
                <a:ea typeface="Cambria"/>
                <a:cs typeface="Cambria"/>
                <a:sym typeface="Cambria"/>
              </a:rPr>
              <a:t>REFERENCES</a:t>
            </a:r>
            <a:br>
              <a:rPr lang="en" sz="1800" b="1">
                <a:solidFill>
                  <a:srgbClr val="0070C0"/>
                </a:solidFill>
                <a:latin typeface="Cambria"/>
                <a:ea typeface="Cambria"/>
                <a:cs typeface="Cambria"/>
                <a:sym typeface="Cambria"/>
              </a:rPr>
            </a:br>
            <a:r>
              <a:rPr lang="en" sz="1400" b="1">
                <a:solidFill>
                  <a:srgbClr val="00B050"/>
                </a:solidFill>
                <a:latin typeface="Cambria"/>
                <a:ea typeface="Cambria"/>
                <a:cs typeface="Cambria"/>
                <a:sym typeface="Cambria"/>
              </a:rPr>
              <a:t>( Journal Papers/ Books / Patent)</a:t>
            </a:r>
            <a:endParaRPr sz="1400" b="1">
              <a:solidFill>
                <a:srgbClr val="00B050"/>
              </a:solidFill>
              <a:latin typeface="Cambria"/>
              <a:ea typeface="Cambria"/>
              <a:cs typeface="Cambria"/>
              <a:sym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3"/>
          <p:cNvSpPr txBox="1">
            <a:spLocks noGrp="1"/>
          </p:cNvSpPr>
          <p:nvPr>
            <p:ph type="ctrTitle"/>
          </p:nvPr>
        </p:nvSpPr>
        <p:spPr>
          <a:xfrm>
            <a:off x="1377024" y="1071738"/>
            <a:ext cx="6858000" cy="755400"/>
          </a:xfrm>
          <a:prstGeom prst="rect">
            <a:avLst/>
          </a:prstGeom>
          <a:noFill/>
          <a:ln>
            <a:noFill/>
          </a:ln>
        </p:spPr>
        <p:txBody>
          <a:bodyPr spcFirstLastPara="1" wrap="square" lIns="68575" tIns="34275" rIns="68575" bIns="34275" anchor="t" anchorCtr="0">
            <a:normAutofit/>
          </a:bodyPr>
          <a:lstStyle/>
          <a:p>
            <a:pPr marL="0" lvl="0" indent="0" algn="ctr" rtl="0">
              <a:lnSpc>
                <a:spcPct val="100000"/>
              </a:lnSpc>
              <a:spcBef>
                <a:spcPts val="0"/>
              </a:spcBef>
              <a:spcAft>
                <a:spcPts val="0"/>
              </a:spcAft>
              <a:buClr>
                <a:schemeClr val="dk1"/>
              </a:buClr>
              <a:buSzPts val="1400"/>
              <a:buFont typeface="Cambria"/>
              <a:buNone/>
            </a:pPr>
            <a:r>
              <a:rPr lang="en" sz="1400" b="1">
                <a:latin typeface="Cambria"/>
                <a:ea typeface="Cambria"/>
                <a:cs typeface="Cambria"/>
                <a:sym typeface="Cambria"/>
              </a:rPr>
              <a:t>Academic Year 2025 - 26 </a:t>
            </a:r>
            <a:br>
              <a:rPr lang="en" sz="1400" b="1">
                <a:latin typeface="Cambria"/>
                <a:ea typeface="Cambria"/>
                <a:cs typeface="Cambria"/>
                <a:sym typeface="Cambria"/>
              </a:rPr>
            </a:br>
            <a:r>
              <a:rPr lang="en" sz="1400" b="1">
                <a:solidFill>
                  <a:srgbClr val="C00000"/>
                </a:solidFill>
                <a:latin typeface="Cambria"/>
                <a:ea typeface="Cambria"/>
                <a:cs typeface="Cambria"/>
                <a:sym typeface="Cambria"/>
              </a:rPr>
              <a:t> MINI PROJECT </a:t>
            </a:r>
            <a:br>
              <a:rPr lang="en" sz="1400" b="1">
                <a:solidFill>
                  <a:srgbClr val="C00000"/>
                </a:solidFill>
                <a:latin typeface="Cambria"/>
                <a:ea typeface="Cambria"/>
                <a:cs typeface="Cambria"/>
                <a:sym typeface="Cambria"/>
              </a:rPr>
            </a:br>
            <a:r>
              <a:rPr lang="en" sz="1400" b="1">
                <a:latin typeface="Cambria"/>
                <a:ea typeface="Cambria"/>
                <a:cs typeface="Cambria"/>
                <a:sym typeface="Cambria"/>
              </a:rPr>
              <a:t>Phase - 2 Review </a:t>
            </a:r>
            <a:endParaRPr sz="1400" b="1">
              <a:latin typeface="Cambria"/>
              <a:ea typeface="Cambria"/>
              <a:cs typeface="Cambria"/>
              <a:sym typeface="Cambria"/>
            </a:endParaRPr>
          </a:p>
        </p:txBody>
      </p:sp>
      <p:sp>
        <p:nvSpPr>
          <p:cNvPr id="296" name="Google Shape;296;p43"/>
          <p:cNvSpPr txBox="1">
            <a:spLocks noGrp="1"/>
          </p:cNvSpPr>
          <p:nvPr>
            <p:ph type="subTitle" idx="1"/>
          </p:nvPr>
        </p:nvSpPr>
        <p:spPr>
          <a:xfrm>
            <a:off x="1377024" y="1884055"/>
            <a:ext cx="6858000" cy="9573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rgbClr val="385623"/>
              </a:buClr>
              <a:buSzPts val="1800"/>
              <a:buNone/>
            </a:pPr>
            <a:r>
              <a:rPr lang="en" b="1">
                <a:solidFill>
                  <a:srgbClr val="385623"/>
                </a:solidFill>
                <a:latin typeface="Cambria"/>
                <a:ea typeface="Cambria"/>
                <a:cs typeface="Cambria"/>
                <a:sym typeface="Cambria"/>
              </a:rPr>
              <a:t>PROJECT TITLE</a:t>
            </a:r>
            <a:endParaRPr b="1">
              <a:solidFill>
                <a:srgbClr val="385623"/>
              </a:solidFill>
              <a:latin typeface="Cambria"/>
              <a:ea typeface="Cambria"/>
              <a:cs typeface="Cambria"/>
              <a:sym typeface="Cambria"/>
            </a:endParaRPr>
          </a:p>
          <a:p>
            <a:pPr marL="0" lvl="0" indent="0" algn="ctr" rtl="0">
              <a:lnSpc>
                <a:spcPct val="113958"/>
              </a:lnSpc>
              <a:spcBef>
                <a:spcPts val="0"/>
              </a:spcBef>
              <a:spcAft>
                <a:spcPts val="0"/>
              </a:spcAft>
              <a:buClr>
                <a:schemeClr val="dk1"/>
              </a:buClr>
              <a:buFont typeface="Arial"/>
              <a:buNone/>
            </a:pPr>
            <a:r>
              <a:rPr lang="en" b="1">
                <a:solidFill>
                  <a:srgbClr val="002060"/>
                </a:solidFill>
                <a:latin typeface="Times New Roman"/>
                <a:ea typeface="Times New Roman"/>
                <a:cs typeface="Times New Roman"/>
                <a:sym typeface="Times New Roman"/>
              </a:rPr>
              <a:t>LOCAL COMMUNITY MARKET - WEB APP </a:t>
            </a:r>
            <a:endParaRPr b="1">
              <a:solidFill>
                <a:srgbClr val="002060"/>
              </a:solidFill>
              <a:latin typeface="Times New Roman"/>
              <a:ea typeface="Times New Roman"/>
              <a:cs typeface="Times New Roman"/>
              <a:sym typeface="Times New Roman"/>
            </a:endParaRPr>
          </a:p>
          <a:p>
            <a:pPr marL="0" lvl="0" indent="0" algn="ctr" rtl="0">
              <a:lnSpc>
                <a:spcPct val="113958"/>
              </a:lnSpc>
              <a:spcBef>
                <a:spcPts val="0"/>
              </a:spcBef>
              <a:spcAft>
                <a:spcPts val="0"/>
              </a:spcAft>
              <a:buClr>
                <a:schemeClr val="dk1"/>
              </a:buClr>
              <a:buFont typeface="Arial"/>
              <a:buNone/>
            </a:pPr>
            <a:r>
              <a:rPr lang="en" b="1">
                <a:solidFill>
                  <a:srgbClr val="002060"/>
                </a:solidFill>
                <a:latin typeface="Times New Roman"/>
                <a:ea typeface="Times New Roman"/>
                <a:cs typeface="Times New Roman"/>
                <a:sym typeface="Times New Roman"/>
              </a:rPr>
              <a:t>Oor Sandhai</a:t>
            </a:r>
            <a:endParaRPr sz="1500">
              <a:latin typeface="Cambria"/>
              <a:ea typeface="Cambria"/>
              <a:cs typeface="Cambria"/>
              <a:sym typeface="Cambria"/>
            </a:endParaRPr>
          </a:p>
          <a:p>
            <a:pPr marL="0" lvl="0" indent="0" algn="ctr" rtl="0">
              <a:lnSpc>
                <a:spcPct val="90000"/>
              </a:lnSpc>
              <a:spcBef>
                <a:spcPts val="800"/>
              </a:spcBef>
              <a:spcAft>
                <a:spcPts val="0"/>
              </a:spcAft>
              <a:buClr>
                <a:schemeClr val="dk1"/>
              </a:buClr>
              <a:buSzPts val="1800"/>
              <a:buNone/>
            </a:pPr>
            <a:endParaRPr sz="1500" b="1">
              <a:solidFill>
                <a:srgbClr val="7030A0"/>
              </a:solidFill>
              <a:latin typeface="Cambria"/>
              <a:ea typeface="Cambria"/>
              <a:cs typeface="Cambria"/>
              <a:sym typeface="Cambria"/>
            </a:endParaRPr>
          </a:p>
          <a:p>
            <a:pPr marL="0" lvl="0" indent="0" algn="ctr" rtl="0">
              <a:lnSpc>
                <a:spcPct val="90000"/>
              </a:lnSpc>
              <a:spcBef>
                <a:spcPts val="800"/>
              </a:spcBef>
              <a:spcAft>
                <a:spcPts val="0"/>
              </a:spcAft>
              <a:buClr>
                <a:schemeClr val="dk1"/>
              </a:buClr>
              <a:buSzPts val="1800"/>
              <a:buNone/>
            </a:pPr>
            <a:endParaRPr sz="1500" b="1">
              <a:latin typeface="Cambria"/>
              <a:ea typeface="Cambria"/>
              <a:cs typeface="Cambria"/>
              <a:sym typeface="Cambria"/>
            </a:endParaRPr>
          </a:p>
        </p:txBody>
      </p:sp>
      <p:pic>
        <p:nvPicPr>
          <p:cNvPr id="297" name="Google Shape;297;p43"/>
          <p:cNvPicPr preferRelativeResize="0"/>
          <p:nvPr/>
        </p:nvPicPr>
        <p:blipFill rotWithShape="1">
          <a:blip r:embed="rId3">
            <a:alphaModFix/>
          </a:blip>
          <a:srcRect/>
          <a:stretch/>
        </p:blipFill>
        <p:spPr>
          <a:xfrm>
            <a:off x="1683326" y="19228"/>
            <a:ext cx="5756565" cy="981470"/>
          </a:xfrm>
          <a:prstGeom prst="rect">
            <a:avLst/>
          </a:prstGeom>
          <a:noFill/>
          <a:ln>
            <a:noFill/>
          </a:ln>
        </p:spPr>
      </p:pic>
      <p:sp>
        <p:nvSpPr>
          <p:cNvPr id="298" name="Google Shape;298;p43"/>
          <p:cNvSpPr txBox="1"/>
          <p:nvPr/>
        </p:nvSpPr>
        <p:spPr>
          <a:xfrm>
            <a:off x="2845970" y="2977892"/>
            <a:ext cx="3920100" cy="10599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800"/>
              </a:spcBef>
              <a:spcAft>
                <a:spcPts val="0"/>
              </a:spcAft>
              <a:buClr>
                <a:srgbClr val="7030A0"/>
              </a:buClr>
              <a:buSzPts val="1400"/>
              <a:buFont typeface="Arial"/>
              <a:buNone/>
            </a:pPr>
            <a:r>
              <a:rPr lang="en" sz="1200" b="1">
                <a:solidFill>
                  <a:srgbClr val="7030A0"/>
                </a:solidFill>
                <a:latin typeface="Cambria"/>
                <a:ea typeface="Cambria"/>
                <a:cs typeface="Cambria"/>
                <a:sym typeface="Cambria"/>
              </a:rPr>
              <a:t>PRINCIA  I </a:t>
            </a:r>
            <a:endParaRPr sz="1200" b="1">
              <a:solidFill>
                <a:srgbClr val="7030A0"/>
              </a:solidFill>
              <a:latin typeface="Cambria"/>
              <a:ea typeface="Cambria"/>
              <a:cs typeface="Cambria"/>
              <a:sym typeface="Cambria"/>
            </a:endParaRPr>
          </a:p>
          <a:p>
            <a:pPr marL="0" marR="0" lvl="0" indent="0" algn="ctr" rtl="0">
              <a:lnSpc>
                <a:spcPct val="115000"/>
              </a:lnSpc>
              <a:spcBef>
                <a:spcPts val="800"/>
              </a:spcBef>
              <a:spcAft>
                <a:spcPts val="0"/>
              </a:spcAft>
              <a:buClr>
                <a:srgbClr val="7030A0"/>
              </a:buClr>
              <a:buSzPts val="1400"/>
              <a:buFont typeface="Arial"/>
              <a:buNone/>
            </a:pPr>
            <a:r>
              <a:rPr lang="en" sz="1200" b="1">
                <a:solidFill>
                  <a:srgbClr val="7030A0"/>
                </a:solidFill>
                <a:latin typeface="Cambria"/>
                <a:ea typeface="Cambria"/>
                <a:cs typeface="Cambria"/>
                <a:sym typeface="Cambria"/>
              </a:rPr>
              <a:t>7376231MZ134</a:t>
            </a:r>
            <a:endParaRPr sz="1200" b="1">
              <a:solidFill>
                <a:srgbClr val="7030A0"/>
              </a:solidFill>
              <a:latin typeface="Cambria"/>
              <a:ea typeface="Cambria"/>
              <a:cs typeface="Cambria"/>
              <a:sym typeface="Cambria"/>
            </a:endParaRPr>
          </a:p>
          <a:p>
            <a:pPr marL="0" marR="0" lvl="0" indent="0" algn="ctr" rtl="0">
              <a:lnSpc>
                <a:spcPct val="115000"/>
              </a:lnSpc>
              <a:spcBef>
                <a:spcPts val="800"/>
              </a:spcBef>
              <a:spcAft>
                <a:spcPts val="0"/>
              </a:spcAft>
              <a:buClr>
                <a:srgbClr val="7030A0"/>
              </a:buClr>
              <a:buSzPts val="1400"/>
              <a:buFont typeface="Arial"/>
              <a:buNone/>
            </a:pPr>
            <a:r>
              <a:rPr lang="en" sz="1200" b="1">
                <a:solidFill>
                  <a:srgbClr val="7030A0"/>
                </a:solidFill>
                <a:latin typeface="Cambria"/>
                <a:ea typeface="Cambria"/>
                <a:cs typeface="Cambria"/>
                <a:sym typeface="Cambria"/>
              </a:rPr>
              <a:t>GitHub: https://github.com/princiagit/Oor_Sandhai</a:t>
            </a:r>
            <a:endParaRPr sz="1200" b="1">
              <a:solidFill>
                <a:srgbClr val="7030A0"/>
              </a:solidFill>
              <a:latin typeface="Cambria"/>
              <a:ea typeface="Cambria"/>
              <a:cs typeface="Cambria"/>
              <a:sym typeface="Cambria"/>
            </a:endParaRPr>
          </a:p>
          <a:p>
            <a:pPr marL="0" marR="0" lvl="0" indent="0" algn="ctr" rtl="0">
              <a:lnSpc>
                <a:spcPct val="90000"/>
              </a:lnSpc>
              <a:spcBef>
                <a:spcPts val="800"/>
              </a:spcBef>
              <a:spcAft>
                <a:spcPts val="0"/>
              </a:spcAft>
              <a:buClr>
                <a:schemeClr val="dk1"/>
              </a:buClr>
              <a:buSzPts val="1800"/>
              <a:buFont typeface="Arial"/>
              <a:buNone/>
            </a:pPr>
            <a:endParaRPr sz="1200" b="1" i="0" u="none" strike="noStrike" cap="none">
              <a:solidFill>
                <a:schemeClr val="dk1"/>
              </a:solidFill>
              <a:latin typeface="Cambria"/>
              <a:ea typeface="Cambria"/>
              <a:cs typeface="Cambria"/>
              <a:sym typeface="Cambria"/>
            </a:endParaRPr>
          </a:p>
        </p:txBody>
      </p:sp>
      <p:sp>
        <p:nvSpPr>
          <p:cNvPr id="299" name="Google Shape;299;p43"/>
          <p:cNvSpPr txBox="1"/>
          <p:nvPr/>
        </p:nvSpPr>
        <p:spPr>
          <a:xfrm>
            <a:off x="5078441" y="3844636"/>
            <a:ext cx="3774600" cy="1080675"/>
          </a:xfrm>
          <a:prstGeom prst="rect">
            <a:avLst/>
          </a:prstGeom>
          <a:noFill/>
          <a:ln>
            <a:noFill/>
          </a:ln>
        </p:spPr>
        <p:txBody>
          <a:bodyPr spcFirstLastPara="1" wrap="square" lIns="68575" tIns="34275" rIns="68575" bIns="34275" anchor="t" anchorCtr="0">
            <a:normAutofit/>
          </a:bodyPr>
          <a:lstStyle/>
          <a:p>
            <a:pPr marL="0" marR="0" lvl="0" indent="0" algn="ctr" rtl="0">
              <a:lnSpc>
                <a:spcPct val="100000"/>
              </a:lnSpc>
              <a:spcBef>
                <a:spcPts val="500"/>
              </a:spcBef>
              <a:spcAft>
                <a:spcPts val="0"/>
              </a:spcAft>
              <a:buClr>
                <a:srgbClr val="7030A0"/>
              </a:buClr>
              <a:buSzPts val="1400"/>
              <a:buFont typeface="Arial"/>
              <a:buNone/>
            </a:pPr>
            <a:endParaRPr sz="1800" b="1" i="0" u="none" strike="noStrike" cap="none">
              <a:solidFill>
                <a:schemeClr val="dk1"/>
              </a:solidFill>
              <a:latin typeface="Cambria"/>
              <a:ea typeface="Cambria"/>
              <a:cs typeface="Cambria"/>
              <a:sym typeface="Cambria"/>
            </a:endParaRPr>
          </a:p>
        </p:txBody>
      </p:sp>
      <p:sp>
        <p:nvSpPr>
          <p:cNvPr id="300" name="Google Shape;300;p43"/>
          <p:cNvSpPr txBox="1"/>
          <p:nvPr/>
        </p:nvSpPr>
        <p:spPr>
          <a:xfrm>
            <a:off x="1084724" y="2995628"/>
            <a:ext cx="2202900" cy="284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mbria"/>
              <a:ea typeface="Cambria"/>
              <a:cs typeface="Cambria"/>
              <a:sym typeface="Cambria"/>
            </a:endParaRPr>
          </a:p>
        </p:txBody>
      </p:sp>
      <p:sp>
        <p:nvSpPr>
          <p:cNvPr id="301" name="Google Shape;301;p43"/>
          <p:cNvSpPr txBox="1"/>
          <p:nvPr/>
        </p:nvSpPr>
        <p:spPr>
          <a:xfrm>
            <a:off x="4249883" y="2977893"/>
            <a:ext cx="4603200" cy="284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mbria"/>
              <a:ea typeface="Cambria"/>
              <a:cs typeface="Cambria"/>
              <a:sym typeface="Cambri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4"/>
          <p:cNvSpPr txBox="1">
            <a:spLocks noGrp="1"/>
          </p:cNvSpPr>
          <p:nvPr>
            <p:ph type="ctrTitle"/>
          </p:nvPr>
        </p:nvSpPr>
        <p:spPr>
          <a:xfrm>
            <a:off x="1377024" y="1071738"/>
            <a:ext cx="6858000" cy="755400"/>
          </a:xfrm>
          <a:prstGeom prst="rect">
            <a:avLst/>
          </a:prstGeom>
          <a:noFill/>
          <a:ln>
            <a:noFill/>
          </a:ln>
        </p:spPr>
        <p:txBody>
          <a:bodyPr spcFirstLastPara="1" wrap="square" lIns="68575" tIns="34275" rIns="68575" bIns="34275" anchor="t" anchorCtr="0">
            <a:normAutofit/>
          </a:bodyPr>
          <a:lstStyle/>
          <a:p>
            <a:pPr marL="0" lvl="0" indent="0" algn="ctr" rtl="0">
              <a:lnSpc>
                <a:spcPct val="100000"/>
              </a:lnSpc>
              <a:spcBef>
                <a:spcPts val="0"/>
              </a:spcBef>
              <a:spcAft>
                <a:spcPts val="0"/>
              </a:spcAft>
              <a:buClr>
                <a:schemeClr val="dk1"/>
              </a:buClr>
              <a:buSzPts val="1400"/>
              <a:buFont typeface="Cambria"/>
              <a:buNone/>
            </a:pPr>
            <a:r>
              <a:rPr lang="en" sz="1400" b="1">
                <a:latin typeface="Cambria"/>
                <a:ea typeface="Cambria"/>
                <a:cs typeface="Cambria"/>
                <a:sym typeface="Cambria"/>
              </a:rPr>
              <a:t>Academic Year 2025 - 26 </a:t>
            </a:r>
            <a:br>
              <a:rPr lang="en" sz="1400" b="1">
                <a:latin typeface="Cambria"/>
                <a:ea typeface="Cambria"/>
                <a:cs typeface="Cambria"/>
                <a:sym typeface="Cambria"/>
              </a:rPr>
            </a:br>
            <a:r>
              <a:rPr lang="en" sz="1400" b="1">
                <a:solidFill>
                  <a:srgbClr val="C00000"/>
                </a:solidFill>
                <a:latin typeface="Cambria"/>
                <a:ea typeface="Cambria"/>
                <a:cs typeface="Cambria"/>
                <a:sym typeface="Cambria"/>
              </a:rPr>
              <a:t> MINI PROJECT </a:t>
            </a:r>
            <a:br>
              <a:rPr lang="en" sz="1400" b="1">
                <a:solidFill>
                  <a:srgbClr val="C00000"/>
                </a:solidFill>
                <a:latin typeface="Cambria"/>
                <a:ea typeface="Cambria"/>
                <a:cs typeface="Cambria"/>
                <a:sym typeface="Cambria"/>
              </a:rPr>
            </a:br>
            <a:r>
              <a:rPr lang="en" sz="1400" b="1">
                <a:latin typeface="Cambria"/>
                <a:ea typeface="Cambria"/>
                <a:cs typeface="Cambria"/>
                <a:sym typeface="Cambria"/>
              </a:rPr>
              <a:t>Phase - 2 Review </a:t>
            </a:r>
            <a:endParaRPr sz="1400" b="1">
              <a:latin typeface="Cambria"/>
              <a:ea typeface="Cambria"/>
              <a:cs typeface="Cambria"/>
              <a:sym typeface="Cambria"/>
            </a:endParaRPr>
          </a:p>
        </p:txBody>
      </p:sp>
      <p:sp>
        <p:nvSpPr>
          <p:cNvPr id="307" name="Google Shape;307;p44"/>
          <p:cNvSpPr txBox="1">
            <a:spLocks noGrp="1"/>
          </p:cNvSpPr>
          <p:nvPr>
            <p:ph type="subTitle" idx="1"/>
          </p:nvPr>
        </p:nvSpPr>
        <p:spPr>
          <a:xfrm>
            <a:off x="3430675" y="2027375"/>
            <a:ext cx="2750700" cy="2221200"/>
          </a:xfrm>
          <a:prstGeom prst="rect">
            <a:avLst/>
          </a:prstGeom>
          <a:noFill/>
          <a:ln>
            <a:noFill/>
          </a:ln>
        </p:spPr>
        <p:txBody>
          <a:bodyPr spcFirstLastPara="1" wrap="square" lIns="68575" tIns="34275" rIns="68575" bIns="34275" anchor="t" anchorCtr="0">
            <a:noAutofit/>
          </a:bodyPr>
          <a:lstStyle/>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1 . Aim and Objective of the project</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2. Literature Survey</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3. Technical Stack</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4. Proposed Methodology</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5. Design</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6.  Database Schema</a:t>
            </a:r>
            <a:endParaRPr sz="1300" b="1">
              <a:latin typeface="Cambria"/>
              <a:ea typeface="Cambria"/>
              <a:cs typeface="Cambria"/>
              <a:sym typeface="Cambria"/>
            </a:endParaRPr>
          </a:p>
          <a:p>
            <a:pPr marL="0" lvl="0" indent="0" algn="l" rtl="0">
              <a:lnSpc>
                <a:spcPct val="150000"/>
              </a:lnSpc>
              <a:spcBef>
                <a:spcPts val="0"/>
              </a:spcBef>
              <a:spcAft>
                <a:spcPts val="0"/>
              </a:spcAft>
              <a:buClr>
                <a:srgbClr val="385623"/>
              </a:buClr>
              <a:buSzPts val="1800"/>
              <a:buNone/>
            </a:pPr>
            <a:r>
              <a:rPr lang="en" sz="1300" b="1">
                <a:latin typeface="Cambria"/>
                <a:ea typeface="Cambria"/>
                <a:cs typeface="Cambria"/>
                <a:sym typeface="Cambria"/>
              </a:rPr>
              <a:t>7. Reference</a:t>
            </a:r>
            <a:endParaRPr sz="1300" b="1">
              <a:latin typeface="Cambria"/>
              <a:ea typeface="Cambria"/>
              <a:cs typeface="Cambria"/>
              <a:sym typeface="Cambria"/>
            </a:endParaRPr>
          </a:p>
        </p:txBody>
      </p:sp>
      <p:pic>
        <p:nvPicPr>
          <p:cNvPr id="308" name="Google Shape;308;p44"/>
          <p:cNvPicPr preferRelativeResize="0"/>
          <p:nvPr/>
        </p:nvPicPr>
        <p:blipFill rotWithShape="1">
          <a:blip r:embed="rId3">
            <a:alphaModFix/>
          </a:blip>
          <a:srcRect/>
          <a:stretch/>
        </p:blipFill>
        <p:spPr>
          <a:xfrm>
            <a:off x="1683326" y="19228"/>
            <a:ext cx="5756565" cy="981470"/>
          </a:xfrm>
          <a:prstGeom prst="rect">
            <a:avLst/>
          </a:prstGeom>
          <a:noFill/>
          <a:ln>
            <a:noFill/>
          </a:ln>
        </p:spPr>
      </p:pic>
      <p:sp>
        <p:nvSpPr>
          <p:cNvPr id="309" name="Google Shape;309;p44"/>
          <p:cNvSpPr txBox="1"/>
          <p:nvPr/>
        </p:nvSpPr>
        <p:spPr>
          <a:xfrm>
            <a:off x="2845970" y="2977892"/>
            <a:ext cx="3920100" cy="10599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800"/>
              </a:spcBef>
              <a:spcAft>
                <a:spcPts val="0"/>
              </a:spcAft>
              <a:buClr>
                <a:srgbClr val="7030A0"/>
              </a:buClr>
              <a:buSzPts val="1400"/>
              <a:buFont typeface="Arial"/>
              <a:buNone/>
            </a:pPr>
            <a:endParaRPr sz="1200" b="1">
              <a:solidFill>
                <a:srgbClr val="7030A0"/>
              </a:solidFill>
              <a:latin typeface="Cambria"/>
              <a:ea typeface="Cambria"/>
              <a:cs typeface="Cambria"/>
              <a:sym typeface="Cambria"/>
            </a:endParaRPr>
          </a:p>
          <a:p>
            <a:pPr marL="0" marR="0" lvl="0" indent="0" algn="ctr" rtl="0">
              <a:lnSpc>
                <a:spcPct val="90000"/>
              </a:lnSpc>
              <a:spcBef>
                <a:spcPts val="800"/>
              </a:spcBef>
              <a:spcAft>
                <a:spcPts val="0"/>
              </a:spcAft>
              <a:buClr>
                <a:schemeClr val="dk1"/>
              </a:buClr>
              <a:buSzPts val="1800"/>
              <a:buFont typeface="Arial"/>
              <a:buNone/>
            </a:pPr>
            <a:endParaRPr sz="1200" b="1" i="0" u="none" strike="noStrike" cap="none">
              <a:solidFill>
                <a:schemeClr val="dk1"/>
              </a:solidFill>
              <a:latin typeface="Cambria"/>
              <a:ea typeface="Cambria"/>
              <a:cs typeface="Cambria"/>
              <a:sym typeface="Cambria"/>
            </a:endParaRPr>
          </a:p>
        </p:txBody>
      </p:sp>
      <p:sp>
        <p:nvSpPr>
          <p:cNvPr id="310" name="Google Shape;310;p44"/>
          <p:cNvSpPr txBox="1"/>
          <p:nvPr/>
        </p:nvSpPr>
        <p:spPr>
          <a:xfrm>
            <a:off x="5078441" y="3844636"/>
            <a:ext cx="3774600" cy="1080600"/>
          </a:xfrm>
          <a:prstGeom prst="rect">
            <a:avLst/>
          </a:prstGeom>
          <a:noFill/>
          <a:ln>
            <a:noFill/>
          </a:ln>
        </p:spPr>
        <p:txBody>
          <a:bodyPr spcFirstLastPara="1" wrap="square" lIns="68575" tIns="34275" rIns="68575" bIns="34275" anchor="t" anchorCtr="0">
            <a:normAutofit/>
          </a:bodyPr>
          <a:lstStyle/>
          <a:p>
            <a:pPr marL="0" marR="0" lvl="0" indent="0" algn="ctr" rtl="0">
              <a:lnSpc>
                <a:spcPct val="100000"/>
              </a:lnSpc>
              <a:spcBef>
                <a:spcPts val="500"/>
              </a:spcBef>
              <a:spcAft>
                <a:spcPts val="0"/>
              </a:spcAft>
              <a:buClr>
                <a:srgbClr val="7030A0"/>
              </a:buClr>
              <a:buSzPts val="1400"/>
              <a:buFont typeface="Arial"/>
              <a:buNone/>
            </a:pPr>
            <a:endParaRPr sz="1800" b="1" i="0" u="none" strike="noStrike" cap="none">
              <a:solidFill>
                <a:schemeClr val="dk1"/>
              </a:solidFill>
              <a:latin typeface="Cambria"/>
              <a:ea typeface="Cambria"/>
              <a:cs typeface="Cambria"/>
              <a:sym typeface="Cambria"/>
            </a:endParaRPr>
          </a:p>
        </p:txBody>
      </p:sp>
      <p:sp>
        <p:nvSpPr>
          <p:cNvPr id="311" name="Google Shape;311;p44"/>
          <p:cNvSpPr txBox="1"/>
          <p:nvPr/>
        </p:nvSpPr>
        <p:spPr>
          <a:xfrm>
            <a:off x="1084724" y="2995628"/>
            <a:ext cx="2202900" cy="284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mbria"/>
              <a:ea typeface="Cambria"/>
              <a:cs typeface="Cambria"/>
              <a:sym typeface="Cambria"/>
            </a:endParaRPr>
          </a:p>
        </p:txBody>
      </p:sp>
      <p:sp>
        <p:nvSpPr>
          <p:cNvPr id="312" name="Google Shape;312;p44"/>
          <p:cNvSpPr txBox="1"/>
          <p:nvPr/>
        </p:nvSpPr>
        <p:spPr>
          <a:xfrm>
            <a:off x="4249883" y="2977893"/>
            <a:ext cx="4603200" cy="284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mbria"/>
              <a:ea typeface="Cambria"/>
              <a:cs typeface="Cambria"/>
              <a:sym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5"/>
          <p:cNvSpPr txBox="1">
            <a:spLocks noGrp="1"/>
          </p:cNvSpPr>
          <p:nvPr>
            <p:ph type="body" idx="1"/>
          </p:nvPr>
        </p:nvSpPr>
        <p:spPr>
          <a:xfrm>
            <a:off x="628650" y="737755"/>
            <a:ext cx="7886700" cy="3894968"/>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0" lvl="0" indent="0" algn="l" rtl="0">
              <a:lnSpc>
                <a:spcPct val="100000"/>
              </a:lnSpc>
              <a:spcBef>
                <a:spcPts val="700"/>
              </a:spcBef>
              <a:spcAft>
                <a:spcPts val="0"/>
              </a:spcAft>
              <a:buClr>
                <a:schemeClr val="dk1"/>
              </a:buClr>
              <a:buSzPts val="800"/>
              <a:buFont typeface="Arial"/>
              <a:buNone/>
            </a:pPr>
            <a:r>
              <a:rPr lang="en" sz="1800" b="1">
                <a:solidFill>
                  <a:srgbClr val="4BACC6"/>
                </a:solidFill>
                <a:latin typeface="Cambria"/>
                <a:ea typeface="Cambria"/>
                <a:cs typeface="Cambria"/>
                <a:sym typeface="Cambria"/>
              </a:rPr>
              <a:t>AIM : </a:t>
            </a:r>
            <a:endParaRPr sz="1800" b="1">
              <a:solidFill>
                <a:srgbClr val="4BACC6"/>
              </a:solidFill>
              <a:latin typeface="Cambria"/>
              <a:ea typeface="Cambria"/>
              <a:cs typeface="Cambria"/>
              <a:sym typeface="Cambria"/>
            </a:endParaRPr>
          </a:p>
          <a:p>
            <a:pPr marL="457200" lvl="0" indent="-323850" algn="l" rtl="0">
              <a:lnSpc>
                <a:spcPct val="100000"/>
              </a:lnSpc>
              <a:spcBef>
                <a:spcPts val="700"/>
              </a:spcBef>
              <a:spcAft>
                <a:spcPts val="0"/>
              </a:spcAft>
              <a:buSzPts val="1500"/>
              <a:buFont typeface="Cambria"/>
              <a:buChar char="•"/>
            </a:pPr>
            <a:r>
              <a:rPr lang="en" sz="1500">
                <a:latin typeface="Cambria"/>
                <a:ea typeface="Cambria"/>
                <a:cs typeface="Cambria"/>
                <a:sym typeface="Cambria"/>
              </a:rPr>
              <a:t>Local sellers struggle to reach nearby customers due to the lack of accessible digital platforms.</a:t>
            </a:r>
            <a:endParaRPr sz="1800" b="1">
              <a:solidFill>
                <a:srgbClr val="4BACC6"/>
              </a:solidFill>
              <a:latin typeface="Cambria"/>
              <a:ea typeface="Cambria"/>
              <a:cs typeface="Cambria"/>
              <a:sym typeface="Cambria"/>
            </a:endParaRPr>
          </a:p>
          <a:p>
            <a:pPr marL="457200" lvl="0" indent="-323850" algn="l" rtl="0">
              <a:lnSpc>
                <a:spcPct val="100000"/>
              </a:lnSpc>
              <a:spcBef>
                <a:spcPts val="0"/>
              </a:spcBef>
              <a:spcAft>
                <a:spcPts val="0"/>
              </a:spcAft>
              <a:buSzPts val="1500"/>
              <a:buFont typeface="Cambria"/>
              <a:buChar char="•"/>
            </a:pPr>
            <a:r>
              <a:rPr lang="en" sz="1500">
                <a:latin typeface="Cambria"/>
                <a:ea typeface="Cambria"/>
                <a:cs typeface="Cambria"/>
                <a:sym typeface="Cambria"/>
              </a:rPr>
              <a:t>Customers find it difficult to discover and shop from local businesses efficiently.</a:t>
            </a:r>
            <a:endParaRPr sz="1500">
              <a:latin typeface="Cambria"/>
              <a:ea typeface="Cambria"/>
              <a:cs typeface="Cambria"/>
              <a:sym typeface="Cambria"/>
            </a:endParaRPr>
          </a:p>
          <a:p>
            <a:pPr marL="457200" lvl="0" indent="-323850" algn="l" rtl="0">
              <a:lnSpc>
                <a:spcPct val="100000"/>
              </a:lnSpc>
              <a:spcBef>
                <a:spcPts val="0"/>
              </a:spcBef>
              <a:spcAft>
                <a:spcPts val="0"/>
              </a:spcAft>
              <a:buSzPts val="1500"/>
              <a:buFont typeface="Cambria"/>
              <a:buChar char="•"/>
            </a:pPr>
            <a:r>
              <a:rPr lang="en" sz="1500">
                <a:latin typeface="Cambria"/>
                <a:ea typeface="Cambria"/>
                <a:cs typeface="Cambria"/>
                <a:sym typeface="Cambria"/>
              </a:rPr>
              <a:t>Existing online marketplaces primarily focus on large vendors, resulting in low visibility for small community sellers.</a:t>
            </a:r>
            <a:endParaRPr sz="1500">
              <a:latin typeface="Cambria"/>
              <a:ea typeface="Cambria"/>
              <a:cs typeface="Cambria"/>
              <a:sym typeface="Cambria"/>
            </a:endParaRPr>
          </a:p>
          <a:p>
            <a:pPr marL="457200" lvl="0" indent="-323850" algn="l" rtl="0">
              <a:lnSpc>
                <a:spcPct val="100000"/>
              </a:lnSpc>
              <a:spcBef>
                <a:spcPts val="0"/>
              </a:spcBef>
              <a:spcAft>
                <a:spcPts val="0"/>
              </a:spcAft>
              <a:buSzPts val="1500"/>
              <a:buFont typeface="Cambria"/>
              <a:buChar char="•"/>
            </a:pPr>
            <a:r>
              <a:rPr lang="en" sz="1500">
                <a:latin typeface="Cambria"/>
                <a:ea typeface="Cambria"/>
                <a:cs typeface="Cambria"/>
                <a:sym typeface="Cambria"/>
              </a:rPr>
              <a:t>There is a need for a simple and user-friendly web application that connects local sellers and customers, enabling easy product discovery, ordering, and communication within the community.</a:t>
            </a:r>
            <a:endParaRPr sz="1500">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None/>
            </a:pPr>
            <a:r>
              <a:rPr lang="en" sz="1800" b="1">
                <a:solidFill>
                  <a:srgbClr val="4BACC6"/>
                </a:solidFill>
                <a:latin typeface="Cambria"/>
                <a:ea typeface="Cambria"/>
                <a:cs typeface="Cambria"/>
                <a:sym typeface="Cambria"/>
              </a:rPr>
              <a:t>OBJECTIVE : </a:t>
            </a:r>
            <a:endParaRPr sz="1800" b="1">
              <a:solidFill>
                <a:srgbClr val="4BACC6"/>
              </a:solidFill>
              <a:latin typeface="Cambria"/>
              <a:ea typeface="Cambria"/>
              <a:cs typeface="Cambria"/>
              <a:sym typeface="Cambria"/>
            </a:endParaRPr>
          </a:p>
          <a:p>
            <a:pPr marL="457200" lvl="0" indent="-323850" algn="l" rtl="0">
              <a:lnSpc>
                <a:spcPct val="100000"/>
              </a:lnSpc>
              <a:spcBef>
                <a:spcPts val="700"/>
              </a:spcBef>
              <a:spcAft>
                <a:spcPts val="0"/>
              </a:spcAft>
              <a:buSzPts val="1500"/>
              <a:buFont typeface="Cambria"/>
              <a:buChar char="•"/>
            </a:pPr>
            <a:r>
              <a:rPr lang="en" sz="1500">
                <a:latin typeface="Cambria"/>
                <a:ea typeface="Cambria"/>
                <a:cs typeface="Cambria"/>
                <a:sym typeface="Cambria"/>
              </a:rPr>
              <a:t>To develop a secure and user-friendly web application that connects local sellers, buyers, and delivery partners within a community.</a:t>
            </a:r>
            <a:endParaRPr sz="1500">
              <a:latin typeface="Cambria"/>
              <a:ea typeface="Cambria"/>
              <a:cs typeface="Cambria"/>
              <a:sym typeface="Cambria"/>
            </a:endParaRPr>
          </a:p>
          <a:p>
            <a:pPr marL="457200" lvl="0" indent="-323850" algn="l" rtl="0">
              <a:lnSpc>
                <a:spcPct val="100000"/>
              </a:lnSpc>
              <a:spcBef>
                <a:spcPts val="0"/>
              </a:spcBef>
              <a:spcAft>
                <a:spcPts val="0"/>
              </a:spcAft>
              <a:buSzPts val="1500"/>
              <a:buFont typeface="Cambria"/>
              <a:buChar char="•"/>
            </a:pPr>
            <a:r>
              <a:rPr lang="en" sz="1500">
                <a:latin typeface="Cambria"/>
                <a:ea typeface="Cambria"/>
                <a:cs typeface="Cambria"/>
                <a:sym typeface="Cambria"/>
              </a:rPr>
              <a:t>The system aims to enable easy product listing, browsing, ordering, and delivery management through a role-based digital marketplace.</a:t>
            </a:r>
            <a:endParaRPr sz="1800" b="1">
              <a:solidFill>
                <a:srgbClr val="4BACC6"/>
              </a:solidFill>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endParaRPr sz="1800" b="1">
              <a:solidFill>
                <a:srgbClr val="4BACC6"/>
              </a:solidFill>
              <a:latin typeface="Cambria"/>
              <a:ea typeface="Cambria"/>
              <a:cs typeface="Cambria"/>
              <a:sym typeface="Cambria"/>
            </a:endParaRPr>
          </a:p>
        </p:txBody>
      </p:sp>
      <p:sp>
        <p:nvSpPr>
          <p:cNvPr id="318" name="Google Shape;318;p4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sz="1400" b="1">
                <a:solidFill>
                  <a:srgbClr val="385623"/>
                </a:solidFill>
              </a:rPr>
              <a:t>PHASE-1 REVIEW PRESENTATION</a:t>
            </a:r>
            <a:endParaRPr sz="1400" b="1">
              <a:solidFill>
                <a:srgbClr val="385623"/>
              </a:solidFill>
            </a:endParaRPr>
          </a:p>
        </p:txBody>
      </p:sp>
      <p:sp>
        <p:nvSpPr>
          <p:cNvPr id="319" name="Google Shape;319;p4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fld id="{00000000-1234-1234-1234-123412341234}" type="slidenum">
              <a:rPr lang="en" sz="1400" b="1">
                <a:solidFill>
                  <a:srgbClr val="385623"/>
                </a:solidFill>
              </a:rPr>
              <a:t>20</a:t>
            </a:fld>
            <a:endParaRPr sz="1400" b="1">
              <a:solidFill>
                <a:srgbClr val="385623"/>
              </a:solidFill>
            </a:endParaRPr>
          </a:p>
        </p:txBody>
      </p:sp>
      <p:sp>
        <p:nvSpPr>
          <p:cNvPr id="320" name="Google Shape;320;p45"/>
          <p:cNvSpPr txBox="1">
            <a:spLocks noGrp="1"/>
          </p:cNvSpPr>
          <p:nvPr>
            <p:ph type="title"/>
          </p:nvPr>
        </p:nvSpPr>
        <p:spPr>
          <a:xfrm>
            <a:off x="628650" y="180326"/>
            <a:ext cx="7886700" cy="432737"/>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AIM &amp; OBJECTIVES OF THE PROJECT </a:t>
            </a:r>
            <a:br>
              <a:rPr lang="en" sz="1800" b="1">
                <a:solidFill>
                  <a:srgbClr val="2F5496"/>
                </a:solidFill>
                <a:latin typeface="Cambria"/>
                <a:ea typeface="Cambria"/>
                <a:cs typeface="Cambria"/>
                <a:sym typeface="Cambria"/>
              </a:rPr>
            </a:br>
            <a:r>
              <a:rPr lang="en" sz="1800" b="1">
                <a:solidFill>
                  <a:srgbClr val="2F5496"/>
                </a:solidFill>
                <a:latin typeface="Cambria"/>
                <a:ea typeface="Cambria"/>
                <a:cs typeface="Cambria"/>
                <a:sym typeface="Cambria"/>
              </a:rPr>
              <a:t>(Problem Statement)</a:t>
            </a:r>
            <a:endParaRPr sz="1800" b="1">
              <a:solidFill>
                <a:srgbClr val="2F5496"/>
              </a:solidFill>
              <a:latin typeface="Cambria"/>
              <a:ea typeface="Cambria"/>
              <a:cs typeface="Cambria"/>
              <a:sym typeface="Cambri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6"/>
          <p:cNvSpPr txBox="1">
            <a:spLocks noGrp="1"/>
          </p:cNvSpPr>
          <p:nvPr>
            <p:ph type="title"/>
          </p:nvPr>
        </p:nvSpPr>
        <p:spPr>
          <a:xfrm>
            <a:off x="628650" y="126574"/>
            <a:ext cx="7886700" cy="202800"/>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rgbClr val="2F5496"/>
              </a:buClr>
              <a:buSzPct val="100000"/>
              <a:buFont typeface="Cambria"/>
              <a:buNone/>
            </a:pPr>
            <a:r>
              <a:rPr lang="en" sz="2700" b="1">
                <a:solidFill>
                  <a:srgbClr val="2F5496"/>
                </a:solidFill>
                <a:latin typeface="Cambria"/>
                <a:ea typeface="Cambria"/>
                <a:cs typeface="Cambria"/>
                <a:sym typeface="Cambria"/>
              </a:rPr>
              <a:t>LITERATURE SURVEY </a:t>
            </a:r>
            <a:endParaRPr sz="2700" b="1">
              <a:solidFill>
                <a:srgbClr val="2F5496"/>
              </a:solidFill>
              <a:latin typeface="Cambria"/>
              <a:ea typeface="Cambria"/>
              <a:cs typeface="Cambria"/>
              <a:sym typeface="Cambria"/>
            </a:endParaRPr>
          </a:p>
        </p:txBody>
      </p:sp>
      <p:sp>
        <p:nvSpPr>
          <p:cNvPr id="326" name="Google Shape;326;p46"/>
          <p:cNvSpPr txBox="1">
            <a:spLocks noGrp="1"/>
          </p:cNvSpPr>
          <p:nvPr>
            <p:ph type="ftr" idx="11"/>
          </p:nvPr>
        </p:nvSpPr>
        <p:spPr>
          <a:xfrm>
            <a:off x="3184816"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sz="1400">
                <a:solidFill>
                  <a:srgbClr val="0070C0"/>
                </a:solidFill>
                <a:latin typeface="Cambria"/>
                <a:ea typeface="Cambria"/>
                <a:cs typeface="Cambria"/>
                <a:sym typeface="Cambria"/>
              </a:rPr>
              <a:t>FIRST REVIEW PRESENTATION</a:t>
            </a:r>
            <a:endParaRPr sz="1400">
              <a:solidFill>
                <a:srgbClr val="0070C0"/>
              </a:solidFill>
              <a:latin typeface="Cambria"/>
              <a:ea typeface="Cambria"/>
              <a:cs typeface="Cambria"/>
              <a:sym typeface="Cambria"/>
            </a:endParaRPr>
          </a:p>
        </p:txBody>
      </p:sp>
      <p:sp>
        <p:nvSpPr>
          <p:cNvPr id="327" name="Google Shape;327;p4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fld id="{00000000-1234-1234-1234-123412341234}" type="slidenum">
              <a:rPr lang="en" sz="1400">
                <a:solidFill>
                  <a:srgbClr val="0070C0"/>
                </a:solidFill>
              </a:rPr>
              <a:t>21</a:t>
            </a:fld>
            <a:endParaRPr sz="1400">
              <a:solidFill>
                <a:srgbClr val="0070C0"/>
              </a:solidFill>
            </a:endParaRPr>
          </a:p>
        </p:txBody>
      </p:sp>
      <p:graphicFrame>
        <p:nvGraphicFramePr>
          <p:cNvPr id="328" name="Google Shape;328;p46"/>
          <p:cNvGraphicFramePr/>
          <p:nvPr/>
        </p:nvGraphicFramePr>
        <p:xfrm>
          <a:off x="317913" y="446259"/>
          <a:ext cx="3000000" cy="3000000"/>
        </p:xfrm>
        <a:graphic>
          <a:graphicData uri="http://schemas.openxmlformats.org/drawingml/2006/table">
            <a:tbl>
              <a:tblPr firstRow="1" bandRow="1">
                <a:noFill/>
                <a:tableStyleId>{86D5F857-DF80-4505-8F08-FE4FB7382C66}</a:tableStyleId>
              </a:tblPr>
              <a:tblGrid>
                <a:gridCol w="774400">
                  <a:extLst>
                    <a:ext uri="{9D8B030D-6E8A-4147-A177-3AD203B41FA5}">
                      <a16:colId xmlns:a16="http://schemas.microsoft.com/office/drawing/2014/main" val="20000"/>
                    </a:ext>
                  </a:extLst>
                </a:gridCol>
                <a:gridCol w="1878450">
                  <a:extLst>
                    <a:ext uri="{9D8B030D-6E8A-4147-A177-3AD203B41FA5}">
                      <a16:colId xmlns:a16="http://schemas.microsoft.com/office/drawing/2014/main" val="20001"/>
                    </a:ext>
                  </a:extLst>
                </a:gridCol>
                <a:gridCol w="3554600">
                  <a:extLst>
                    <a:ext uri="{9D8B030D-6E8A-4147-A177-3AD203B41FA5}">
                      <a16:colId xmlns:a16="http://schemas.microsoft.com/office/drawing/2014/main" val="20002"/>
                    </a:ext>
                  </a:extLst>
                </a:gridCol>
                <a:gridCol w="2300725">
                  <a:extLst>
                    <a:ext uri="{9D8B030D-6E8A-4147-A177-3AD203B41FA5}">
                      <a16:colId xmlns:a16="http://schemas.microsoft.com/office/drawing/2014/main" val="20003"/>
                    </a:ext>
                  </a:extLst>
                </a:gridCol>
              </a:tblGrid>
              <a:tr h="3611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Sl.No.</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Journal Paper Title with Author </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Works carried out  </a:t>
                      </a:r>
                      <a:endParaRPr sz="1100" u="none" strike="noStrike" cap="none"/>
                    </a:p>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 with details of Methods/ Materials/ Software/ Algorithms / fabrication / techniques/ components used ) </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Information gathered relevant to your project</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0"/>
                  </a:ext>
                </a:extLst>
              </a:tr>
              <a:tr h="8988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rPr>
                        <a:t>1</a:t>
                      </a:r>
                      <a:endParaRPr sz="1400"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lvl="0" indent="0" algn="ctr" rtl="0">
                        <a:spcBef>
                          <a:spcPts val="0"/>
                        </a:spcBef>
                        <a:spcAft>
                          <a:spcPts val="0"/>
                        </a:spcAft>
                        <a:buClr>
                          <a:schemeClr val="dk1"/>
                        </a:buClr>
                        <a:buFont typeface="Arial"/>
                        <a:buNone/>
                      </a:pPr>
                      <a:r>
                        <a:rPr lang="en" sz="1500">
                          <a:highlight>
                            <a:srgbClr val="BBD6EE"/>
                          </a:highlight>
                          <a:latin typeface="Cambria"/>
                          <a:ea typeface="Cambria"/>
                          <a:cs typeface="Cambria"/>
                          <a:sym typeface="Cambria"/>
                        </a:rPr>
                        <a:t>Peri Hartman; Jeffrey P. Bezos; </a:t>
                      </a:r>
                      <a:endParaRPr sz="1500">
                        <a:highlight>
                          <a:srgbClr val="BBD6EE"/>
                        </a:highlight>
                        <a:latin typeface="Cambria"/>
                        <a:ea typeface="Cambria"/>
                        <a:cs typeface="Cambria"/>
                        <a:sym typeface="Cambria"/>
                      </a:endParaRPr>
                    </a:p>
                    <a:p>
                      <a:pPr marL="0" lvl="0" indent="0" algn="ctr" rtl="0">
                        <a:spcBef>
                          <a:spcPts val="0"/>
                        </a:spcBef>
                        <a:spcAft>
                          <a:spcPts val="0"/>
                        </a:spcAft>
                        <a:buClr>
                          <a:schemeClr val="dk1"/>
                        </a:buClr>
                        <a:buFont typeface="Arial"/>
                        <a:buNone/>
                      </a:pPr>
                      <a:r>
                        <a:rPr lang="en" sz="1500">
                          <a:highlight>
                            <a:srgbClr val="BBD6EE"/>
                          </a:highlight>
                          <a:latin typeface="Cambria"/>
                          <a:ea typeface="Cambria"/>
                          <a:cs typeface="Cambria"/>
                          <a:sym typeface="Cambria"/>
                        </a:rPr>
                        <a:t>Shel Kapha</a:t>
                      </a:r>
                      <a:endParaRPr sz="1500">
                        <a:highlight>
                          <a:srgbClr val="BBD6EE"/>
                        </a:highlight>
                        <a:latin typeface="Cambria"/>
                        <a:ea typeface="Cambria"/>
                        <a:cs typeface="Cambria"/>
                        <a:sym typeface="Cambria"/>
                      </a:endParaRPr>
                    </a:p>
                    <a:p>
                      <a:pPr marL="0" lvl="0" indent="0" algn="ctr" rtl="0">
                        <a:spcBef>
                          <a:spcPts val="0"/>
                        </a:spcBef>
                        <a:spcAft>
                          <a:spcPts val="0"/>
                        </a:spcAft>
                        <a:buClr>
                          <a:schemeClr val="dk1"/>
                        </a:buClr>
                        <a:buFont typeface="Arial"/>
                        <a:buNone/>
                      </a:pPr>
                      <a:r>
                        <a:rPr lang="en" sz="1500">
                          <a:highlight>
                            <a:srgbClr val="BBD6EE"/>
                          </a:highlight>
                          <a:latin typeface="Cambria"/>
                          <a:ea typeface="Cambria"/>
                          <a:cs typeface="Cambria"/>
                          <a:sym typeface="Cambria"/>
                        </a:rPr>
                        <a:t>Patent Id : 5,960,411 </a:t>
                      </a:r>
                      <a:endParaRPr sz="1400" b="1"/>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lvl="0" indent="0" algn="just" rtl="0">
                        <a:lnSpc>
                          <a:spcPct val="100000"/>
                        </a:lnSpc>
                        <a:spcBef>
                          <a:spcPts val="0"/>
                        </a:spcBef>
                        <a:spcAft>
                          <a:spcPts val="0"/>
                        </a:spcAft>
                        <a:buClr>
                          <a:schemeClr val="dk1"/>
                        </a:buClr>
                        <a:buFont typeface="Arial"/>
                        <a:buNone/>
                      </a:pPr>
                      <a:r>
                        <a:rPr lang="en"/>
                        <a:t>Frontend - HTML, CSS, JavaScript</a:t>
                      </a:r>
                      <a:endParaRPr/>
                    </a:p>
                    <a:p>
                      <a:pPr marL="0" lvl="0" indent="0" algn="just" rtl="0">
                        <a:lnSpc>
                          <a:spcPct val="100000"/>
                        </a:lnSpc>
                        <a:spcBef>
                          <a:spcPts val="0"/>
                        </a:spcBef>
                        <a:spcAft>
                          <a:spcPts val="0"/>
                        </a:spcAft>
                        <a:buClr>
                          <a:schemeClr val="dk1"/>
                        </a:buClr>
                        <a:buFont typeface="Arial"/>
                        <a:buNone/>
                      </a:pPr>
                      <a:r>
                        <a:rPr lang="en"/>
                        <a:t>Backend - Java / PHP / Python (Server-side scripting) Database - MongoDB ,Session Handling - Cookies / Session Tokens</a:t>
                      </a:r>
                      <a:endParaRPr/>
                    </a:p>
                    <a:p>
                      <a:pPr marL="0" lvl="0" indent="0" algn="just" rtl="0">
                        <a:lnSpc>
                          <a:spcPct val="100000"/>
                        </a:lnSpc>
                        <a:spcBef>
                          <a:spcPts val="0"/>
                        </a:spcBef>
                        <a:spcAft>
                          <a:spcPts val="0"/>
                        </a:spcAft>
                        <a:buClr>
                          <a:schemeClr val="dk1"/>
                        </a:buClr>
                        <a:buFont typeface="Arial"/>
                        <a:buNone/>
                      </a:pPr>
                      <a:r>
                        <a:rPr lang="en"/>
                        <a:t>Security - SSL/TLS encryption</a:t>
                      </a:r>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tc>
                  <a:txBody>
                    <a:bodyPr/>
                    <a:lstStyle/>
                    <a:p>
                      <a:pPr marL="0" lvl="0" indent="0" algn="l" rtl="0">
                        <a:spcBef>
                          <a:spcPts val="0"/>
                        </a:spcBef>
                        <a:spcAft>
                          <a:spcPts val="0"/>
                        </a:spcAft>
                        <a:buClr>
                          <a:schemeClr val="dk1"/>
                        </a:buClr>
                        <a:buSzPts val="800"/>
                        <a:buFont typeface="Arial"/>
                        <a:buNone/>
                      </a:pPr>
                      <a:r>
                        <a:rPr lang="en"/>
                        <a:t>React.js (frontend), Node.js &amp; Express.js (backend), MongoDB Atlas (database), JWT authentication, and Firebase services</a:t>
                      </a:r>
                      <a:endParaRPr sz="14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r h="23787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rPr>
                        <a:t>2</a:t>
                      </a:r>
                      <a:endParaRPr sz="1400"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lvl="0" indent="0" algn="l" rtl="0">
                        <a:spcBef>
                          <a:spcPts val="0"/>
                        </a:spcBef>
                        <a:spcAft>
                          <a:spcPts val="0"/>
                        </a:spcAft>
                        <a:buClr>
                          <a:schemeClr val="dk1"/>
                        </a:buClr>
                        <a:buSzPts val="1400"/>
                        <a:buFont typeface="Arial"/>
                        <a:buNone/>
                      </a:pPr>
                      <a:r>
                        <a:rPr lang="en"/>
                        <a:t>Richa Arora, Priyanshu Raj, Srinivas Deshpande, Ananda Matthur, Roshan Nair, Sasikanth Lenka. Praveen R S</a:t>
                      </a:r>
                      <a:endParaRPr/>
                    </a:p>
                    <a:p>
                      <a:pPr marL="0" lvl="0" indent="0" algn="l" rtl="0">
                        <a:spcBef>
                          <a:spcPts val="0"/>
                        </a:spcBef>
                        <a:spcAft>
                          <a:spcPts val="0"/>
                        </a:spcAft>
                        <a:buClr>
                          <a:schemeClr val="dk1"/>
                        </a:buClr>
                        <a:buSzPts val="1400"/>
                        <a:buFont typeface="Arial"/>
                        <a:buNone/>
                      </a:pPr>
                      <a:r>
                        <a:rPr lang="en"/>
                        <a:t>Patent Id: 11907094</a:t>
                      </a:r>
                      <a:endParaRPr sz="1500">
                        <a:highlight>
                          <a:srgbClr val="F5F7F9"/>
                        </a:highlight>
                        <a:latin typeface="Arial"/>
                        <a:ea typeface="Arial"/>
                        <a:cs typeface="Arial"/>
                        <a:sym typeface="Arial"/>
                      </a:endParaRPr>
                    </a:p>
                  </a:txBody>
                  <a:tcPr marL="68600" marR="68600" marT="34300" marB="34300">
                    <a:lnL w="12700" cap="flat" cmpd="sng">
                      <a:solidFill>
                        <a:schemeClr val="dk1"/>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Font typeface="Arial"/>
                        <a:buNone/>
                      </a:pPr>
                      <a:r>
                        <a:rPr lang="en"/>
                        <a:t> Backend Processing - Java/ Python/Node.js</a:t>
                      </a:r>
                      <a:endParaRPr/>
                    </a:p>
                    <a:p>
                      <a:pPr marL="0" marR="0" lvl="0" indent="0" algn="l" rtl="0">
                        <a:lnSpc>
                          <a:spcPct val="100000"/>
                        </a:lnSpc>
                        <a:spcBef>
                          <a:spcPts val="0"/>
                        </a:spcBef>
                        <a:spcAft>
                          <a:spcPts val="0"/>
                        </a:spcAft>
                        <a:buClr>
                          <a:srgbClr val="000000"/>
                        </a:buClr>
                        <a:buFont typeface="Arial"/>
                        <a:buNone/>
                      </a:pPr>
                      <a:r>
                        <a:rPr lang="en"/>
                        <a:t> Data Streaming - Apache Kafka / Streaming APIs</a:t>
                      </a:r>
                      <a:endParaRPr/>
                    </a:p>
                    <a:p>
                      <a:pPr marL="0" marR="0" lvl="0" indent="0" algn="l" rtl="0">
                        <a:lnSpc>
                          <a:spcPct val="100000"/>
                        </a:lnSpc>
                        <a:spcBef>
                          <a:spcPts val="0"/>
                        </a:spcBef>
                        <a:spcAft>
                          <a:spcPts val="0"/>
                        </a:spcAft>
                        <a:buClr>
                          <a:srgbClr val="000000"/>
                        </a:buClr>
                        <a:buFont typeface="Arial"/>
                        <a:buNone/>
                      </a:pPr>
                      <a:r>
                        <a:rPr lang="en"/>
                        <a:t> Database - SQL </a:t>
                      </a:r>
                      <a:endParaRPr/>
                    </a:p>
                    <a:p>
                      <a:pPr marL="0" marR="0" lvl="0" indent="0" algn="l" rtl="0">
                        <a:lnSpc>
                          <a:spcPct val="100000"/>
                        </a:lnSpc>
                        <a:spcBef>
                          <a:spcPts val="0"/>
                        </a:spcBef>
                        <a:spcAft>
                          <a:spcPts val="0"/>
                        </a:spcAft>
                        <a:buClr>
                          <a:srgbClr val="000000"/>
                        </a:buClr>
                        <a:buFont typeface="Arial"/>
                        <a:buNone/>
                      </a:pPr>
                      <a:r>
                        <a:rPr lang="en"/>
                        <a:t> Deployment - Cloud Infrastructure</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tc>
                  <a:txBody>
                    <a:bodyPr/>
                    <a:lstStyle/>
                    <a:p>
                      <a:pPr marL="0" lvl="0" indent="0" algn="l" rtl="0">
                        <a:lnSpc>
                          <a:spcPct val="100000"/>
                        </a:lnSpc>
                        <a:spcBef>
                          <a:spcPts val="1500"/>
                        </a:spcBef>
                        <a:spcAft>
                          <a:spcPts val="0"/>
                        </a:spcAft>
                        <a:buClr>
                          <a:schemeClr val="dk1"/>
                        </a:buClr>
                        <a:buSzPts val="1100"/>
                        <a:buFont typeface="Arial"/>
                        <a:buNone/>
                      </a:pPr>
                      <a:r>
                        <a:rPr lang="en"/>
                        <a:t> Studied real-time data    monitoring techniques and  anomaly detection methods. Understood how current metrics are compared with historical benchmarks using thresholds. Learned about automated detection systems that improve system reliability and reduce manual monitoring.</a:t>
                      </a:r>
                      <a:endParaRPr/>
                    </a:p>
                    <a:p>
                      <a:pPr marL="0" marR="0" lvl="0" indent="0" algn="ctr" rtl="0">
                        <a:lnSpc>
                          <a:spcPct val="100000"/>
                        </a:lnSpc>
                        <a:spcBef>
                          <a:spcPts val="1500"/>
                        </a:spcBef>
                        <a:spcAft>
                          <a:spcPts val="0"/>
                        </a:spcAft>
                        <a:buClr>
                          <a:srgbClr val="000000"/>
                        </a:buClr>
                        <a:buFont typeface="Arial"/>
                        <a:buNone/>
                      </a:pP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7"/>
          <p:cNvSpPr txBox="1"/>
          <p:nvPr/>
        </p:nvSpPr>
        <p:spPr>
          <a:xfrm>
            <a:off x="723410" y="501423"/>
            <a:ext cx="6469425" cy="304425"/>
          </a:xfrm>
          <a:prstGeom prst="rect">
            <a:avLst/>
          </a:prstGeom>
          <a:noFill/>
          <a:ln>
            <a:noFill/>
          </a:ln>
        </p:spPr>
        <p:txBody>
          <a:bodyPr spcFirstLastPara="1" wrap="square" lIns="0" tIns="72875" rIns="0" bIns="0" anchor="t" anchorCtr="0">
            <a:spAutoFit/>
          </a:bodyPr>
          <a:lstStyle/>
          <a:p>
            <a:pPr marL="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334" name="Google Shape;334;p47"/>
          <p:cNvSpPr txBox="1">
            <a:spLocks noGrp="1"/>
          </p:cNvSpPr>
          <p:nvPr>
            <p:ph type="dt" idx="10"/>
          </p:nvPr>
        </p:nvSpPr>
        <p:spPr>
          <a:xfrm>
            <a:off x="683419" y="4827784"/>
            <a:ext cx="9411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13-02-2026</a:t>
            </a:r>
            <a:endParaRPr sz="900" b="0">
              <a:solidFill>
                <a:srgbClr val="888888"/>
              </a:solidFill>
            </a:endParaRPr>
          </a:p>
        </p:txBody>
      </p:sp>
      <p:sp>
        <p:nvSpPr>
          <p:cNvPr id="335" name="Google Shape;335;p47"/>
          <p:cNvSpPr txBox="1">
            <a:spLocks noGrp="1"/>
          </p:cNvSpPr>
          <p:nvPr>
            <p:ph type="sldNum" idx="12"/>
          </p:nvPr>
        </p:nvSpPr>
        <p:spPr>
          <a:xfrm>
            <a:off x="8306618" y="4827794"/>
            <a:ext cx="182700" cy="2079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22</a:t>
            </a:fld>
            <a:endParaRPr b="0">
              <a:solidFill>
                <a:srgbClr val="888888"/>
              </a:solidFill>
            </a:endParaRPr>
          </a:p>
        </p:txBody>
      </p:sp>
      <p:sp>
        <p:nvSpPr>
          <p:cNvPr id="336" name="Google Shape;336;p47"/>
          <p:cNvSpPr txBox="1">
            <a:spLocks noGrp="1"/>
          </p:cNvSpPr>
          <p:nvPr>
            <p:ph type="title"/>
          </p:nvPr>
        </p:nvSpPr>
        <p:spPr>
          <a:xfrm>
            <a:off x="865800" y="-34018"/>
            <a:ext cx="7802325" cy="616950"/>
          </a:xfrm>
          <a:prstGeom prst="rect">
            <a:avLst/>
          </a:prstGeom>
          <a:noFill/>
          <a:ln>
            <a:noFill/>
          </a:ln>
        </p:spPr>
        <p:txBody>
          <a:bodyPr spcFirstLastPara="1" wrap="square" lIns="0" tIns="40475" rIns="0" bIns="0" anchor="t" anchorCtr="0">
            <a:spAutoFit/>
          </a:bodyPr>
          <a:lstStyle/>
          <a:p>
            <a:pPr marL="914400" marR="0" lvl="0" indent="-901700" algn="l" rtl="0">
              <a:lnSpc>
                <a:spcPct val="107916"/>
              </a:lnSpc>
              <a:spcBef>
                <a:spcPts val="0"/>
              </a:spcBef>
              <a:spcAft>
                <a:spcPts val="0"/>
              </a:spcAft>
              <a:buNone/>
            </a:pPr>
            <a:r>
              <a:rPr lang="en">
                <a:solidFill>
                  <a:srgbClr val="2F5496"/>
                </a:solidFill>
              </a:rPr>
              <a:t>CHOICE	OF	COMPONENTS / MODULES /  METHODS / TECHNIQUES EQUIPMENT USED FOR PROJECT DEVELOPMENT</a:t>
            </a:r>
            <a:endParaRPr/>
          </a:p>
        </p:txBody>
      </p:sp>
      <p:sp>
        <p:nvSpPr>
          <p:cNvPr id="337" name="Google Shape;337;p47"/>
          <p:cNvSpPr txBox="1"/>
          <p:nvPr/>
        </p:nvSpPr>
        <p:spPr>
          <a:xfrm>
            <a:off x="683419" y="664988"/>
            <a:ext cx="7917000" cy="3654900"/>
          </a:xfrm>
          <a:prstGeom prst="rect">
            <a:avLst/>
          </a:prstGeom>
          <a:noFill/>
          <a:ln>
            <a:noFill/>
          </a:ln>
        </p:spPr>
        <p:txBody>
          <a:bodyPr spcFirstLastPara="1" wrap="square" lIns="68575" tIns="68575" rIns="68575" bIns="68575" anchor="t" anchorCtr="0">
            <a:spAutoFit/>
          </a:bodyPr>
          <a:lstStyle/>
          <a:p>
            <a:pPr marL="0" lvl="0" indent="0" algn="l" rtl="0">
              <a:lnSpc>
                <a:spcPct val="115000"/>
              </a:lnSpc>
              <a:spcBef>
                <a:spcPts val="1100"/>
              </a:spcBef>
              <a:spcAft>
                <a:spcPts val="0"/>
              </a:spcAft>
              <a:buClr>
                <a:schemeClr val="dk1"/>
              </a:buClr>
              <a:buSzPts val="800"/>
              <a:buFont typeface="Arial"/>
              <a:buNone/>
            </a:pPr>
            <a:r>
              <a:rPr lang="en" sz="1800" b="1">
                <a:solidFill>
                  <a:schemeClr val="accent5"/>
                </a:solidFill>
                <a:latin typeface="Cambria"/>
                <a:ea typeface="Cambria"/>
                <a:cs typeface="Cambria"/>
                <a:sym typeface="Cambria"/>
              </a:rPr>
              <a:t>COMPONENTS:</a:t>
            </a:r>
            <a:endParaRPr sz="800" b="1">
              <a:solidFill>
                <a:schemeClr val="dk1"/>
              </a:solidFill>
            </a:endParaRPr>
          </a:p>
          <a:p>
            <a:pPr marL="0" lvl="0" indent="0" algn="l" rtl="0">
              <a:lnSpc>
                <a:spcPct val="115000"/>
              </a:lnSpc>
              <a:spcBef>
                <a:spcPts val="900"/>
              </a:spcBef>
              <a:spcAft>
                <a:spcPts val="0"/>
              </a:spcAft>
              <a:buNone/>
            </a:pPr>
            <a:r>
              <a:rPr lang="en" sz="1500">
                <a:solidFill>
                  <a:schemeClr val="dk1"/>
                </a:solidFill>
                <a:latin typeface="Cambria"/>
                <a:ea typeface="Cambria"/>
                <a:cs typeface="Cambria"/>
                <a:sym typeface="Cambria"/>
              </a:rPr>
              <a:t>Frontend Technologies Used : </a:t>
            </a:r>
            <a:endParaRPr sz="1500">
              <a:solidFill>
                <a:schemeClr val="dk1"/>
              </a:solidFill>
              <a:latin typeface="Cambria"/>
              <a:ea typeface="Cambria"/>
              <a:cs typeface="Cambria"/>
              <a:sym typeface="Cambria"/>
            </a:endParaRPr>
          </a:p>
          <a:p>
            <a:pPr marL="457200" lvl="0" indent="-323850" algn="l" rtl="0">
              <a:lnSpc>
                <a:spcPct val="115000"/>
              </a:lnSpc>
              <a:spcBef>
                <a:spcPts val="90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 Framework: HTML, CSS, </a:t>
            </a:r>
            <a:r>
              <a:rPr lang="en" sz="1500" u="sng">
                <a:solidFill>
                  <a:schemeClr val="hlink"/>
                </a:solidFill>
                <a:latin typeface="Cambria"/>
                <a:ea typeface="Cambria"/>
                <a:cs typeface="Cambria"/>
                <a:sym typeface="Cambria"/>
                <a:hlinkClick r:id="rId3"/>
              </a:rPr>
              <a:t>React.js</a:t>
            </a:r>
            <a:endParaRPr sz="1500">
              <a:solidFill>
                <a:schemeClr val="dk1"/>
              </a:solidFill>
              <a:latin typeface="Cambria"/>
              <a:ea typeface="Cambria"/>
              <a:cs typeface="Cambria"/>
              <a:sym typeface="Cambria"/>
            </a:endParaRPr>
          </a:p>
          <a:p>
            <a:pPr marL="457200" lvl="0" indent="-3238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Programming Languages: JavaScript</a:t>
            </a:r>
            <a:endParaRPr sz="1500">
              <a:solidFill>
                <a:schemeClr val="dk1"/>
              </a:solidFill>
              <a:latin typeface="Cambria"/>
              <a:ea typeface="Cambria"/>
              <a:cs typeface="Cambria"/>
              <a:sym typeface="Cambria"/>
            </a:endParaRPr>
          </a:p>
          <a:p>
            <a:pPr marL="457200" lvl="0" indent="0" algn="l" rtl="0">
              <a:lnSpc>
                <a:spcPct val="115000"/>
              </a:lnSpc>
              <a:spcBef>
                <a:spcPts val="900"/>
              </a:spcBef>
              <a:spcAft>
                <a:spcPts val="0"/>
              </a:spcAft>
              <a:buNone/>
            </a:pPr>
            <a:endParaRPr sz="1500">
              <a:solidFill>
                <a:schemeClr val="dk1"/>
              </a:solidFill>
              <a:latin typeface="Cambria"/>
              <a:ea typeface="Cambria"/>
              <a:cs typeface="Cambria"/>
              <a:sym typeface="Cambria"/>
            </a:endParaRPr>
          </a:p>
          <a:p>
            <a:pPr marL="0" lvl="0" indent="0" algn="l" rtl="0">
              <a:lnSpc>
                <a:spcPct val="115000"/>
              </a:lnSpc>
              <a:spcBef>
                <a:spcPts val="900"/>
              </a:spcBef>
              <a:spcAft>
                <a:spcPts val="0"/>
              </a:spcAft>
              <a:buNone/>
            </a:pPr>
            <a:r>
              <a:rPr lang="en" sz="1500">
                <a:solidFill>
                  <a:schemeClr val="dk1"/>
                </a:solidFill>
                <a:latin typeface="Cambria"/>
                <a:ea typeface="Cambria"/>
                <a:cs typeface="Cambria"/>
                <a:sym typeface="Cambria"/>
              </a:rPr>
              <a:t>Backend Technologies Used</a:t>
            </a:r>
            <a:endParaRPr sz="1500">
              <a:solidFill>
                <a:schemeClr val="dk1"/>
              </a:solidFill>
              <a:latin typeface="Cambria"/>
              <a:ea typeface="Cambria"/>
              <a:cs typeface="Cambria"/>
              <a:sym typeface="Cambria"/>
            </a:endParaRPr>
          </a:p>
          <a:p>
            <a:pPr marL="457200" lvl="0" indent="-323850" algn="l" rtl="0">
              <a:lnSpc>
                <a:spcPct val="115000"/>
              </a:lnSpc>
              <a:spcBef>
                <a:spcPts val="90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Backend Platform: Node.js, </a:t>
            </a:r>
            <a:r>
              <a:rPr lang="en" sz="1500" u="sng">
                <a:solidFill>
                  <a:schemeClr val="hlink"/>
                </a:solidFill>
                <a:latin typeface="Cambria"/>
                <a:ea typeface="Cambria"/>
                <a:cs typeface="Cambria"/>
                <a:sym typeface="Cambria"/>
                <a:hlinkClick r:id="rId4"/>
              </a:rPr>
              <a:t>Express.js</a:t>
            </a:r>
            <a:endParaRPr sz="1500">
              <a:solidFill>
                <a:schemeClr val="dk1"/>
              </a:solidFill>
              <a:latin typeface="Cambria"/>
              <a:ea typeface="Cambria"/>
              <a:cs typeface="Cambria"/>
              <a:sym typeface="Cambria"/>
            </a:endParaRPr>
          </a:p>
          <a:p>
            <a:pPr marL="457200" lvl="0" indent="-3238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 Database: MongoDB Atlas</a:t>
            </a:r>
            <a:endParaRPr sz="1500">
              <a:solidFill>
                <a:schemeClr val="dk1"/>
              </a:solidFill>
              <a:latin typeface="Cambria"/>
              <a:ea typeface="Cambria"/>
              <a:cs typeface="Cambria"/>
              <a:sym typeface="Cambria"/>
            </a:endParaRPr>
          </a:p>
          <a:p>
            <a:pPr marL="457200" lvl="0" indent="-3238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Authentication: JWT (JSON Web Token)</a:t>
            </a:r>
            <a:endParaRPr sz="1500">
              <a:solidFill>
                <a:schemeClr val="dk1"/>
              </a:solidFill>
              <a:latin typeface="Cambria"/>
              <a:ea typeface="Cambria"/>
              <a:cs typeface="Cambria"/>
              <a:sym typeface="Cambria"/>
            </a:endParaRPr>
          </a:p>
          <a:p>
            <a:pPr marL="457200" lvl="0" indent="-3238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 Notifications: Firebase Cloud Messaging</a:t>
            </a:r>
            <a:endParaRPr sz="1500">
              <a:solidFill>
                <a:schemeClr val="dk1"/>
              </a:solidFill>
              <a:latin typeface="Cambria"/>
              <a:ea typeface="Cambria"/>
              <a:cs typeface="Cambria"/>
              <a:sym typeface="Cambria"/>
            </a:endParaRPr>
          </a:p>
          <a:p>
            <a:pPr marL="457200" lvl="0" indent="-3238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Tools: Figma, GitHub, Postman, VS Code</a:t>
            </a:r>
            <a:endParaRPr sz="1500">
              <a:solidFill>
                <a:schemeClr val="dk1"/>
              </a:solidFill>
              <a:latin typeface="Cambria"/>
              <a:ea typeface="Cambria"/>
              <a:cs typeface="Cambria"/>
              <a:sym typeface="Cambria"/>
            </a:endParaRPr>
          </a:p>
        </p:txBody>
      </p:sp>
      <p:sp>
        <p:nvSpPr>
          <p:cNvPr id="338" name="Google Shape;338;p47"/>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 - 1  REVIEW PRESENTATION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8"/>
          <p:cNvSpPr txBox="1"/>
          <p:nvPr/>
        </p:nvSpPr>
        <p:spPr>
          <a:xfrm>
            <a:off x="723410" y="501423"/>
            <a:ext cx="6469500" cy="304500"/>
          </a:xfrm>
          <a:prstGeom prst="rect">
            <a:avLst/>
          </a:prstGeom>
          <a:noFill/>
          <a:ln>
            <a:noFill/>
          </a:ln>
        </p:spPr>
        <p:txBody>
          <a:bodyPr spcFirstLastPara="1" wrap="square" lIns="0" tIns="72875" rIns="0" bIns="0" anchor="t" anchorCtr="0">
            <a:spAutoFit/>
          </a:bodyPr>
          <a:lstStyle/>
          <a:p>
            <a:pPr marL="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344" name="Google Shape;344;p48"/>
          <p:cNvSpPr txBox="1">
            <a:spLocks noGrp="1"/>
          </p:cNvSpPr>
          <p:nvPr>
            <p:ph type="dt" idx="10"/>
          </p:nvPr>
        </p:nvSpPr>
        <p:spPr>
          <a:xfrm>
            <a:off x="683419" y="4827784"/>
            <a:ext cx="9411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13-02-2026</a:t>
            </a:r>
            <a:endParaRPr sz="900" b="0">
              <a:solidFill>
                <a:srgbClr val="888888"/>
              </a:solidFill>
            </a:endParaRPr>
          </a:p>
        </p:txBody>
      </p:sp>
      <p:sp>
        <p:nvSpPr>
          <p:cNvPr id="345" name="Google Shape;345;p48"/>
          <p:cNvSpPr txBox="1">
            <a:spLocks noGrp="1"/>
          </p:cNvSpPr>
          <p:nvPr>
            <p:ph type="sldNum" idx="12"/>
          </p:nvPr>
        </p:nvSpPr>
        <p:spPr>
          <a:xfrm>
            <a:off x="8306618" y="4827794"/>
            <a:ext cx="182700" cy="2154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23</a:t>
            </a:fld>
            <a:endParaRPr b="0">
              <a:solidFill>
                <a:srgbClr val="888888"/>
              </a:solidFill>
            </a:endParaRPr>
          </a:p>
        </p:txBody>
      </p:sp>
      <p:sp>
        <p:nvSpPr>
          <p:cNvPr id="346" name="Google Shape;346;p48"/>
          <p:cNvSpPr txBox="1">
            <a:spLocks noGrp="1"/>
          </p:cNvSpPr>
          <p:nvPr>
            <p:ph type="title"/>
          </p:nvPr>
        </p:nvSpPr>
        <p:spPr>
          <a:xfrm>
            <a:off x="779275" y="119807"/>
            <a:ext cx="7802400" cy="318000"/>
          </a:xfrm>
          <a:prstGeom prst="rect">
            <a:avLst/>
          </a:prstGeom>
          <a:noFill/>
          <a:ln>
            <a:noFill/>
          </a:ln>
        </p:spPr>
        <p:txBody>
          <a:bodyPr spcFirstLastPara="1" wrap="square" lIns="0" tIns="40475" rIns="0" bIns="0" anchor="t" anchorCtr="0">
            <a:spAutoFit/>
          </a:bodyPr>
          <a:lstStyle/>
          <a:p>
            <a:pPr marL="914400" marR="0" lvl="0" indent="-901700" algn="ctr" rtl="0">
              <a:lnSpc>
                <a:spcPct val="107916"/>
              </a:lnSpc>
              <a:spcBef>
                <a:spcPts val="0"/>
              </a:spcBef>
              <a:spcAft>
                <a:spcPts val="0"/>
              </a:spcAft>
              <a:buNone/>
            </a:pPr>
            <a:r>
              <a:rPr lang="en">
                <a:solidFill>
                  <a:srgbClr val="2F5496"/>
                </a:solidFill>
              </a:rPr>
              <a:t>PROPOSED METHODOLOGY</a:t>
            </a:r>
            <a:endParaRPr/>
          </a:p>
        </p:txBody>
      </p:sp>
      <p:sp>
        <p:nvSpPr>
          <p:cNvPr id="347" name="Google Shape;347;p4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 - 1  REVIEW PRESENTATION</a:t>
            </a:r>
            <a:endParaRPr/>
          </a:p>
        </p:txBody>
      </p:sp>
      <p:pic>
        <p:nvPicPr>
          <p:cNvPr id="348" name="Google Shape;348;p48"/>
          <p:cNvPicPr preferRelativeResize="0"/>
          <p:nvPr/>
        </p:nvPicPr>
        <p:blipFill rotWithShape="1">
          <a:blip r:embed="rId3">
            <a:alphaModFix/>
          </a:blip>
          <a:srcRect b="12080"/>
          <a:stretch/>
        </p:blipFill>
        <p:spPr>
          <a:xfrm>
            <a:off x="1504425" y="887475"/>
            <a:ext cx="6500501" cy="3214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9"/>
          <p:cNvSpPr txBox="1"/>
          <p:nvPr/>
        </p:nvSpPr>
        <p:spPr>
          <a:xfrm>
            <a:off x="723410" y="501423"/>
            <a:ext cx="6469500" cy="304500"/>
          </a:xfrm>
          <a:prstGeom prst="rect">
            <a:avLst/>
          </a:prstGeom>
          <a:noFill/>
          <a:ln>
            <a:noFill/>
          </a:ln>
        </p:spPr>
        <p:txBody>
          <a:bodyPr spcFirstLastPara="1" wrap="square" lIns="0" tIns="72875" rIns="0" bIns="0" anchor="t" anchorCtr="0">
            <a:spAutoFit/>
          </a:bodyPr>
          <a:lstStyle/>
          <a:p>
            <a:pPr marL="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354" name="Google Shape;354;p49"/>
          <p:cNvSpPr txBox="1">
            <a:spLocks noGrp="1"/>
          </p:cNvSpPr>
          <p:nvPr>
            <p:ph type="dt" idx="10"/>
          </p:nvPr>
        </p:nvSpPr>
        <p:spPr>
          <a:xfrm>
            <a:off x="683419" y="4827784"/>
            <a:ext cx="9411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13-02-2026</a:t>
            </a:r>
            <a:endParaRPr sz="900" b="0">
              <a:solidFill>
                <a:srgbClr val="888888"/>
              </a:solidFill>
            </a:endParaRPr>
          </a:p>
        </p:txBody>
      </p:sp>
      <p:sp>
        <p:nvSpPr>
          <p:cNvPr id="355" name="Google Shape;355;p49"/>
          <p:cNvSpPr txBox="1">
            <a:spLocks noGrp="1"/>
          </p:cNvSpPr>
          <p:nvPr>
            <p:ph type="sldNum" idx="12"/>
          </p:nvPr>
        </p:nvSpPr>
        <p:spPr>
          <a:xfrm>
            <a:off x="8306618" y="4827794"/>
            <a:ext cx="182700" cy="2154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24</a:t>
            </a:fld>
            <a:endParaRPr b="0">
              <a:solidFill>
                <a:srgbClr val="888888"/>
              </a:solidFill>
            </a:endParaRPr>
          </a:p>
        </p:txBody>
      </p:sp>
      <p:sp>
        <p:nvSpPr>
          <p:cNvPr id="356" name="Google Shape;356;p49"/>
          <p:cNvSpPr txBox="1">
            <a:spLocks noGrp="1"/>
          </p:cNvSpPr>
          <p:nvPr>
            <p:ph type="title"/>
          </p:nvPr>
        </p:nvSpPr>
        <p:spPr>
          <a:xfrm>
            <a:off x="779275" y="119807"/>
            <a:ext cx="7802400" cy="318000"/>
          </a:xfrm>
          <a:prstGeom prst="rect">
            <a:avLst/>
          </a:prstGeom>
          <a:noFill/>
          <a:ln>
            <a:noFill/>
          </a:ln>
        </p:spPr>
        <p:txBody>
          <a:bodyPr spcFirstLastPara="1" wrap="square" lIns="0" tIns="40475" rIns="0" bIns="0" anchor="t" anchorCtr="0">
            <a:spAutoFit/>
          </a:bodyPr>
          <a:lstStyle/>
          <a:p>
            <a:pPr marL="914400" marR="0" lvl="0" indent="-901700" algn="ctr" rtl="0">
              <a:lnSpc>
                <a:spcPct val="107916"/>
              </a:lnSpc>
              <a:spcBef>
                <a:spcPts val="0"/>
              </a:spcBef>
              <a:spcAft>
                <a:spcPts val="0"/>
              </a:spcAft>
              <a:buNone/>
            </a:pPr>
            <a:r>
              <a:rPr lang="en">
                <a:solidFill>
                  <a:srgbClr val="2F5496"/>
                </a:solidFill>
              </a:rPr>
              <a:t>PROPOSED METHODOLOGY</a:t>
            </a:r>
            <a:endParaRPr/>
          </a:p>
        </p:txBody>
      </p:sp>
      <p:sp>
        <p:nvSpPr>
          <p:cNvPr id="357" name="Google Shape;357;p4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 - 1  REVIEW PRESENTATION</a:t>
            </a:r>
            <a:endParaRPr/>
          </a:p>
        </p:txBody>
      </p:sp>
      <p:pic>
        <p:nvPicPr>
          <p:cNvPr id="358" name="Google Shape;358;p49"/>
          <p:cNvPicPr preferRelativeResize="0"/>
          <p:nvPr/>
        </p:nvPicPr>
        <p:blipFill rotWithShape="1">
          <a:blip r:embed="rId3">
            <a:alphaModFix/>
          </a:blip>
          <a:srcRect l="24259" t="9886" r="26372" b="25958"/>
          <a:stretch/>
        </p:blipFill>
        <p:spPr>
          <a:xfrm>
            <a:off x="3392579" y="628542"/>
            <a:ext cx="2358849" cy="394411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0"/>
          <p:cNvSpPr txBox="1"/>
          <p:nvPr/>
        </p:nvSpPr>
        <p:spPr>
          <a:xfrm>
            <a:off x="723410" y="501423"/>
            <a:ext cx="6469500" cy="304500"/>
          </a:xfrm>
          <a:prstGeom prst="rect">
            <a:avLst/>
          </a:prstGeom>
          <a:noFill/>
          <a:ln>
            <a:noFill/>
          </a:ln>
        </p:spPr>
        <p:txBody>
          <a:bodyPr spcFirstLastPara="1" wrap="square" lIns="0" tIns="72875" rIns="0" bIns="0" anchor="t" anchorCtr="0">
            <a:spAutoFit/>
          </a:bodyPr>
          <a:lstStyle/>
          <a:p>
            <a:pPr marL="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364" name="Google Shape;364;p50"/>
          <p:cNvSpPr txBox="1">
            <a:spLocks noGrp="1"/>
          </p:cNvSpPr>
          <p:nvPr>
            <p:ph type="dt" idx="10"/>
          </p:nvPr>
        </p:nvSpPr>
        <p:spPr>
          <a:xfrm>
            <a:off x="683419" y="4827784"/>
            <a:ext cx="9411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13-02-2026</a:t>
            </a:r>
            <a:endParaRPr sz="900" b="0">
              <a:solidFill>
                <a:srgbClr val="888888"/>
              </a:solidFill>
            </a:endParaRPr>
          </a:p>
        </p:txBody>
      </p:sp>
      <p:sp>
        <p:nvSpPr>
          <p:cNvPr id="365" name="Google Shape;365;p50"/>
          <p:cNvSpPr txBox="1">
            <a:spLocks noGrp="1"/>
          </p:cNvSpPr>
          <p:nvPr>
            <p:ph type="sldNum" idx="12"/>
          </p:nvPr>
        </p:nvSpPr>
        <p:spPr>
          <a:xfrm>
            <a:off x="8306618" y="4827794"/>
            <a:ext cx="182700" cy="2154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25</a:t>
            </a:fld>
            <a:endParaRPr b="0">
              <a:solidFill>
                <a:srgbClr val="888888"/>
              </a:solidFill>
            </a:endParaRPr>
          </a:p>
        </p:txBody>
      </p:sp>
      <p:sp>
        <p:nvSpPr>
          <p:cNvPr id="366" name="Google Shape;366;p50"/>
          <p:cNvSpPr txBox="1">
            <a:spLocks noGrp="1"/>
          </p:cNvSpPr>
          <p:nvPr>
            <p:ph type="title"/>
          </p:nvPr>
        </p:nvSpPr>
        <p:spPr>
          <a:xfrm>
            <a:off x="779275" y="119807"/>
            <a:ext cx="7802400" cy="318000"/>
          </a:xfrm>
          <a:prstGeom prst="rect">
            <a:avLst/>
          </a:prstGeom>
          <a:noFill/>
          <a:ln>
            <a:noFill/>
          </a:ln>
        </p:spPr>
        <p:txBody>
          <a:bodyPr spcFirstLastPara="1" wrap="square" lIns="0" tIns="40475" rIns="0" bIns="0" anchor="t" anchorCtr="0">
            <a:spAutoFit/>
          </a:bodyPr>
          <a:lstStyle/>
          <a:p>
            <a:pPr marL="914400" marR="0" lvl="0" indent="-901700" algn="ctr" rtl="0">
              <a:lnSpc>
                <a:spcPct val="107916"/>
              </a:lnSpc>
              <a:spcBef>
                <a:spcPts val="0"/>
              </a:spcBef>
              <a:spcAft>
                <a:spcPts val="0"/>
              </a:spcAft>
              <a:buNone/>
            </a:pPr>
            <a:r>
              <a:rPr lang="en">
                <a:solidFill>
                  <a:srgbClr val="2F5496"/>
                </a:solidFill>
              </a:rPr>
              <a:t>PROPOSED METHODOLOGY</a:t>
            </a:r>
            <a:endParaRPr/>
          </a:p>
        </p:txBody>
      </p:sp>
      <p:sp>
        <p:nvSpPr>
          <p:cNvPr id="367" name="Google Shape;367;p5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 - 1  REVIEW PRESENTATION</a:t>
            </a:r>
            <a:endParaRPr/>
          </a:p>
        </p:txBody>
      </p:sp>
      <p:pic>
        <p:nvPicPr>
          <p:cNvPr id="368" name="Google Shape;368;p50"/>
          <p:cNvPicPr preferRelativeResize="0"/>
          <p:nvPr/>
        </p:nvPicPr>
        <p:blipFill rotWithShape="1">
          <a:blip r:embed="rId3">
            <a:alphaModFix/>
          </a:blip>
          <a:srcRect l="30462" t="9568" r="30564" b="27069"/>
          <a:stretch/>
        </p:blipFill>
        <p:spPr>
          <a:xfrm>
            <a:off x="3832825" y="666888"/>
            <a:ext cx="2223676" cy="38712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1"/>
          <p:cNvSpPr txBox="1"/>
          <p:nvPr/>
        </p:nvSpPr>
        <p:spPr>
          <a:xfrm>
            <a:off x="723410" y="501423"/>
            <a:ext cx="6469500" cy="304500"/>
          </a:xfrm>
          <a:prstGeom prst="rect">
            <a:avLst/>
          </a:prstGeom>
          <a:noFill/>
          <a:ln>
            <a:noFill/>
          </a:ln>
        </p:spPr>
        <p:txBody>
          <a:bodyPr spcFirstLastPara="1" wrap="square" lIns="0" tIns="72875" rIns="0" bIns="0" anchor="t" anchorCtr="0">
            <a:spAutoFit/>
          </a:bodyPr>
          <a:lstStyle/>
          <a:p>
            <a:pPr marL="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374" name="Google Shape;374;p51"/>
          <p:cNvSpPr txBox="1">
            <a:spLocks noGrp="1"/>
          </p:cNvSpPr>
          <p:nvPr>
            <p:ph type="dt" idx="10"/>
          </p:nvPr>
        </p:nvSpPr>
        <p:spPr>
          <a:xfrm>
            <a:off x="683419" y="4827784"/>
            <a:ext cx="9411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13-02-2026</a:t>
            </a:r>
            <a:endParaRPr sz="900" b="0">
              <a:solidFill>
                <a:srgbClr val="888888"/>
              </a:solidFill>
            </a:endParaRPr>
          </a:p>
        </p:txBody>
      </p:sp>
      <p:sp>
        <p:nvSpPr>
          <p:cNvPr id="375" name="Google Shape;375;p51"/>
          <p:cNvSpPr txBox="1">
            <a:spLocks noGrp="1"/>
          </p:cNvSpPr>
          <p:nvPr>
            <p:ph type="sldNum" idx="12"/>
          </p:nvPr>
        </p:nvSpPr>
        <p:spPr>
          <a:xfrm>
            <a:off x="8306618" y="4827794"/>
            <a:ext cx="182700" cy="2154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26</a:t>
            </a:fld>
            <a:endParaRPr b="0">
              <a:solidFill>
                <a:srgbClr val="888888"/>
              </a:solidFill>
            </a:endParaRPr>
          </a:p>
        </p:txBody>
      </p:sp>
      <p:sp>
        <p:nvSpPr>
          <p:cNvPr id="376" name="Google Shape;376;p51"/>
          <p:cNvSpPr txBox="1">
            <a:spLocks noGrp="1"/>
          </p:cNvSpPr>
          <p:nvPr>
            <p:ph type="title"/>
          </p:nvPr>
        </p:nvSpPr>
        <p:spPr>
          <a:xfrm>
            <a:off x="779275" y="119807"/>
            <a:ext cx="7802400" cy="318000"/>
          </a:xfrm>
          <a:prstGeom prst="rect">
            <a:avLst/>
          </a:prstGeom>
          <a:noFill/>
          <a:ln>
            <a:noFill/>
          </a:ln>
        </p:spPr>
        <p:txBody>
          <a:bodyPr spcFirstLastPara="1" wrap="square" lIns="0" tIns="40475" rIns="0" bIns="0" anchor="t" anchorCtr="0">
            <a:spAutoFit/>
          </a:bodyPr>
          <a:lstStyle/>
          <a:p>
            <a:pPr marL="914400" marR="0" lvl="0" indent="-901700" algn="ctr" rtl="0">
              <a:lnSpc>
                <a:spcPct val="107916"/>
              </a:lnSpc>
              <a:spcBef>
                <a:spcPts val="0"/>
              </a:spcBef>
              <a:spcAft>
                <a:spcPts val="0"/>
              </a:spcAft>
              <a:buNone/>
            </a:pPr>
            <a:r>
              <a:rPr lang="en">
                <a:solidFill>
                  <a:srgbClr val="2F5496"/>
                </a:solidFill>
              </a:rPr>
              <a:t>PROPOSED METHODOLOGY</a:t>
            </a:r>
            <a:endParaRPr/>
          </a:p>
        </p:txBody>
      </p:sp>
      <p:sp>
        <p:nvSpPr>
          <p:cNvPr id="377" name="Google Shape;377;p5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 - 1  REVIEW PRESENTATION</a:t>
            </a:r>
            <a:endParaRPr/>
          </a:p>
        </p:txBody>
      </p:sp>
      <p:pic>
        <p:nvPicPr>
          <p:cNvPr id="378" name="Google Shape;378;p51"/>
          <p:cNvPicPr preferRelativeResize="0"/>
          <p:nvPr/>
        </p:nvPicPr>
        <p:blipFill>
          <a:blip r:embed="rId3">
            <a:alphaModFix/>
          </a:blip>
          <a:stretch>
            <a:fillRect/>
          </a:stretch>
        </p:blipFill>
        <p:spPr>
          <a:xfrm>
            <a:off x="3397000" y="1261613"/>
            <a:ext cx="3086100" cy="268183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2"/>
          <p:cNvSpPr txBox="1">
            <a:spLocks noGrp="1"/>
          </p:cNvSpPr>
          <p:nvPr>
            <p:ph type="body" idx="1"/>
          </p:nvPr>
        </p:nvSpPr>
        <p:spPr>
          <a:xfrm>
            <a:off x="628649" y="581891"/>
            <a:ext cx="8006195" cy="4083627"/>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77800" lvl="0" indent="-38100" algn="l" rtl="0">
              <a:lnSpc>
                <a:spcPct val="90000"/>
              </a:lnSpc>
              <a:spcBef>
                <a:spcPts val="800"/>
              </a:spcBef>
              <a:spcAft>
                <a:spcPts val="0"/>
              </a:spcAft>
              <a:buClr>
                <a:schemeClr val="dk1"/>
              </a:buClr>
              <a:buSzPts val="2100"/>
              <a:buNone/>
            </a:pPr>
            <a:endParaRPr/>
          </a:p>
        </p:txBody>
      </p:sp>
      <p:sp>
        <p:nvSpPr>
          <p:cNvPr id="384" name="Google Shape;384;p5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13-02-2026</a:t>
            </a:r>
            <a:endParaRPr/>
          </a:p>
        </p:txBody>
      </p:sp>
      <p:sp>
        <p:nvSpPr>
          <p:cNvPr id="385" name="Google Shape;385;p5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27</a:t>
            </a:fld>
            <a:endParaRPr/>
          </a:p>
        </p:txBody>
      </p:sp>
      <p:sp>
        <p:nvSpPr>
          <p:cNvPr id="386" name="Google Shape;386;p52"/>
          <p:cNvSpPr txBox="1">
            <a:spLocks noGrp="1"/>
          </p:cNvSpPr>
          <p:nvPr>
            <p:ph type="title"/>
          </p:nvPr>
        </p:nvSpPr>
        <p:spPr>
          <a:xfrm>
            <a:off x="628650" y="180325"/>
            <a:ext cx="7886700" cy="328829"/>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sp>
        <p:nvSpPr>
          <p:cNvPr id="387" name="Google Shape;387;p52"/>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PHASE-1 REVIEW PRESENTATION</a:t>
            </a:r>
            <a:endParaRPr/>
          </a:p>
        </p:txBody>
      </p:sp>
      <p:pic>
        <p:nvPicPr>
          <p:cNvPr id="388" name="Google Shape;388;p52"/>
          <p:cNvPicPr preferRelativeResize="0"/>
          <p:nvPr/>
        </p:nvPicPr>
        <p:blipFill rotWithShape="1">
          <a:blip r:embed="rId3">
            <a:alphaModFix/>
          </a:blip>
          <a:srcRect l="13900" t="8878" r="22745" b="3311"/>
          <a:stretch/>
        </p:blipFill>
        <p:spPr>
          <a:xfrm>
            <a:off x="4778275" y="816258"/>
            <a:ext cx="3639742" cy="3511000"/>
          </a:xfrm>
          <a:prstGeom prst="rect">
            <a:avLst/>
          </a:prstGeom>
          <a:noFill/>
          <a:ln>
            <a:noFill/>
          </a:ln>
        </p:spPr>
      </p:pic>
      <p:pic>
        <p:nvPicPr>
          <p:cNvPr id="389" name="Google Shape;389;p52"/>
          <p:cNvPicPr preferRelativeResize="0"/>
          <p:nvPr/>
        </p:nvPicPr>
        <p:blipFill>
          <a:blip r:embed="rId4">
            <a:alphaModFix/>
          </a:blip>
          <a:stretch>
            <a:fillRect/>
          </a:stretch>
        </p:blipFill>
        <p:spPr>
          <a:xfrm>
            <a:off x="971125" y="830752"/>
            <a:ext cx="3639750" cy="34513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3"/>
          <p:cNvSpPr txBox="1">
            <a:spLocks noGrp="1"/>
          </p:cNvSpPr>
          <p:nvPr>
            <p:ph type="body" idx="1"/>
          </p:nvPr>
        </p:nvSpPr>
        <p:spPr>
          <a:xfrm>
            <a:off x="628649" y="581891"/>
            <a:ext cx="8006100" cy="4083600"/>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39700" lvl="0" indent="0" algn="l" rtl="0">
              <a:lnSpc>
                <a:spcPct val="90000"/>
              </a:lnSpc>
              <a:spcBef>
                <a:spcPts val="800"/>
              </a:spcBef>
              <a:spcAft>
                <a:spcPts val="0"/>
              </a:spcAft>
              <a:buClr>
                <a:schemeClr val="dk1"/>
              </a:buClr>
              <a:buSzPts val="2100"/>
              <a:buNone/>
            </a:pPr>
            <a:endParaRPr/>
          </a:p>
        </p:txBody>
      </p:sp>
      <p:sp>
        <p:nvSpPr>
          <p:cNvPr id="395" name="Google Shape;395;p5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13-02-2026</a:t>
            </a:r>
            <a:endParaRPr/>
          </a:p>
        </p:txBody>
      </p:sp>
      <p:sp>
        <p:nvSpPr>
          <p:cNvPr id="396" name="Google Shape;396;p5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28</a:t>
            </a:fld>
            <a:endParaRPr/>
          </a:p>
        </p:txBody>
      </p:sp>
      <p:sp>
        <p:nvSpPr>
          <p:cNvPr id="397" name="Google Shape;397;p53"/>
          <p:cNvSpPr txBox="1">
            <a:spLocks noGrp="1"/>
          </p:cNvSpPr>
          <p:nvPr>
            <p:ph type="title"/>
          </p:nvPr>
        </p:nvSpPr>
        <p:spPr>
          <a:xfrm>
            <a:off x="628650" y="180326"/>
            <a:ext cx="7886700" cy="3288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sp>
        <p:nvSpPr>
          <p:cNvPr id="398" name="Google Shape;398;p5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PHASE-1  REVIEW PRESENTATION</a:t>
            </a:r>
            <a:endParaRPr/>
          </a:p>
        </p:txBody>
      </p:sp>
      <p:pic>
        <p:nvPicPr>
          <p:cNvPr id="399" name="Google Shape;399;p53"/>
          <p:cNvPicPr preferRelativeResize="0"/>
          <p:nvPr/>
        </p:nvPicPr>
        <p:blipFill>
          <a:blip r:embed="rId3">
            <a:alphaModFix/>
          </a:blip>
          <a:stretch>
            <a:fillRect/>
          </a:stretch>
        </p:blipFill>
        <p:spPr>
          <a:xfrm>
            <a:off x="5020700" y="957050"/>
            <a:ext cx="2977264" cy="3031574"/>
          </a:xfrm>
          <a:prstGeom prst="rect">
            <a:avLst/>
          </a:prstGeom>
          <a:noFill/>
          <a:ln>
            <a:noFill/>
          </a:ln>
        </p:spPr>
      </p:pic>
      <p:pic>
        <p:nvPicPr>
          <p:cNvPr id="400" name="Google Shape;400;p53"/>
          <p:cNvPicPr preferRelativeResize="0"/>
          <p:nvPr/>
        </p:nvPicPr>
        <p:blipFill rotWithShape="1">
          <a:blip r:embed="rId4">
            <a:alphaModFix/>
          </a:blip>
          <a:srcRect l="5284" r="15733" b="2960"/>
          <a:stretch/>
        </p:blipFill>
        <p:spPr>
          <a:xfrm>
            <a:off x="1256775" y="923275"/>
            <a:ext cx="3259424" cy="30991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54"/>
          <p:cNvSpPr txBox="1">
            <a:spLocks noGrp="1"/>
          </p:cNvSpPr>
          <p:nvPr>
            <p:ph type="body" idx="1"/>
          </p:nvPr>
        </p:nvSpPr>
        <p:spPr>
          <a:xfrm>
            <a:off x="628649" y="581891"/>
            <a:ext cx="8006100" cy="4083600"/>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77800" lvl="0" indent="-38100" algn="l" rtl="0">
              <a:lnSpc>
                <a:spcPct val="90000"/>
              </a:lnSpc>
              <a:spcBef>
                <a:spcPts val="800"/>
              </a:spcBef>
              <a:spcAft>
                <a:spcPts val="0"/>
              </a:spcAft>
              <a:buClr>
                <a:schemeClr val="dk1"/>
              </a:buClr>
              <a:buSzPts val="2100"/>
              <a:buNone/>
            </a:pPr>
            <a:endParaRPr/>
          </a:p>
        </p:txBody>
      </p:sp>
      <p:sp>
        <p:nvSpPr>
          <p:cNvPr id="406" name="Google Shape;406;p5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13-02-2026</a:t>
            </a:r>
            <a:endParaRPr/>
          </a:p>
        </p:txBody>
      </p:sp>
      <p:sp>
        <p:nvSpPr>
          <p:cNvPr id="407" name="Google Shape;407;p5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29</a:t>
            </a:fld>
            <a:endParaRPr/>
          </a:p>
        </p:txBody>
      </p:sp>
      <p:sp>
        <p:nvSpPr>
          <p:cNvPr id="408" name="Google Shape;408;p54"/>
          <p:cNvSpPr txBox="1">
            <a:spLocks noGrp="1"/>
          </p:cNvSpPr>
          <p:nvPr>
            <p:ph type="title"/>
          </p:nvPr>
        </p:nvSpPr>
        <p:spPr>
          <a:xfrm>
            <a:off x="628650" y="180326"/>
            <a:ext cx="7886700" cy="3288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sp>
        <p:nvSpPr>
          <p:cNvPr id="409" name="Google Shape;409;p5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PHASE-1  REVIEW PRESENTATION</a:t>
            </a:r>
            <a:endParaRPr/>
          </a:p>
        </p:txBody>
      </p:sp>
      <p:pic>
        <p:nvPicPr>
          <p:cNvPr id="410" name="Google Shape;410;p54"/>
          <p:cNvPicPr preferRelativeResize="0"/>
          <p:nvPr/>
        </p:nvPicPr>
        <p:blipFill rotWithShape="1">
          <a:blip r:embed="rId3">
            <a:alphaModFix/>
          </a:blip>
          <a:srcRect l="1939" r="14498" b="6183"/>
          <a:stretch/>
        </p:blipFill>
        <p:spPr>
          <a:xfrm>
            <a:off x="989400" y="928125"/>
            <a:ext cx="7284575" cy="342013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5"/>
          <p:cNvSpPr txBox="1">
            <a:spLocks noGrp="1"/>
          </p:cNvSpPr>
          <p:nvPr>
            <p:ph type="body" idx="1"/>
          </p:nvPr>
        </p:nvSpPr>
        <p:spPr>
          <a:xfrm>
            <a:off x="628649" y="581891"/>
            <a:ext cx="8006100" cy="4083600"/>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77800" lvl="0" indent="-38100" algn="l" rtl="0">
              <a:lnSpc>
                <a:spcPct val="90000"/>
              </a:lnSpc>
              <a:spcBef>
                <a:spcPts val="800"/>
              </a:spcBef>
              <a:spcAft>
                <a:spcPts val="0"/>
              </a:spcAft>
              <a:buClr>
                <a:schemeClr val="dk1"/>
              </a:buClr>
              <a:buSzPts val="2100"/>
              <a:buNone/>
            </a:pPr>
            <a:endParaRPr/>
          </a:p>
        </p:txBody>
      </p:sp>
      <p:sp>
        <p:nvSpPr>
          <p:cNvPr id="416" name="Google Shape;416;p5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13-02-2026</a:t>
            </a:r>
            <a:endParaRPr/>
          </a:p>
        </p:txBody>
      </p:sp>
      <p:sp>
        <p:nvSpPr>
          <p:cNvPr id="417" name="Google Shape;417;p5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30</a:t>
            </a:fld>
            <a:endParaRPr/>
          </a:p>
        </p:txBody>
      </p:sp>
      <p:sp>
        <p:nvSpPr>
          <p:cNvPr id="418" name="Google Shape;418;p55"/>
          <p:cNvSpPr txBox="1">
            <a:spLocks noGrp="1"/>
          </p:cNvSpPr>
          <p:nvPr>
            <p:ph type="title"/>
          </p:nvPr>
        </p:nvSpPr>
        <p:spPr>
          <a:xfrm>
            <a:off x="628650" y="180326"/>
            <a:ext cx="7886700" cy="3288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sp>
        <p:nvSpPr>
          <p:cNvPr id="419" name="Google Shape;419;p5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PHASE-1  REVIEW PRESENTATION</a:t>
            </a:r>
            <a:endParaRPr/>
          </a:p>
        </p:txBody>
      </p:sp>
      <p:pic>
        <p:nvPicPr>
          <p:cNvPr id="420" name="Google Shape;420;p55"/>
          <p:cNvPicPr preferRelativeResize="0"/>
          <p:nvPr/>
        </p:nvPicPr>
        <p:blipFill>
          <a:blip r:embed="rId3">
            <a:alphaModFix/>
          </a:blip>
          <a:stretch>
            <a:fillRect/>
          </a:stretch>
        </p:blipFill>
        <p:spPr>
          <a:xfrm>
            <a:off x="985525" y="814183"/>
            <a:ext cx="7172951" cy="3359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6"/>
          <p:cNvSpPr txBox="1">
            <a:spLocks noGrp="1"/>
          </p:cNvSpPr>
          <p:nvPr>
            <p:ph type="title"/>
          </p:nvPr>
        </p:nvSpPr>
        <p:spPr>
          <a:xfrm>
            <a:off x="1713011" y="180681"/>
            <a:ext cx="5718000" cy="2493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a:t>DATABASE SCHEMA</a:t>
            </a:r>
            <a:endParaRPr/>
          </a:p>
        </p:txBody>
      </p:sp>
      <p:sp>
        <p:nvSpPr>
          <p:cNvPr id="426" name="Google Shape;426;p56"/>
          <p:cNvSpPr txBox="1">
            <a:spLocks noGrp="1"/>
          </p:cNvSpPr>
          <p:nvPr>
            <p:ph type="body" idx="1"/>
          </p:nvPr>
        </p:nvSpPr>
        <p:spPr>
          <a:xfrm>
            <a:off x="746688" y="706127"/>
            <a:ext cx="7650600" cy="263100"/>
          </a:xfrm>
          <a:prstGeom prst="rect">
            <a:avLst/>
          </a:prstGeom>
        </p:spPr>
        <p:txBody>
          <a:bodyPr spcFirstLastPara="1" wrap="square" lIns="0" tIns="0" rIns="0" bIns="0" anchor="t" anchorCtr="0">
            <a:spAutoFit/>
          </a:bodyPr>
          <a:lstStyle/>
          <a:p>
            <a:pPr marL="0" lvl="0" indent="0" algn="l" rtl="0">
              <a:spcBef>
                <a:spcPts val="800"/>
              </a:spcBef>
              <a:spcAft>
                <a:spcPts val="0"/>
              </a:spcAft>
              <a:buNone/>
            </a:pPr>
            <a:r>
              <a:rPr lang="en" sz="1900" b="1"/>
              <a:t>Users :</a:t>
            </a:r>
            <a:endParaRPr sz="1900" b="1"/>
          </a:p>
        </p:txBody>
      </p:sp>
      <p:pic>
        <p:nvPicPr>
          <p:cNvPr id="427" name="Google Shape;427;p56"/>
          <p:cNvPicPr preferRelativeResize="0"/>
          <p:nvPr/>
        </p:nvPicPr>
        <p:blipFill>
          <a:blip r:embed="rId3">
            <a:alphaModFix/>
          </a:blip>
          <a:stretch>
            <a:fillRect/>
          </a:stretch>
        </p:blipFill>
        <p:spPr>
          <a:xfrm>
            <a:off x="1778375" y="785815"/>
            <a:ext cx="5172075" cy="35718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57"/>
          <p:cNvSpPr txBox="1">
            <a:spLocks noGrp="1"/>
          </p:cNvSpPr>
          <p:nvPr>
            <p:ph type="title"/>
          </p:nvPr>
        </p:nvSpPr>
        <p:spPr>
          <a:xfrm>
            <a:off x="1713011" y="180681"/>
            <a:ext cx="5718000" cy="2493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a:t>DATABASE SCHEMA</a:t>
            </a:r>
            <a:endParaRPr/>
          </a:p>
        </p:txBody>
      </p:sp>
      <p:sp>
        <p:nvSpPr>
          <p:cNvPr id="433" name="Google Shape;433;p57"/>
          <p:cNvSpPr txBox="1">
            <a:spLocks noGrp="1"/>
          </p:cNvSpPr>
          <p:nvPr>
            <p:ph type="body" idx="1"/>
          </p:nvPr>
        </p:nvSpPr>
        <p:spPr>
          <a:xfrm>
            <a:off x="746688" y="706127"/>
            <a:ext cx="7650600" cy="263100"/>
          </a:xfrm>
          <a:prstGeom prst="rect">
            <a:avLst/>
          </a:prstGeom>
        </p:spPr>
        <p:txBody>
          <a:bodyPr spcFirstLastPara="1" wrap="square" lIns="0" tIns="0" rIns="0" bIns="0" anchor="t" anchorCtr="0">
            <a:spAutoFit/>
          </a:bodyPr>
          <a:lstStyle/>
          <a:p>
            <a:pPr marL="0" lvl="0" indent="0" algn="l" rtl="0">
              <a:spcBef>
                <a:spcPts val="800"/>
              </a:spcBef>
              <a:spcAft>
                <a:spcPts val="0"/>
              </a:spcAft>
              <a:buNone/>
            </a:pPr>
            <a:r>
              <a:rPr lang="en" sz="1900" b="1"/>
              <a:t>Products :</a:t>
            </a:r>
            <a:endParaRPr sz="1900" b="1"/>
          </a:p>
        </p:txBody>
      </p:sp>
      <p:pic>
        <p:nvPicPr>
          <p:cNvPr id="434" name="Google Shape;434;p57"/>
          <p:cNvPicPr preferRelativeResize="0"/>
          <p:nvPr/>
        </p:nvPicPr>
        <p:blipFill>
          <a:blip r:embed="rId3">
            <a:alphaModFix/>
          </a:blip>
          <a:stretch>
            <a:fillRect/>
          </a:stretch>
        </p:blipFill>
        <p:spPr>
          <a:xfrm>
            <a:off x="1883826" y="706125"/>
            <a:ext cx="5618575" cy="3557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58"/>
          <p:cNvSpPr txBox="1">
            <a:spLocks noGrp="1"/>
          </p:cNvSpPr>
          <p:nvPr>
            <p:ph type="title"/>
          </p:nvPr>
        </p:nvSpPr>
        <p:spPr>
          <a:xfrm>
            <a:off x="1713011" y="180681"/>
            <a:ext cx="5718000" cy="2493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a:t>DATABASE SCHEMA</a:t>
            </a:r>
            <a:endParaRPr/>
          </a:p>
        </p:txBody>
      </p:sp>
      <p:sp>
        <p:nvSpPr>
          <p:cNvPr id="440" name="Google Shape;440;p58"/>
          <p:cNvSpPr txBox="1">
            <a:spLocks noGrp="1"/>
          </p:cNvSpPr>
          <p:nvPr>
            <p:ph type="body" idx="1"/>
          </p:nvPr>
        </p:nvSpPr>
        <p:spPr>
          <a:xfrm>
            <a:off x="746688" y="706127"/>
            <a:ext cx="7650600" cy="263100"/>
          </a:xfrm>
          <a:prstGeom prst="rect">
            <a:avLst/>
          </a:prstGeom>
        </p:spPr>
        <p:txBody>
          <a:bodyPr spcFirstLastPara="1" wrap="square" lIns="0" tIns="0" rIns="0" bIns="0" anchor="t" anchorCtr="0">
            <a:spAutoFit/>
          </a:bodyPr>
          <a:lstStyle/>
          <a:p>
            <a:pPr marL="0" lvl="0" indent="0" algn="l" rtl="0">
              <a:spcBef>
                <a:spcPts val="800"/>
              </a:spcBef>
              <a:spcAft>
                <a:spcPts val="0"/>
              </a:spcAft>
              <a:buNone/>
            </a:pPr>
            <a:r>
              <a:rPr lang="en" sz="1900" b="1"/>
              <a:t>Orders  :</a:t>
            </a:r>
            <a:endParaRPr sz="1900" b="1"/>
          </a:p>
        </p:txBody>
      </p:sp>
      <p:pic>
        <p:nvPicPr>
          <p:cNvPr id="441" name="Google Shape;441;p58"/>
          <p:cNvPicPr preferRelativeResize="0"/>
          <p:nvPr/>
        </p:nvPicPr>
        <p:blipFill>
          <a:blip r:embed="rId3">
            <a:alphaModFix/>
          </a:blip>
          <a:stretch>
            <a:fillRect/>
          </a:stretch>
        </p:blipFill>
        <p:spPr>
          <a:xfrm>
            <a:off x="1969075" y="813475"/>
            <a:ext cx="6072375" cy="3342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59"/>
          <p:cNvSpPr txBox="1">
            <a:spLocks noGrp="1"/>
          </p:cNvSpPr>
          <p:nvPr>
            <p:ph type="body" idx="1"/>
          </p:nvPr>
        </p:nvSpPr>
        <p:spPr>
          <a:xfrm>
            <a:off x="628650" y="683636"/>
            <a:ext cx="8006195" cy="4083627"/>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12700" lvl="0" indent="0" algn="l" rtl="0">
              <a:lnSpc>
                <a:spcPct val="100000"/>
              </a:lnSpc>
              <a:spcBef>
                <a:spcPts val="0"/>
              </a:spcBef>
              <a:spcAft>
                <a:spcPts val="0"/>
              </a:spcAft>
              <a:buClr>
                <a:schemeClr val="dk1"/>
              </a:buClr>
              <a:buFont typeface="Arial"/>
              <a:buNone/>
            </a:pPr>
            <a:r>
              <a:rPr lang="en" sz="1800">
                <a:solidFill>
                  <a:srgbClr val="C00000"/>
                </a:solidFill>
              </a:rPr>
              <a:t>Journal</a:t>
            </a:r>
            <a:endParaRPr sz="1800"/>
          </a:p>
          <a:p>
            <a:pPr marL="12700" lvl="0" indent="0" algn="l" rtl="0">
              <a:lnSpc>
                <a:spcPct val="113888"/>
              </a:lnSpc>
              <a:spcBef>
                <a:spcPts val="600"/>
              </a:spcBef>
              <a:spcAft>
                <a:spcPts val="0"/>
              </a:spcAft>
              <a:buClr>
                <a:schemeClr val="dk1"/>
              </a:buClr>
              <a:buFont typeface="Arial"/>
              <a:buNone/>
            </a:pPr>
            <a:r>
              <a:rPr lang="en" sz="1500">
                <a:latin typeface="Cambria"/>
                <a:ea typeface="Cambria"/>
                <a:cs typeface="Cambria"/>
                <a:sym typeface="Cambria"/>
              </a:rPr>
              <a:t>Design and Implementation of a Hyperlocal E-Commerce Marketplace – S. Sharma, R. Verma (2021)</a:t>
            </a:r>
            <a:endParaRPr sz="1500">
              <a:latin typeface="Cambria"/>
              <a:ea typeface="Cambria"/>
              <a:cs typeface="Cambria"/>
              <a:sym typeface="Cambria"/>
            </a:endParaRPr>
          </a:p>
          <a:p>
            <a:pPr marL="12700" lvl="0" indent="0" algn="l" rtl="0">
              <a:lnSpc>
                <a:spcPct val="100000"/>
              </a:lnSpc>
              <a:spcBef>
                <a:spcPts val="500"/>
              </a:spcBef>
              <a:spcAft>
                <a:spcPts val="0"/>
              </a:spcAft>
              <a:buClr>
                <a:schemeClr val="dk1"/>
              </a:buClr>
              <a:buFont typeface="Arial"/>
              <a:buNone/>
            </a:pPr>
            <a:r>
              <a:rPr lang="en" sz="1800">
                <a:solidFill>
                  <a:srgbClr val="C00000"/>
                </a:solidFill>
              </a:rPr>
              <a:t>Books</a:t>
            </a:r>
            <a:endParaRPr sz="1800">
              <a:latin typeface="Cambria"/>
              <a:ea typeface="Cambria"/>
              <a:cs typeface="Cambria"/>
              <a:sym typeface="Cambria"/>
            </a:endParaRPr>
          </a:p>
          <a:p>
            <a:pPr marL="0" lvl="0" indent="0" algn="l" rtl="0">
              <a:lnSpc>
                <a:spcPct val="115000"/>
              </a:lnSpc>
              <a:spcBef>
                <a:spcPts val="900"/>
              </a:spcBef>
              <a:spcAft>
                <a:spcPts val="0"/>
              </a:spcAft>
              <a:buClr>
                <a:schemeClr val="dk1"/>
              </a:buClr>
              <a:buSzPts val="800"/>
              <a:buFont typeface="Arial"/>
              <a:buNone/>
            </a:pPr>
            <a:r>
              <a:rPr lang="en" sz="1200">
                <a:latin typeface="Cambria"/>
                <a:ea typeface="Cambria"/>
                <a:cs typeface="Cambria"/>
                <a:sym typeface="Cambria"/>
              </a:rPr>
              <a:t> </a:t>
            </a:r>
            <a:r>
              <a:rPr lang="en" sz="1500">
                <a:latin typeface="Cambria"/>
                <a:ea typeface="Cambria"/>
                <a:cs typeface="Cambria"/>
                <a:sym typeface="Cambria"/>
              </a:rPr>
              <a:t>E-Commerce Analytics: Predict, Improve, and Grow Your Business – Judah Phillips</a:t>
            </a:r>
            <a:endParaRPr sz="1500">
              <a:latin typeface="Cambria"/>
              <a:ea typeface="Cambria"/>
              <a:cs typeface="Cambria"/>
              <a:sym typeface="Cambria"/>
            </a:endParaRPr>
          </a:p>
          <a:p>
            <a:pPr marL="0" lvl="0" indent="0" algn="l" rtl="0">
              <a:lnSpc>
                <a:spcPct val="100000"/>
              </a:lnSpc>
              <a:spcBef>
                <a:spcPts val="900"/>
              </a:spcBef>
              <a:spcAft>
                <a:spcPts val="0"/>
              </a:spcAft>
              <a:buClr>
                <a:schemeClr val="dk1"/>
              </a:buClr>
              <a:buFont typeface="Arial"/>
              <a:buNone/>
            </a:pPr>
            <a:r>
              <a:rPr lang="en" sz="1800">
                <a:solidFill>
                  <a:srgbClr val="C00000"/>
                </a:solidFill>
              </a:rPr>
              <a:t>Patent</a:t>
            </a:r>
            <a:endParaRPr sz="1800"/>
          </a:p>
          <a:p>
            <a:pPr marL="0" lvl="0" indent="0" algn="l" rtl="0">
              <a:lnSpc>
                <a:spcPct val="100000"/>
              </a:lnSpc>
              <a:spcBef>
                <a:spcPts val="800"/>
              </a:spcBef>
              <a:spcAft>
                <a:spcPts val="0"/>
              </a:spcAft>
              <a:buClr>
                <a:schemeClr val="dk1"/>
              </a:buClr>
              <a:buFont typeface="Arial"/>
              <a:buNone/>
            </a:pPr>
            <a:r>
              <a:rPr lang="en" sz="1500">
                <a:latin typeface="Cambria"/>
                <a:ea typeface="Cambria"/>
                <a:cs typeface="Cambria"/>
                <a:sym typeface="Cambria"/>
              </a:rPr>
              <a:t>Peri Hartman; Jeffrey P.Bezos; Shel Kapha. Patent Id: 5,960,411</a:t>
            </a:r>
            <a:endParaRPr sz="1400" b="1"/>
          </a:p>
          <a:p>
            <a:pPr marL="0" lvl="0" indent="0" algn="l" rtl="0">
              <a:lnSpc>
                <a:spcPct val="100000"/>
              </a:lnSpc>
              <a:spcBef>
                <a:spcPts val="600"/>
              </a:spcBef>
              <a:spcAft>
                <a:spcPts val="0"/>
              </a:spcAft>
              <a:buClr>
                <a:schemeClr val="dk1"/>
              </a:buClr>
              <a:buFont typeface="Arial"/>
              <a:buNone/>
            </a:pPr>
            <a:endParaRPr sz="1500">
              <a:latin typeface="Cambria"/>
              <a:ea typeface="Cambria"/>
              <a:cs typeface="Cambria"/>
              <a:sym typeface="Cambria"/>
            </a:endParaRPr>
          </a:p>
          <a:p>
            <a:pPr marL="0" lvl="0" indent="0" algn="l" rtl="0">
              <a:lnSpc>
                <a:spcPct val="90000"/>
              </a:lnSpc>
              <a:spcBef>
                <a:spcPts val="800"/>
              </a:spcBef>
              <a:spcAft>
                <a:spcPts val="0"/>
              </a:spcAft>
              <a:buClr>
                <a:schemeClr val="dk1"/>
              </a:buClr>
              <a:buSzPts val="1400"/>
              <a:buNone/>
            </a:pPr>
            <a:endParaRPr sz="1800">
              <a:solidFill>
                <a:srgbClr val="C00000"/>
              </a:solidFill>
            </a:endParaRPr>
          </a:p>
        </p:txBody>
      </p:sp>
      <p:sp>
        <p:nvSpPr>
          <p:cNvPr id="447" name="Google Shape;447;p5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PHASE-1  REVIEW PRESENTATION</a:t>
            </a:r>
            <a:endParaRPr/>
          </a:p>
        </p:txBody>
      </p:sp>
      <p:sp>
        <p:nvSpPr>
          <p:cNvPr id="448" name="Google Shape;448;p5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34</a:t>
            </a:fld>
            <a:endParaRPr/>
          </a:p>
        </p:txBody>
      </p:sp>
      <p:sp>
        <p:nvSpPr>
          <p:cNvPr id="449" name="Google Shape;449;p59"/>
          <p:cNvSpPr txBox="1">
            <a:spLocks noGrp="1"/>
          </p:cNvSpPr>
          <p:nvPr>
            <p:ph type="title"/>
          </p:nvPr>
        </p:nvSpPr>
        <p:spPr>
          <a:xfrm>
            <a:off x="628650" y="180325"/>
            <a:ext cx="7886700" cy="328829"/>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0070C0"/>
              </a:buClr>
              <a:buSzPts val="1800"/>
              <a:buFont typeface="Cambria"/>
              <a:buNone/>
            </a:pPr>
            <a:r>
              <a:rPr lang="en" sz="1800" b="1">
                <a:solidFill>
                  <a:srgbClr val="0070C0"/>
                </a:solidFill>
                <a:latin typeface="Cambria"/>
                <a:ea typeface="Cambria"/>
                <a:cs typeface="Cambria"/>
                <a:sym typeface="Cambria"/>
              </a:rPr>
              <a:t>REFERENCES</a:t>
            </a:r>
            <a:br>
              <a:rPr lang="en" sz="1800" b="1">
                <a:solidFill>
                  <a:srgbClr val="0070C0"/>
                </a:solidFill>
                <a:latin typeface="Cambria"/>
                <a:ea typeface="Cambria"/>
                <a:cs typeface="Cambria"/>
                <a:sym typeface="Cambria"/>
              </a:rPr>
            </a:br>
            <a:r>
              <a:rPr lang="en" sz="1400" b="1">
                <a:solidFill>
                  <a:srgbClr val="00B050"/>
                </a:solidFill>
                <a:latin typeface="Cambria"/>
                <a:ea typeface="Cambria"/>
                <a:cs typeface="Cambria"/>
                <a:sym typeface="Cambria"/>
              </a:rPr>
              <a:t>( Journal Papers/ Books / Patent)</a:t>
            </a:r>
            <a:endParaRPr sz="1400" b="1">
              <a:solidFill>
                <a:srgbClr val="00B050"/>
              </a:solidFill>
              <a:latin typeface="Cambria"/>
              <a:ea typeface="Cambria"/>
              <a:cs typeface="Cambria"/>
              <a:sym typeface="Cambri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60"/>
          <p:cNvSpPr txBox="1">
            <a:spLocks noGrp="1"/>
          </p:cNvSpPr>
          <p:nvPr>
            <p:ph type="body" idx="1"/>
          </p:nvPr>
        </p:nvSpPr>
        <p:spPr>
          <a:xfrm>
            <a:off x="628650" y="737755"/>
            <a:ext cx="7886700" cy="3894968"/>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0" lvl="0" indent="0" algn="l" rtl="0">
              <a:lnSpc>
                <a:spcPct val="100000"/>
              </a:lnSpc>
              <a:spcBef>
                <a:spcPts val="700"/>
              </a:spcBef>
              <a:spcAft>
                <a:spcPts val="0"/>
              </a:spcAft>
              <a:buClr>
                <a:schemeClr val="dk1"/>
              </a:buClr>
              <a:buSzPts val="800"/>
              <a:buFont typeface="Arial"/>
              <a:buNone/>
            </a:pPr>
            <a:r>
              <a:rPr lang="en" sz="1800" b="1">
                <a:solidFill>
                  <a:srgbClr val="4BACC6"/>
                </a:solidFill>
                <a:latin typeface="Cambria"/>
                <a:ea typeface="Cambria"/>
                <a:cs typeface="Cambria"/>
                <a:sym typeface="Cambria"/>
              </a:rPr>
              <a:t>AIM : </a:t>
            </a:r>
            <a:endParaRPr sz="1800" b="1">
              <a:solidFill>
                <a:srgbClr val="4BACC6"/>
              </a:solidFill>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r>
              <a:rPr lang="en" sz="1500">
                <a:latin typeface="Cambria"/>
                <a:ea typeface="Cambria"/>
                <a:cs typeface="Cambria"/>
                <a:sym typeface="Cambria"/>
              </a:rPr>
              <a:t>The aim of this research is to design and develop an intelligent chatbot for admission and </a:t>
            </a:r>
            <a:endParaRPr sz="1500">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r>
              <a:rPr lang="en" sz="1500">
                <a:latin typeface="Cambria"/>
                <a:ea typeface="Cambria"/>
                <a:cs typeface="Cambria"/>
                <a:sym typeface="Cambria"/>
              </a:rPr>
              <a:t>college enquiry.</a:t>
            </a:r>
            <a:endParaRPr sz="1800" b="1">
              <a:solidFill>
                <a:srgbClr val="4BACC6"/>
              </a:solidFill>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r>
              <a:rPr lang="en" sz="1800" b="1">
                <a:solidFill>
                  <a:srgbClr val="4BACC6"/>
                </a:solidFill>
                <a:latin typeface="Cambria"/>
                <a:ea typeface="Cambria"/>
                <a:cs typeface="Cambria"/>
                <a:sym typeface="Cambria"/>
              </a:rPr>
              <a:t>OBJECTIVE :</a:t>
            </a:r>
            <a:endParaRPr sz="1800" b="1">
              <a:solidFill>
                <a:srgbClr val="4BACC6"/>
              </a:solidFill>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r>
              <a:rPr lang="en" sz="1500">
                <a:latin typeface="Cambria"/>
                <a:ea typeface="Cambria"/>
                <a:cs typeface="Cambria"/>
                <a:sym typeface="Cambria"/>
              </a:rPr>
              <a:t>● Understanding user needs and preferences</a:t>
            </a:r>
            <a:endParaRPr sz="1500">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r>
              <a:rPr lang="en" sz="1500">
                <a:latin typeface="Cambria"/>
                <a:ea typeface="Cambria"/>
                <a:cs typeface="Cambria"/>
                <a:sym typeface="Cambria"/>
              </a:rPr>
              <a:t>● Improving natural language processing (NLP) capabilities</a:t>
            </a:r>
            <a:endParaRPr sz="1500">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r>
              <a:rPr lang="en" sz="1500">
                <a:latin typeface="Cambria"/>
                <a:ea typeface="Cambria"/>
                <a:cs typeface="Cambria"/>
                <a:sym typeface="Cambria"/>
              </a:rPr>
              <a:t>● Developing personalized chatbot interactions</a:t>
            </a:r>
            <a:endParaRPr sz="1500">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r>
              <a:rPr lang="en" sz="1500">
                <a:latin typeface="Cambria"/>
                <a:ea typeface="Cambria"/>
                <a:cs typeface="Cambria"/>
                <a:sym typeface="Cambria"/>
              </a:rPr>
              <a:t>● Enhancing chatbot usability and user experience</a:t>
            </a:r>
            <a:endParaRPr sz="1500">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r>
              <a:rPr lang="en" sz="1500">
                <a:latin typeface="Cambria"/>
                <a:ea typeface="Cambria"/>
                <a:cs typeface="Cambria"/>
                <a:sym typeface="Cambria"/>
              </a:rPr>
              <a:t>● Ensuring chatbot safety and security</a:t>
            </a:r>
            <a:endParaRPr sz="1500">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r>
              <a:rPr lang="en" sz="1500">
                <a:latin typeface="Cambria"/>
                <a:ea typeface="Cambria"/>
                <a:cs typeface="Cambria"/>
                <a:sym typeface="Cambria"/>
              </a:rPr>
              <a:t>● Target audience</a:t>
            </a:r>
            <a:endParaRPr sz="1500">
              <a:latin typeface="Cambria"/>
              <a:ea typeface="Cambria"/>
              <a:cs typeface="Cambria"/>
              <a:sym typeface="Cambria"/>
            </a:endParaRPr>
          </a:p>
          <a:p>
            <a:pPr marL="0" lvl="0" indent="0" algn="l" rtl="0">
              <a:lnSpc>
                <a:spcPct val="100000"/>
              </a:lnSpc>
              <a:spcBef>
                <a:spcPts val="700"/>
              </a:spcBef>
              <a:spcAft>
                <a:spcPts val="0"/>
              </a:spcAft>
              <a:buClr>
                <a:schemeClr val="dk1"/>
              </a:buClr>
              <a:buSzPts val="800"/>
              <a:buFont typeface="Arial"/>
              <a:buNone/>
            </a:pPr>
            <a:r>
              <a:rPr lang="en" sz="1500">
                <a:latin typeface="Cambria"/>
                <a:ea typeface="Cambria"/>
                <a:cs typeface="Cambria"/>
                <a:sym typeface="Cambria"/>
              </a:rPr>
              <a:t>●  Effectiveness</a:t>
            </a:r>
            <a:endParaRPr sz="1500">
              <a:latin typeface="Cambria"/>
              <a:ea typeface="Cambria"/>
              <a:cs typeface="Cambria"/>
              <a:sym typeface="Cambria"/>
            </a:endParaRPr>
          </a:p>
          <a:p>
            <a:pPr marL="0" lvl="0" indent="0" algn="l" rtl="0">
              <a:lnSpc>
                <a:spcPct val="100000"/>
              </a:lnSpc>
              <a:spcBef>
                <a:spcPts val="0"/>
              </a:spcBef>
              <a:spcAft>
                <a:spcPts val="0"/>
              </a:spcAft>
              <a:buClr>
                <a:schemeClr val="dk1"/>
              </a:buClr>
              <a:buSzPts val="800"/>
              <a:buFont typeface="Arial"/>
              <a:buNone/>
            </a:pPr>
            <a:endParaRPr sz="1400"/>
          </a:p>
          <a:p>
            <a:pPr marL="863600" lvl="2" indent="-76200" algn="l" rtl="0">
              <a:lnSpc>
                <a:spcPct val="90000"/>
              </a:lnSpc>
              <a:spcBef>
                <a:spcPts val="400"/>
              </a:spcBef>
              <a:spcAft>
                <a:spcPts val="0"/>
              </a:spcAft>
              <a:buClr>
                <a:schemeClr val="dk1"/>
              </a:buClr>
              <a:buSzPts val="1500"/>
              <a:buNone/>
            </a:pPr>
            <a:endParaRPr sz="2100"/>
          </a:p>
        </p:txBody>
      </p:sp>
      <p:sp>
        <p:nvSpPr>
          <p:cNvPr id="455" name="Google Shape;455;p6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1100"/>
              <a:buNone/>
            </a:pPr>
            <a:r>
              <a:rPr lang="en" sz="1400" b="1">
                <a:solidFill>
                  <a:srgbClr val="385623"/>
                </a:solidFill>
              </a:rPr>
              <a:t>27-10-2025</a:t>
            </a:r>
            <a:endParaRPr sz="1400" b="1">
              <a:solidFill>
                <a:srgbClr val="385623"/>
              </a:solidFill>
            </a:endParaRPr>
          </a:p>
        </p:txBody>
      </p:sp>
      <p:sp>
        <p:nvSpPr>
          <p:cNvPr id="456" name="Google Shape;456;p6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sz="1400" b="1">
                <a:solidFill>
                  <a:srgbClr val="385623"/>
                </a:solidFill>
              </a:rPr>
              <a:t>FINAL REVIEW PRESENTATION</a:t>
            </a:r>
            <a:endParaRPr sz="1400" b="1">
              <a:solidFill>
                <a:srgbClr val="385623"/>
              </a:solidFill>
            </a:endParaRPr>
          </a:p>
        </p:txBody>
      </p:sp>
      <p:sp>
        <p:nvSpPr>
          <p:cNvPr id="457" name="Google Shape;457;p6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fld id="{00000000-1234-1234-1234-123412341234}" type="slidenum">
              <a:rPr lang="en" sz="1400" b="1">
                <a:solidFill>
                  <a:srgbClr val="385623"/>
                </a:solidFill>
              </a:rPr>
              <a:t>35</a:t>
            </a:fld>
            <a:endParaRPr sz="1400" b="1">
              <a:solidFill>
                <a:srgbClr val="385623"/>
              </a:solidFill>
            </a:endParaRPr>
          </a:p>
        </p:txBody>
      </p:sp>
      <p:sp>
        <p:nvSpPr>
          <p:cNvPr id="458" name="Google Shape;458;p60"/>
          <p:cNvSpPr txBox="1">
            <a:spLocks noGrp="1"/>
          </p:cNvSpPr>
          <p:nvPr>
            <p:ph type="title"/>
          </p:nvPr>
        </p:nvSpPr>
        <p:spPr>
          <a:xfrm>
            <a:off x="628650" y="180326"/>
            <a:ext cx="7886700" cy="432737"/>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AIM &amp; OBJECTIVES OF THE PROJECT </a:t>
            </a:r>
            <a:br>
              <a:rPr lang="en" sz="1800" b="1">
                <a:solidFill>
                  <a:srgbClr val="2F5496"/>
                </a:solidFill>
                <a:latin typeface="Cambria"/>
                <a:ea typeface="Cambria"/>
                <a:cs typeface="Cambria"/>
                <a:sym typeface="Cambria"/>
              </a:rPr>
            </a:br>
            <a:r>
              <a:rPr lang="en" sz="1800" b="1">
                <a:solidFill>
                  <a:srgbClr val="2F5496"/>
                </a:solidFill>
                <a:latin typeface="Cambria"/>
                <a:ea typeface="Cambria"/>
                <a:cs typeface="Cambria"/>
                <a:sym typeface="Cambria"/>
              </a:rPr>
              <a:t>(Problem Statement)</a:t>
            </a:r>
            <a:endParaRPr sz="1800" b="1">
              <a:solidFill>
                <a:srgbClr val="2F5496"/>
              </a:solidFill>
              <a:latin typeface="Cambria"/>
              <a:ea typeface="Cambria"/>
              <a:cs typeface="Cambria"/>
              <a:sym typeface="Cambr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61"/>
          <p:cNvSpPr txBox="1">
            <a:spLocks noGrp="1"/>
          </p:cNvSpPr>
          <p:nvPr>
            <p:ph type="title"/>
          </p:nvPr>
        </p:nvSpPr>
        <p:spPr>
          <a:xfrm>
            <a:off x="628650" y="180326"/>
            <a:ext cx="7886700" cy="202796"/>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rgbClr val="2F5496"/>
              </a:buClr>
              <a:buSzPct val="100000"/>
              <a:buFont typeface="Cambria"/>
              <a:buNone/>
            </a:pPr>
            <a:r>
              <a:rPr lang="en" sz="2700" b="1">
                <a:solidFill>
                  <a:srgbClr val="2F5496"/>
                </a:solidFill>
                <a:latin typeface="Cambria"/>
                <a:ea typeface="Cambria"/>
                <a:cs typeface="Cambria"/>
                <a:sym typeface="Cambria"/>
              </a:rPr>
              <a:t>LITERATURE SURVEY </a:t>
            </a:r>
            <a:endParaRPr sz="2700" b="1">
              <a:solidFill>
                <a:srgbClr val="2F5496"/>
              </a:solidFill>
              <a:latin typeface="Cambria"/>
              <a:ea typeface="Cambria"/>
              <a:cs typeface="Cambria"/>
              <a:sym typeface="Cambria"/>
            </a:endParaRPr>
          </a:p>
        </p:txBody>
      </p:sp>
      <p:sp>
        <p:nvSpPr>
          <p:cNvPr id="464" name="Google Shape;464;p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1100"/>
              <a:buNone/>
            </a:pPr>
            <a:r>
              <a:rPr lang="en" sz="1400">
                <a:solidFill>
                  <a:srgbClr val="0070C0"/>
                </a:solidFill>
                <a:latin typeface="Arial"/>
                <a:ea typeface="Arial"/>
                <a:cs typeface="Arial"/>
                <a:sym typeface="Arial"/>
              </a:rPr>
              <a:t>20-07-2023</a:t>
            </a:r>
            <a:endParaRPr sz="1400">
              <a:solidFill>
                <a:srgbClr val="0070C0"/>
              </a:solidFill>
              <a:latin typeface="Arial"/>
              <a:ea typeface="Arial"/>
              <a:cs typeface="Arial"/>
              <a:sym typeface="Arial"/>
            </a:endParaRPr>
          </a:p>
        </p:txBody>
      </p:sp>
      <p:sp>
        <p:nvSpPr>
          <p:cNvPr id="465" name="Google Shape;465;p61"/>
          <p:cNvSpPr txBox="1">
            <a:spLocks noGrp="1"/>
          </p:cNvSpPr>
          <p:nvPr>
            <p:ph type="ftr" idx="11"/>
          </p:nvPr>
        </p:nvSpPr>
        <p:spPr>
          <a:xfrm>
            <a:off x="3184816"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sz="1400">
                <a:solidFill>
                  <a:srgbClr val="0070C0"/>
                </a:solidFill>
                <a:latin typeface="Cambria"/>
                <a:ea typeface="Cambria"/>
                <a:cs typeface="Cambria"/>
                <a:sym typeface="Cambria"/>
              </a:rPr>
              <a:t>FIRST REVIEW PRESENTATION</a:t>
            </a:r>
            <a:endParaRPr sz="1400">
              <a:solidFill>
                <a:srgbClr val="0070C0"/>
              </a:solidFill>
              <a:latin typeface="Cambria"/>
              <a:ea typeface="Cambria"/>
              <a:cs typeface="Cambria"/>
              <a:sym typeface="Cambria"/>
            </a:endParaRPr>
          </a:p>
        </p:txBody>
      </p:sp>
      <p:sp>
        <p:nvSpPr>
          <p:cNvPr id="466" name="Google Shape;466;p6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fld id="{00000000-1234-1234-1234-123412341234}" type="slidenum">
              <a:rPr lang="en" sz="1400">
                <a:solidFill>
                  <a:srgbClr val="0070C0"/>
                </a:solidFill>
              </a:rPr>
              <a:t>36</a:t>
            </a:fld>
            <a:endParaRPr sz="1400">
              <a:solidFill>
                <a:srgbClr val="0070C0"/>
              </a:solidFill>
            </a:endParaRPr>
          </a:p>
        </p:txBody>
      </p:sp>
      <p:graphicFrame>
        <p:nvGraphicFramePr>
          <p:cNvPr id="467" name="Google Shape;467;p61"/>
          <p:cNvGraphicFramePr/>
          <p:nvPr/>
        </p:nvGraphicFramePr>
        <p:xfrm>
          <a:off x="628650" y="605834"/>
          <a:ext cx="3000000" cy="3000000"/>
        </p:xfrm>
        <a:graphic>
          <a:graphicData uri="http://schemas.openxmlformats.org/drawingml/2006/table">
            <a:tbl>
              <a:tblPr firstRow="1" bandRow="1">
                <a:noFill/>
                <a:tableStyleId>{86D5F857-DF80-4505-8F08-FE4FB7382C66}</a:tableStyleId>
              </a:tblPr>
              <a:tblGrid>
                <a:gridCol w="588375">
                  <a:extLst>
                    <a:ext uri="{9D8B030D-6E8A-4147-A177-3AD203B41FA5}">
                      <a16:colId xmlns:a16="http://schemas.microsoft.com/office/drawing/2014/main" val="20000"/>
                    </a:ext>
                  </a:extLst>
                </a:gridCol>
                <a:gridCol w="3452700">
                  <a:extLst>
                    <a:ext uri="{9D8B030D-6E8A-4147-A177-3AD203B41FA5}">
                      <a16:colId xmlns:a16="http://schemas.microsoft.com/office/drawing/2014/main" val="20001"/>
                    </a:ext>
                  </a:extLst>
                </a:gridCol>
                <a:gridCol w="2020550">
                  <a:extLst>
                    <a:ext uri="{9D8B030D-6E8A-4147-A177-3AD203B41FA5}">
                      <a16:colId xmlns:a16="http://schemas.microsoft.com/office/drawing/2014/main" val="20002"/>
                    </a:ext>
                  </a:extLst>
                </a:gridCol>
                <a:gridCol w="2020550">
                  <a:extLst>
                    <a:ext uri="{9D8B030D-6E8A-4147-A177-3AD203B41FA5}">
                      <a16:colId xmlns:a16="http://schemas.microsoft.com/office/drawing/2014/main" val="20003"/>
                    </a:ext>
                  </a:extLst>
                </a:gridCol>
              </a:tblGrid>
              <a:tr h="1241775">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Sl.No.</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Journal Paper Title with Author </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Works carried out  </a:t>
                      </a:r>
                      <a:endParaRPr sz="1100" u="none" strike="noStrike" cap="none"/>
                    </a:p>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 with details of Methods/ Materials/ Software/ Algorithms / fabrication / techniques/ components used ) </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Information gathered relevant to your project</a:t>
                      </a:r>
                      <a:endParaRPr sz="1400" b="1"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0"/>
                  </a:ext>
                </a:extLst>
              </a:tr>
              <a:tr h="11544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rPr>
                        <a:t>1</a:t>
                      </a:r>
                      <a:endParaRPr sz="1400"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lvl="0" indent="0" algn="ctr" rtl="0">
                        <a:spcBef>
                          <a:spcPts val="0"/>
                        </a:spcBef>
                        <a:spcAft>
                          <a:spcPts val="0"/>
                        </a:spcAft>
                        <a:buClr>
                          <a:schemeClr val="dk1"/>
                        </a:buClr>
                        <a:buFont typeface="Arial"/>
                        <a:buNone/>
                      </a:pPr>
                      <a:r>
                        <a:rPr lang="en" sz="1500">
                          <a:highlight>
                            <a:srgbClr val="BBD6EE"/>
                          </a:highlight>
                          <a:latin typeface="Cambria"/>
                          <a:ea typeface="Cambria"/>
                          <a:cs typeface="Cambria"/>
                          <a:sym typeface="Cambria"/>
                        </a:rPr>
                        <a:t> Authors: Safwa Samad, Mohammed      Hashim O A, Anjali N B, Adwaith  Nidheesh, Dr. L. C. Manikandan</a:t>
                      </a:r>
                      <a:endParaRPr sz="1500">
                        <a:highlight>
                          <a:srgbClr val="BBD6EE"/>
                        </a:highlight>
                        <a:latin typeface="Cambria"/>
                        <a:ea typeface="Cambria"/>
                        <a:cs typeface="Cambria"/>
                        <a:sym typeface="Cambria"/>
                      </a:endParaRPr>
                    </a:p>
                    <a:p>
                      <a:pPr marL="0" lvl="0" indent="0" algn="ctr" rtl="0">
                        <a:spcBef>
                          <a:spcPts val="0"/>
                        </a:spcBef>
                        <a:spcAft>
                          <a:spcPts val="0"/>
                        </a:spcAft>
                        <a:buClr>
                          <a:schemeClr val="dk1"/>
                        </a:buClr>
                        <a:buFont typeface="Arial"/>
                        <a:buNone/>
                      </a:pPr>
                      <a:r>
                        <a:rPr lang="en" sz="1500">
                          <a:highlight>
                            <a:srgbClr val="BBD6EE"/>
                          </a:highlight>
                          <a:latin typeface="Cambria"/>
                          <a:ea typeface="Cambria"/>
                          <a:cs typeface="Cambria"/>
                          <a:sym typeface="Cambria"/>
                        </a:rPr>
                        <a:t>Paper Id : IJRASET68413</a:t>
                      </a:r>
                      <a:endParaRPr sz="1400" b="1"/>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lvl="0" indent="0" algn="ctr" rtl="0">
                        <a:spcBef>
                          <a:spcPts val="0"/>
                        </a:spcBef>
                        <a:spcAft>
                          <a:spcPts val="0"/>
                        </a:spcAft>
                        <a:buClr>
                          <a:schemeClr val="dk1"/>
                        </a:buClr>
                        <a:buFont typeface="Arial"/>
                        <a:buNone/>
                      </a:pPr>
                      <a:r>
                        <a:rPr lang="en" sz="1400">
                          <a:latin typeface="Times New Roman"/>
                          <a:ea typeface="Times New Roman"/>
                          <a:cs typeface="Times New Roman"/>
                          <a:sym typeface="Times New Roman"/>
                        </a:rPr>
                        <a:t> </a:t>
                      </a:r>
                      <a:r>
                        <a:rPr lang="en" sz="1500">
                          <a:latin typeface="Times New Roman"/>
                          <a:ea typeface="Times New Roman"/>
                          <a:cs typeface="Times New Roman"/>
                          <a:sym typeface="Times New Roman"/>
                        </a:rPr>
                        <a:t>Chatbot built using Dialogflow, FastAPI, MySQL, JWT, NLP techniques.</a:t>
                      </a:r>
                      <a:endParaRPr sz="1400" u="none" strike="noStrike" cap="none">
                        <a:solidFill>
                          <a:schemeClr val="dk1"/>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tc>
                  <a:txBody>
                    <a:bodyPr/>
                    <a:lstStyle/>
                    <a:p>
                      <a:pPr marL="0" lvl="0" indent="0" algn="ctr" rtl="0">
                        <a:spcBef>
                          <a:spcPts val="0"/>
                        </a:spcBef>
                        <a:spcAft>
                          <a:spcPts val="0"/>
                        </a:spcAft>
                        <a:buClr>
                          <a:schemeClr val="dk1"/>
                        </a:buClr>
                        <a:buSzPts val="800"/>
                        <a:buFont typeface="Arial"/>
                        <a:buNone/>
                      </a:pPr>
                      <a:r>
                        <a:rPr lang="en" sz="1500">
                          <a:latin typeface="Cambria"/>
                          <a:ea typeface="Cambria"/>
                          <a:cs typeface="Cambria"/>
                          <a:sym typeface="Cambria"/>
                        </a:rPr>
                        <a:t>Information gathered relevant to my project:</a:t>
                      </a:r>
                      <a:endParaRPr sz="1500">
                        <a:latin typeface="Cambria"/>
                        <a:ea typeface="Cambria"/>
                        <a:cs typeface="Cambria"/>
                        <a:sym typeface="Cambria"/>
                      </a:endParaRPr>
                    </a:p>
                    <a:p>
                      <a:pPr marL="0" lvl="0" indent="0" algn="ctr" rtl="0">
                        <a:spcBef>
                          <a:spcPts val="0"/>
                        </a:spcBef>
                        <a:spcAft>
                          <a:spcPts val="0"/>
                        </a:spcAft>
                        <a:buClr>
                          <a:schemeClr val="dk1"/>
                        </a:buClr>
                        <a:buFont typeface="Arial"/>
                        <a:buNone/>
                      </a:pPr>
                      <a:r>
                        <a:rPr lang="en" sz="1500">
                          <a:latin typeface="Cambria"/>
                          <a:ea typeface="Cambria"/>
                          <a:cs typeface="Cambria"/>
                          <a:sym typeface="Cambria"/>
                        </a:rPr>
                        <a:t>Collected FAQs on admissions, studied NLP techniques, tools (Flask, NLTK).</a:t>
                      </a:r>
                      <a:endParaRPr sz="14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r h="8714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rPr>
                        <a:t>2</a:t>
                      </a:r>
                      <a:endParaRPr sz="1400"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lvl="0" indent="0" algn="ctr" rtl="0">
                        <a:spcBef>
                          <a:spcPts val="0"/>
                        </a:spcBef>
                        <a:spcAft>
                          <a:spcPts val="0"/>
                        </a:spcAft>
                        <a:buClr>
                          <a:schemeClr val="dk1"/>
                        </a:buClr>
                        <a:buFont typeface="Arial"/>
                        <a:buNone/>
                      </a:pPr>
                      <a:r>
                        <a:rPr lang="en" sz="1500">
                          <a:latin typeface="Cambria"/>
                          <a:ea typeface="Cambria"/>
                          <a:cs typeface="Cambria"/>
                          <a:sym typeface="Cambria"/>
                        </a:rPr>
                        <a:t>Zaira Zaid, Sachin Jain, Blessy Thankachan. (2023). Research Paper Based on Artificial Intelligence Chatbot.</a:t>
                      </a:r>
                      <a:endParaRPr sz="1400" u="none" strike="noStrike" cap="none">
                        <a:solidFill>
                          <a:schemeClr val="dk1"/>
                        </a:solidFill>
                      </a:endParaRPr>
                    </a:p>
                  </a:txBody>
                  <a:tcPr marL="68600" marR="68600" marT="34300" marB="34300">
                    <a:lnL w="12700" cap="flat" cmpd="sng">
                      <a:solidFill>
                        <a:schemeClr val="dk1"/>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Font typeface="Arial"/>
                        <a:buNone/>
                      </a:pPr>
                      <a:r>
                        <a:rPr lang="en" sz="1500">
                          <a:latin typeface="Cambria"/>
                          <a:ea typeface="Cambria"/>
                          <a:cs typeface="Cambria"/>
                          <a:sym typeface="Cambria"/>
                        </a:rPr>
                        <a:t>Node.js, HTML, CSS, JavaScript, NPM, conversational search, admission queries.</a:t>
                      </a:r>
                      <a:endParaRPr sz="1500" u="none" strike="noStrike" cap="none">
                        <a:solidFill>
                          <a:schemeClr val="dk1"/>
                        </a:solidFill>
                        <a:latin typeface="Cambria"/>
                        <a:ea typeface="Cambria"/>
                        <a:cs typeface="Cambria"/>
                        <a:sym typeface="Cambria"/>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Font typeface="Arial"/>
                        <a:buNone/>
                      </a:pPr>
                      <a:r>
                        <a:rPr lang="en" sz="1500">
                          <a:latin typeface="Cambria"/>
                          <a:ea typeface="Cambria"/>
                          <a:cs typeface="Cambria"/>
                          <a:sym typeface="Cambria"/>
                        </a:rPr>
                        <a:t>NLP, and conversational search for admissions.</a:t>
                      </a:r>
                      <a:endParaRPr sz="1500" u="none" strike="noStrike" cap="none">
                        <a:solidFill>
                          <a:schemeClr val="dk1"/>
                        </a:solidFill>
                        <a:latin typeface="Cambria"/>
                        <a:ea typeface="Cambria"/>
                        <a:cs typeface="Cambria"/>
                        <a:sym typeface="Cambria"/>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BD6EE"/>
                    </a:solidFill>
                  </a:tcPr>
                </a:tc>
                <a:extLst>
                  <a:ext uri="{0D108BD9-81ED-4DB2-BD59-A6C34878D82A}">
                    <a16:rowId xmlns:a16="http://schemas.microsoft.com/office/drawing/2014/main" val="10002"/>
                  </a:ext>
                </a:extLst>
              </a:tr>
              <a:tr h="261425">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rPr>
                        <a:t>3</a:t>
                      </a:r>
                      <a:endParaRPr sz="1400"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3"/>
                  </a:ext>
                </a:extLst>
              </a:tr>
              <a:tr h="261425">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rPr>
                        <a:t>4</a:t>
                      </a:r>
                      <a:endParaRPr sz="1400"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4"/>
                  </a:ext>
                </a:extLst>
              </a:tr>
              <a:tr h="261425">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rPr>
                        <a:t>5</a:t>
                      </a:r>
                      <a:endParaRPr sz="1400" u="none" strike="noStrike" cap="none">
                        <a:solidFill>
                          <a:schemeClr val="dk1"/>
                        </a:solidFill>
                      </a:endParaRPr>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2"/>
          <p:cNvSpPr txBox="1">
            <a:spLocks noGrp="1"/>
          </p:cNvSpPr>
          <p:nvPr>
            <p:ph type="body" idx="1"/>
          </p:nvPr>
        </p:nvSpPr>
        <p:spPr>
          <a:xfrm>
            <a:off x="628649" y="581891"/>
            <a:ext cx="8006195" cy="4083627"/>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lnSpcReduction="10000"/>
          </a:bodyPr>
          <a:lstStyle/>
          <a:p>
            <a:pPr marL="342900" lvl="0" indent="-260350" algn="l" rtl="0">
              <a:lnSpc>
                <a:spcPct val="115000"/>
              </a:lnSpc>
              <a:spcBef>
                <a:spcPts val="900"/>
              </a:spcBef>
              <a:spcAft>
                <a:spcPts val="0"/>
              </a:spcAft>
              <a:buSzPts val="1500"/>
              <a:buChar char="●"/>
            </a:pPr>
            <a:r>
              <a:rPr lang="en" sz="1500">
                <a:latin typeface="Cambria"/>
                <a:ea typeface="Cambria"/>
                <a:cs typeface="Cambria"/>
                <a:sym typeface="Cambria"/>
              </a:rPr>
              <a:t>The chatbot will assist prospective students with admission-related queries such as requirements, application procedures, deadlines, and course details.</a:t>
            </a:r>
            <a:br>
              <a:rPr lang="en" sz="1500">
                <a:latin typeface="Cambria"/>
                <a:ea typeface="Cambria"/>
                <a:cs typeface="Cambria"/>
                <a:sym typeface="Cambria"/>
              </a:rPr>
            </a:br>
            <a:endParaRPr sz="1500">
              <a:latin typeface="Cambria"/>
              <a:ea typeface="Cambria"/>
              <a:cs typeface="Cambria"/>
              <a:sym typeface="Cambria"/>
            </a:endParaRPr>
          </a:p>
          <a:p>
            <a:pPr marL="342900" lvl="0" indent="-260350" algn="l" rtl="0">
              <a:lnSpc>
                <a:spcPct val="115000"/>
              </a:lnSpc>
              <a:spcBef>
                <a:spcPts val="0"/>
              </a:spcBef>
              <a:spcAft>
                <a:spcPts val="0"/>
              </a:spcAft>
              <a:buSzPts val="1500"/>
              <a:buChar char="●"/>
            </a:pPr>
            <a:r>
              <a:rPr lang="en" sz="1500">
                <a:latin typeface="Cambria"/>
                <a:ea typeface="Cambria"/>
                <a:cs typeface="Cambria"/>
                <a:sym typeface="Cambria"/>
              </a:rPr>
              <a:t>It will provide information about fee structures, financial aid, and scholarships.</a:t>
            </a:r>
            <a:br>
              <a:rPr lang="en" sz="1500">
                <a:latin typeface="Cambria"/>
                <a:ea typeface="Cambria"/>
                <a:cs typeface="Cambria"/>
                <a:sym typeface="Cambria"/>
              </a:rPr>
            </a:br>
            <a:endParaRPr sz="1500">
              <a:latin typeface="Cambria"/>
              <a:ea typeface="Cambria"/>
              <a:cs typeface="Cambria"/>
              <a:sym typeface="Cambria"/>
            </a:endParaRPr>
          </a:p>
          <a:p>
            <a:pPr marL="342900" lvl="0" indent="-260350" algn="l" rtl="0">
              <a:lnSpc>
                <a:spcPct val="115000"/>
              </a:lnSpc>
              <a:spcBef>
                <a:spcPts val="0"/>
              </a:spcBef>
              <a:spcAft>
                <a:spcPts val="0"/>
              </a:spcAft>
              <a:buSzPts val="1500"/>
              <a:buChar char="●"/>
            </a:pPr>
            <a:r>
              <a:rPr lang="en" sz="1500">
                <a:latin typeface="Cambria"/>
                <a:ea typeface="Cambria"/>
                <a:cs typeface="Cambria"/>
                <a:sym typeface="Cambria"/>
              </a:rPr>
              <a:t>Future scope includes real-time application tracking, integration with databases or student systems, and multilingual support. </a:t>
            </a:r>
            <a:br>
              <a:rPr lang="en" sz="1500">
                <a:latin typeface="Cambria"/>
                <a:ea typeface="Cambria"/>
                <a:cs typeface="Cambria"/>
                <a:sym typeface="Cambria"/>
              </a:rPr>
            </a:br>
            <a:endParaRPr sz="1500">
              <a:latin typeface="Cambria"/>
              <a:ea typeface="Cambria"/>
              <a:cs typeface="Cambria"/>
              <a:sym typeface="Cambria"/>
            </a:endParaRPr>
          </a:p>
          <a:p>
            <a:pPr marL="342900" lvl="0" indent="-260350" algn="l" rtl="0">
              <a:lnSpc>
                <a:spcPct val="115000"/>
              </a:lnSpc>
              <a:spcBef>
                <a:spcPts val="0"/>
              </a:spcBef>
              <a:spcAft>
                <a:spcPts val="0"/>
              </a:spcAft>
              <a:buSzPts val="1500"/>
              <a:buChar char="●"/>
            </a:pPr>
            <a:r>
              <a:rPr lang="en" sz="1500">
                <a:latin typeface="Cambria"/>
                <a:ea typeface="Cambria"/>
                <a:cs typeface="Cambria"/>
                <a:sym typeface="Cambria"/>
              </a:rPr>
              <a:t>It will be developed as a web-based application for easy access and usability.</a:t>
            </a:r>
            <a:br>
              <a:rPr lang="en" sz="1500">
                <a:latin typeface="Cambria"/>
                <a:ea typeface="Cambria"/>
                <a:cs typeface="Cambria"/>
                <a:sym typeface="Cambria"/>
              </a:rPr>
            </a:br>
            <a:endParaRPr sz="1500">
              <a:latin typeface="Cambria"/>
              <a:ea typeface="Cambria"/>
              <a:cs typeface="Cambria"/>
              <a:sym typeface="Cambria"/>
            </a:endParaRPr>
          </a:p>
          <a:p>
            <a:pPr marL="342900" lvl="0" indent="-260350" algn="l" rtl="0">
              <a:lnSpc>
                <a:spcPct val="115000"/>
              </a:lnSpc>
              <a:spcBef>
                <a:spcPts val="0"/>
              </a:spcBef>
              <a:spcAft>
                <a:spcPts val="0"/>
              </a:spcAft>
              <a:buSzPts val="1500"/>
              <a:buChar char="●"/>
            </a:pPr>
            <a:r>
              <a:rPr lang="en" sz="1500">
                <a:latin typeface="Cambria"/>
                <a:ea typeface="Cambria"/>
                <a:cs typeface="Cambria"/>
                <a:sym typeface="Cambria"/>
              </a:rPr>
              <a:t>The chatbot aims to reduce the workload of admission staff by automating responses to frequently asked questions.</a:t>
            </a:r>
            <a:br>
              <a:rPr lang="en" sz="1500">
                <a:latin typeface="Cambria"/>
                <a:ea typeface="Cambria"/>
                <a:cs typeface="Cambria"/>
                <a:sym typeface="Cambria"/>
              </a:rPr>
            </a:br>
            <a:endParaRPr sz="1500">
              <a:latin typeface="Cambria"/>
              <a:ea typeface="Cambria"/>
              <a:cs typeface="Cambria"/>
              <a:sym typeface="Cambria"/>
            </a:endParaRPr>
          </a:p>
          <a:p>
            <a:pPr marL="342900" lvl="0" indent="-260350" algn="l" rtl="0">
              <a:lnSpc>
                <a:spcPct val="115000"/>
              </a:lnSpc>
              <a:spcBef>
                <a:spcPts val="0"/>
              </a:spcBef>
              <a:spcAft>
                <a:spcPts val="0"/>
              </a:spcAft>
              <a:buSzPts val="1500"/>
              <a:buChar char="●"/>
            </a:pPr>
            <a:r>
              <a:rPr lang="en" sz="1500">
                <a:latin typeface="Cambria"/>
                <a:ea typeface="Cambria"/>
                <a:cs typeface="Cambria"/>
                <a:sym typeface="Cambria"/>
              </a:rPr>
              <a:t>There is no specific chatbot designed for our college with our college’s data in it and Mostly paid services with high cost</a:t>
            </a:r>
            <a:endParaRPr sz="2100"/>
          </a:p>
        </p:txBody>
      </p:sp>
      <p:sp>
        <p:nvSpPr>
          <p:cNvPr id="473" name="Google Shape;473;p6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27-10-2025</a:t>
            </a:r>
            <a:endParaRPr sz="1400" b="1">
              <a:solidFill>
                <a:srgbClr val="385623"/>
              </a:solidFill>
            </a:endParaRPr>
          </a:p>
        </p:txBody>
      </p:sp>
      <p:sp>
        <p:nvSpPr>
          <p:cNvPr id="474" name="Google Shape;474;p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sz="1400" b="1">
                <a:solidFill>
                  <a:srgbClr val="385623"/>
                </a:solidFill>
              </a:rPr>
              <a:t>FINAL REVIEW PRESENTATION</a:t>
            </a:r>
            <a:endParaRPr sz="1400" b="1">
              <a:solidFill>
                <a:srgbClr val="385623"/>
              </a:solidFill>
            </a:endParaRPr>
          </a:p>
        </p:txBody>
      </p:sp>
      <p:sp>
        <p:nvSpPr>
          <p:cNvPr id="475" name="Google Shape;475;p6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fld id="{00000000-1234-1234-1234-123412341234}" type="slidenum">
              <a:rPr lang="en" sz="1400" b="1">
                <a:solidFill>
                  <a:srgbClr val="385623"/>
                </a:solidFill>
              </a:rPr>
              <a:t>37</a:t>
            </a:fld>
            <a:endParaRPr sz="1400" b="1">
              <a:solidFill>
                <a:srgbClr val="385623"/>
              </a:solidFill>
            </a:endParaRPr>
          </a:p>
        </p:txBody>
      </p:sp>
      <p:sp>
        <p:nvSpPr>
          <p:cNvPr id="476" name="Google Shape;476;p62"/>
          <p:cNvSpPr txBox="1">
            <a:spLocks noGrp="1"/>
          </p:cNvSpPr>
          <p:nvPr>
            <p:ph type="title"/>
          </p:nvPr>
        </p:nvSpPr>
        <p:spPr>
          <a:xfrm>
            <a:off x="628650" y="180325"/>
            <a:ext cx="7886700" cy="328829"/>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SCOPE OF THE PROJECT</a:t>
            </a:r>
            <a:endParaRPr sz="1800" b="1">
              <a:solidFill>
                <a:srgbClr val="2F5496"/>
              </a:solidFill>
              <a:latin typeface="Cambria"/>
              <a:ea typeface="Cambria"/>
              <a:cs typeface="Cambria"/>
              <a:sym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63"/>
          <p:cNvSpPr txBox="1">
            <a:spLocks noGrp="1"/>
          </p:cNvSpPr>
          <p:nvPr>
            <p:ph type="body" idx="1"/>
          </p:nvPr>
        </p:nvSpPr>
        <p:spPr>
          <a:xfrm>
            <a:off x="628649" y="581891"/>
            <a:ext cx="8006195" cy="4083627"/>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lnSpcReduction="10000"/>
          </a:bodyPr>
          <a:lstStyle/>
          <a:p>
            <a:pPr marL="0" lvl="0" indent="0" algn="l" rtl="0">
              <a:lnSpc>
                <a:spcPct val="100000"/>
              </a:lnSpc>
              <a:spcBef>
                <a:spcPts val="0"/>
              </a:spcBef>
              <a:spcAft>
                <a:spcPts val="0"/>
              </a:spcAft>
              <a:buClr>
                <a:schemeClr val="dk1"/>
              </a:buClr>
              <a:buSzPts val="800"/>
              <a:buFont typeface="Arial"/>
              <a:buNone/>
            </a:pPr>
            <a:r>
              <a:rPr lang="en" sz="1800" b="1">
                <a:solidFill>
                  <a:srgbClr val="4BACC6"/>
                </a:solidFill>
                <a:latin typeface="Cambria"/>
                <a:ea typeface="Cambria"/>
                <a:cs typeface="Cambria"/>
                <a:sym typeface="Cambria"/>
              </a:rPr>
              <a:t>GROWING USE OF CHATBOTS:</a:t>
            </a:r>
            <a:endParaRPr sz="1800" b="1">
              <a:solidFill>
                <a:srgbClr val="4BACC6"/>
              </a:solidFill>
              <a:latin typeface="Cambria"/>
              <a:ea typeface="Cambria"/>
              <a:cs typeface="Cambria"/>
              <a:sym typeface="Cambria"/>
            </a:endParaRPr>
          </a:p>
          <a:p>
            <a:pPr marL="342900" lvl="0" indent="0" algn="l" rtl="0">
              <a:lnSpc>
                <a:spcPct val="100000"/>
              </a:lnSpc>
              <a:spcBef>
                <a:spcPts val="0"/>
              </a:spcBef>
              <a:spcAft>
                <a:spcPts val="0"/>
              </a:spcAft>
              <a:buClr>
                <a:schemeClr val="dk1"/>
              </a:buClr>
              <a:buSzPts val="800"/>
              <a:buFont typeface="Arial"/>
              <a:buNone/>
            </a:pPr>
            <a:r>
              <a:rPr lang="en" sz="1800" b="1">
                <a:latin typeface="Cambria"/>
                <a:ea typeface="Cambria"/>
                <a:cs typeface="Cambria"/>
                <a:sym typeface="Cambria"/>
              </a:rPr>
              <a:t> </a:t>
            </a:r>
            <a:r>
              <a:rPr lang="en" sz="1500">
                <a:latin typeface="Cambria"/>
                <a:ea typeface="Cambria"/>
                <a:cs typeface="Cambria"/>
                <a:sym typeface="Cambria"/>
              </a:rPr>
              <a:t>The increasing integration of chatbots across sectors (e.g.,     </a:t>
            </a:r>
            <a:endParaRPr sz="1500">
              <a:latin typeface="Cambria"/>
              <a:ea typeface="Cambria"/>
              <a:cs typeface="Cambria"/>
              <a:sym typeface="Cambria"/>
            </a:endParaRPr>
          </a:p>
          <a:p>
            <a:pPr marL="342900" lvl="0" indent="0" algn="l" rtl="0">
              <a:lnSpc>
                <a:spcPct val="100000"/>
              </a:lnSpc>
              <a:spcBef>
                <a:spcPts val="0"/>
              </a:spcBef>
              <a:spcAft>
                <a:spcPts val="0"/>
              </a:spcAft>
              <a:buClr>
                <a:schemeClr val="dk1"/>
              </a:buClr>
              <a:buSzPts val="800"/>
              <a:buFont typeface="Arial"/>
              <a:buNone/>
            </a:pPr>
            <a:r>
              <a:rPr lang="en" sz="1500">
                <a:latin typeface="Cambria"/>
                <a:ea typeface="Cambria"/>
                <a:cs typeface="Cambria"/>
                <a:sym typeface="Cambria"/>
              </a:rPr>
              <a:t>  healthcare, education, customer service) highlights the need for </a:t>
            </a:r>
            <a:endParaRPr sz="1500">
              <a:latin typeface="Cambria"/>
              <a:ea typeface="Cambria"/>
              <a:cs typeface="Cambria"/>
              <a:sym typeface="Cambria"/>
            </a:endParaRPr>
          </a:p>
          <a:p>
            <a:pPr marL="342900" lvl="0" indent="0" algn="l" rtl="0">
              <a:lnSpc>
                <a:spcPct val="100000"/>
              </a:lnSpc>
              <a:spcBef>
                <a:spcPts val="0"/>
              </a:spcBef>
              <a:spcAft>
                <a:spcPts val="0"/>
              </a:spcAft>
              <a:buClr>
                <a:schemeClr val="dk1"/>
              </a:buClr>
              <a:buSzPts val="800"/>
              <a:buFont typeface="Arial"/>
              <a:buNone/>
            </a:pPr>
            <a:r>
              <a:rPr lang="en" sz="1500">
                <a:latin typeface="Cambria"/>
                <a:ea typeface="Cambria"/>
                <a:cs typeface="Cambria"/>
                <a:sym typeface="Cambria"/>
              </a:rPr>
              <a:t>  more intelligent and adaptable systems.</a:t>
            </a:r>
            <a:endParaRPr sz="1500">
              <a:latin typeface="Cambria"/>
              <a:ea typeface="Cambria"/>
              <a:cs typeface="Cambria"/>
              <a:sym typeface="Cambria"/>
            </a:endParaRPr>
          </a:p>
          <a:p>
            <a:pPr marL="342900" lvl="0" indent="0" algn="l" rtl="0">
              <a:lnSpc>
                <a:spcPct val="100000"/>
              </a:lnSpc>
              <a:spcBef>
                <a:spcPts val="0"/>
              </a:spcBef>
              <a:spcAft>
                <a:spcPts val="0"/>
              </a:spcAft>
              <a:buClr>
                <a:schemeClr val="dk1"/>
              </a:buClr>
              <a:buSzPts val="800"/>
              <a:buFont typeface="Arial"/>
              <a:buNone/>
            </a:pPr>
            <a:endParaRPr sz="1500">
              <a:latin typeface="Cambria"/>
              <a:ea typeface="Cambria"/>
              <a:cs typeface="Cambria"/>
              <a:sym typeface="Cambria"/>
            </a:endParaRPr>
          </a:p>
          <a:p>
            <a:pPr marL="0" lvl="0" indent="0" algn="l" rtl="0">
              <a:lnSpc>
                <a:spcPct val="100000"/>
              </a:lnSpc>
              <a:spcBef>
                <a:spcPts val="0"/>
              </a:spcBef>
              <a:spcAft>
                <a:spcPts val="0"/>
              </a:spcAft>
              <a:buClr>
                <a:schemeClr val="dk1"/>
              </a:buClr>
              <a:buSzPts val="800"/>
              <a:buFont typeface="Arial"/>
              <a:buNone/>
            </a:pPr>
            <a:r>
              <a:rPr lang="en" sz="1800" b="1">
                <a:solidFill>
                  <a:srgbClr val="4BACC6"/>
                </a:solidFill>
                <a:latin typeface="Cambria"/>
                <a:ea typeface="Cambria"/>
                <a:cs typeface="Cambria"/>
                <a:sym typeface="Cambria"/>
              </a:rPr>
              <a:t>LIMITATIONS:</a:t>
            </a:r>
            <a:endParaRPr sz="1800" b="1">
              <a:solidFill>
                <a:srgbClr val="4BACC6"/>
              </a:solidFill>
              <a:latin typeface="Cambria"/>
              <a:ea typeface="Cambria"/>
              <a:cs typeface="Cambria"/>
              <a:sym typeface="Cambria"/>
            </a:endParaRPr>
          </a:p>
          <a:p>
            <a:pPr marL="342900" lvl="0" indent="-260350" algn="l" rtl="0">
              <a:lnSpc>
                <a:spcPct val="100000"/>
              </a:lnSpc>
              <a:spcBef>
                <a:spcPts val="0"/>
              </a:spcBef>
              <a:spcAft>
                <a:spcPts val="0"/>
              </a:spcAft>
              <a:buSzPts val="1500"/>
              <a:buFont typeface="Cambria"/>
              <a:buChar char="●"/>
            </a:pPr>
            <a:r>
              <a:rPr lang="en" sz="1500">
                <a:latin typeface="Cambria"/>
                <a:ea typeface="Cambria"/>
                <a:cs typeface="Cambria"/>
                <a:sym typeface="Cambria"/>
              </a:rPr>
              <a:t>Inadequate personalization.</a:t>
            </a:r>
            <a:endParaRPr sz="1500">
              <a:latin typeface="Cambria"/>
              <a:ea typeface="Cambria"/>
              <a:cs typeface="Cambria"/>
              <a:sym typeface="Cambria"/>
            </a:endParaRPr>
          </a:p>
          <a:p>
            <a:pPr marL="342900" lvl="0" indent="-260350" algn="l" rtl="0">
              <a:lnSpc>
                <a:spcPct val="100000"/>
              </a:lnSpc>
              <a:spcBef>
                <a:spcPts val="0"/>
              </a:spcBef>
              <a:spcAft>
                <a:spcPts val="0"/>
              </a:spcAft>
              <a:buSzPts val="1500"/>
              <a:buFont typeface="Cambria"/>
              <a:buChar char="●"/>
            </a:pPr>
            <a:r>
              <a:rPr lang="en" sz="1500">
                <a:latin typeface="Cambria"/>
                <a:ea typeface="Cambria"/>
                <a:cs typeface="Cambria"/>
                <a:sym typeface="Cambria"/>
              </a:rPr>
              <a:t>Poor contextual understanding.</a:t>
            </a:r>
            <a:endParaRPr sz="1500">
              <a:latin typeface="Cambria"/>
              <a:ea typeface="Cambria"/>
              <a:cs typeface="Cambria"/>
              <a:sym typeface="Cambria"/>
            </a:endParaRPr>
          </a:p>
          <a:p>
            <a:pPr marL="342900" lvl="0" indent="-260350" algn="l" rtl="0">
              <a:lnSpc>
                <a:spcPct val="100000"/>
              </a:lnSpc>
              <a:spcBef>
                <a:spcPts val="0"/>
              </a:spcBef>
              <a:spcAft>
                <a:spcPts val="0"/>
              </a:spcAft>
              <a:buSzPts val="1500"/>
              <a:buFont typeface="Cambria"/>
              <a:buChar char="●"/>
            </a:pPr>
            <a:r>
              <a:rPr lang="en" sz="1500">
                <a:latin typeface="Cambria"/>
                <a:ea typeface="Cambria"/>
                <a:cs typeface="Cambria"/>
                <a:sym typeface="Cambria"/>
              </a:rPr>
              <a:t>Limited adaptability to individual user needs.</a:t>
            </a:r>
            <a:endParaRPr sz="1500">
              <a:latin typeface="Cambria"/>
              <a:ea typeface="Cambria"/>
              <a:cs typeface="Cambria"/>
              <a:sym typeface="Cambria"/>
            </a:endParaRPr>
          </a:p>
          <a:p>
            <a:pPr marL="0" lvl="0" indent="0" algn="l" rtl="0">
              <a:lnSpc>
                <a:spcPct val="100000"/>
              </a:lnSpc>
              <a:spcBef>
                <a:spcPts val="0"/>
              </a:spcBef>
              <a:spcAft>
                <a:spcPts val="0"/>
              </a:spcAft>
              <a:buNone/>
            </a:pPr>
            <a:endParaRPr sz="1500">
              <a:latin typeface="Cambria"/>
              <a:ea typeface="Cambria"/>
              <a:cs typeface="Cambria"/>
              <a:sym typeface="Cambria"/>
            </a:endParaRPr>
          </a:p>
          <a:p>
            <a:pPr marL="0" lvl="0" indent="0" algn="l" rtl="0">
              <a:lnSpc>
                <a:spcPct val="100000"/>
              </a:lnSpc>
              <a:spcBef>
                <a:spcPts val="0"/>
              </a:spcBef>
              <a:spcAft>
                <a:spcPts val="0"/>
              </a:spcAft>
              <a:buClr>
                <a:schemeClr val="dk1"/>
              </a:buClr>
              <a:buSzPts val="800"/>
              <a:buFont typeface="Arial"/>
              <a:buNone/>
            </a:pPr>
            <a:r>
              <a:rPr lang="en" sz="1800" b="1">
                <a:solidFill>
                  <a:srgbClr val="4BACC6"/>
                </a:solidFill>
                <a:latin typeface="Cambria"/>
                <a:ea typeface="Cambria"/>
                <a:cs typeface="Cambria"/>
                <a:sym typeface="Cambria"/>
              </a:rPr>
              <a:t>NLP:</a:t>
            </a:r>
            <a:endParaRPr sz="1500" b="1">
              <a:solidFill>
                <a:srgbClr val="4BACC6"/>
              </a:solidFill>
              <a:latin typeface="Cambria"/>
              <a:ea typeface="Cambria"/>
              <a:cs typeface="Cambria"/>
              <a:sym typeface="Cambria"/>
            </a:endParaRPr>
          </a:p>
          <a:p>
            <a:pPr marL="0" lvl="0" indent="0" algn="l" rtl="0">
              <a:lnSpc>
                <a:spcPct val="100000"/>
              </a:lnSpc>
              <a:spcBef>
                <a:spcPts val="0"/>
              </a:spcBef>
              <a:spcAft>
                <a:spcPts val="0"/>
              </a:spcAft>
              <a:buClr>
                <a:schemeClr val="dk1"/>
              </a:buClr>
              <a:buSzPts val="800"/>
              <a:buFont typeface="Arial"/>
              <a:buNone/>
            </a:pPr>
            <a:r>
              <a:rPr lang="en" sz="1500">
                <a:latin typeface="Cambria"/>
                <a:ea typeface="Cambria"/>
                <a:cs typeface="Cambria"/>
                <a:sym typeface="Cambria"/>
              </a:rPr>
              <a:t>        Despite rapid progress in Natural Language Processing </a:t>
            </a:r>
            <a:endParaRPr sz="1500">
              <a:latin typeface="Cambria"/>
              <a:ea typeface="Cambria"/>
              <a:cs typeface="Cambria"/>
              <a:sym typeface="Cambria"/>
            </a:endParaRPr>
          </a:p>
          <a:p>
            <a:pPr marL="0" lvl="0" indent="0" algn="l" rtl="0">
              <a:lnSpc>
                <a:spcPct val="100000"/>
              </a:lnSpc>
              <a:spcBef>
                <a:spcPts val="0"/>
              </a:spcBef>
              <a:spcAft>
                <a:spcPts val="0"/>
              </a:spcAft>
              <a:buClr>
                <a:schemeClr val="dk1"/>
              </a:buClr>
              <a:buSzPts val="800"/>
              <a:buFont typeface="Arial"/>
              <a:buNone/>
            </a:pPr>
            <a:r>
              <a:rPr lang="en" sz="1500">
                <a:latin typeface="Cambria"/>
                <a:ea typeface="Cambria"/>
                <a:cs typeface="Cambria"/>
                <a:sym typeface="Cambria"/>
              </a:rPr>
              <a:t>       (NLP), many systems fail to fully leverage these capabilities to</a:t>
            </a:r>
            <a:endParaRPr sz="1500">
              <a:latin typeface="Cambria"/>
              <a:ea typeface="Cambria"/>
              <a:cs typeface="Cambria"/>
              <a:sym typeface="Cambria"/>
            </a:endParaRPr>
          </a:p>
          <a:p>
            <a:pPr marL="0" lvl="0" indent="0" algn="l" rtl="0">
              <a:lnSpc>
                <a:spcPct val="100000"/>
              </a:lnSpc>
              <a:spcBef>
                <a:spcPts val="0"/>
              </a:spcBef>
              <a:spcAft>
                <a:spcPts val="0"/>
              </a:spcAft>
              <a:buClr>
                <a:schemeClr val="dk1"/>
              </a:buClr>
              <a:buSzPts val="800"/>
              <a:buFont typeface="Arial"/>
              <a:buNone/>
            </a:pPr>
            <a:r>
              <a:rPr lang="en" sz="1500">
                <a:latin typeface="Cambria"/>
                <a:ea typeface="Cambria"/>
                <a:cs typeface="Cambria"/>
                <a:sym typeface="Cambria"/>
              </a:rPr>
              <a:t>       enhance interaction quality.</a:t>
            </a:r>
            <a:endParaRPr sz="1500">
              <a:latin typeface="Cambria"/>
              <a:ea typeface="Cambria"/>
              <a:cs typeface="Cambria"/>
              <a:sym typeface="Cambria"/>
            </a:endParaRPr>
          </a:p>
          <a:p>
            <a:pPr marL="0" lvl="0" indent="0" algn="l" rtl="0">
              <a:lnSpc>
                <a:spcPct val="100000"/>
              </a:lnSpc>
              <a:spcBef>
                <a:spcPts val="0"/>
              </a:spcBef>
              <a:spcAft>
                <a:spcPts val="0"/>
              </a:spcAft>
              <a:buClr>
                <a:schemeClr val="dk1"/>
              </a:buClr>
              <a:buSzPts val="800"/>
              <a:buFont typeface="Arial"/>
              <a:buNone/>
            </a:pPr>
            <a:endParaRPr sz="1500">
              <a:latin typeface="Cambria"/>
              <a:ea typeface="Cambria"/>
              <a:cs typeface="Cambria"/>
              <a:sym typeface="Cambria"/>
            </a:endParaRPr>
          </a:p>
          <a:p>
            <a:pPr marL="0" lvl="0" indent="0" algn="l" rtl="0">
              <a:lnSpc>
                <a:spcPct val="100000"/>
              </a:lnSpc>
              <a:spcBef>
                <a:spcPts val="0"/>
              </a:spcBef>
              <a:spcAft>
                <a:spcPts val="0"/>
              </a:spcAft>
              <a:buClr>
                <a:schemeClr val="dk1"/>
              </a:buClr>
              <a:buSzPts val="800"/>
              <a:buFont typeface="Arial"/>
              <a:buNone/>
            </a:pPr>
            <a:r>
              <a:rPr lang="en" sz="1500">
                <a:latin typeface="Cambria"/>
                <a:ea typeface="Cambria"/>
                <a:cs typeface="Cambria"/>
                <a:sym typeface="Cambria"/>
              </a:rPr>
              <a:t>There is no specific chatbot designed for our college with our college’s data in it and Mostly  paid services with high cost</a:t>
            </a:r>
            <a:endParaRPr sz="1500">
              <a:latin typeface="Cambria"/>
              <a:ea typeface="Cambria"/>
              <a:cs typeface="Cambria"/>
              <a:sym typeface="Cambria"/>
            </a:endParaRPr>
          </a:p>
        </p:txBody>
      </p:sp>
      <p:sp>
        <p:nvSpPr>
          <p:cNvPr id="482" name="Google Shape;482;p6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27-10-2025</a:t>
            </a:r>
            <a:endParaRPr sz="1400" b="1">
              <a:solidFill>
                <a:srgbClr val="385623"/>
              </a:solidFill>
            </a:endParaRPr>
          </a:p>
        </p:txBody>
      </p:sp>
      <p:sp>
        <p:nvSpPr>
          <p:cNvPr id="483" name="Google Shape;483;p6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sz="1400" b="1">
                <a:solidFill>
                  <a:srgbClr val="385623"/>
                </a:solidFill>
              </a:rPr>
              <a:t>FINAL REVIEW PRESENTATION</a:t>
            </a:r>
            <a:endParaRPr sz="1400" b="1">
              <a:solidFill>
                <a:srgbClr val="385623"/>
              </a:solidFill>
            </a:endParaRPr>
          </a:p>
        </p:txBody>
      </p:sp>
      <p:sp>
        <p:nvSpPr>
          <p:cNvPr id="484" name="Google Shape;484;p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fld id="{00000000-1234-1234-1234-123412341234}" type="slidenum">
              <a:rPr lang="en" sz="1400" b="1">
                <a:solidFill>
                  <a:srgbClr val="385623"/>
                </a:solidFill>
              </a:rPr>
              <a:t>38</a:t>
            </a:fld>
            <a:endParaRPr sz="1400" b="1">
              <a:solidFill>
                <a:srgbClr val="385623"/>
              </a:solidFill>
            </a:endParaRPr>
          </a:p>
        </p:txBody>
      </p:sp>
      <p:sp>
        <p:nvSpPr>
          <p:cNvPr id="485" name="Google Shape;485;p63"/>
          <p:cNvSpPr txBox="1">
            <a:spLocks noGrp="1"/>
          </p:cNvSpPr>
          <p:nvPr>
            <p:ph type="title"/>
          </p:nvPr>
        </p:nvSpPr>
        <p:spPr>
          <a:xfrm>
            <a:off x="628650" y="180325"/>
            <a:ext cx="7886700" cy="328829"/>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NEED FOR THE CURRENT STUDY </a:t>
            </a:r>
            <a:endParaRPr sz="1800" b="1">
              <a:solidFill>
                <a:srgbClr val="2F5496"/>
              </a:solidFill>
              <a:latin typeface="Cambria"/>
              <a:ea typeface="Cambria"/>
              <a:cs typeface="Cambria"/>
              <a:sym typeface="Cambri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6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27-10-2025</a:t>
            </a:r>
            <a:endParaRPr/>
          </a:p>
        </p:txBody>
      </p:sp>
      <p:sp>
        <p:nvSpPr>
          <p:cNvPr id="491" name="Google Shape;491;p6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39</a:t>
            </a:fld>
            <a:endParaRPr/>
          </a:p>
        </p:txBody>
      </p:sp>
      <p:sp>
        <p:nvSpPr>
          <p:cNvPr id="492" name="Google Shape;492;p64"/>
          <p:cNvSpPr txBox="1">
            <a:spLocks noGrp="1"/>
          </p:cNvSpPr>
          <p:nvPr>
            <p:ph type="title"/>
          </p:nvPr>
        </p:nvSpPr>
        <p:spPr>
          <a:xfrm>
            <a:off x="628650" y="180325"/>
            <a:ext cx="7886700" cy="328829"/>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PROPOSED METHODOLOGY ( Flow Chart) </a:t>
            </a:r>
            <a:endParaRPr sz="1800" b="1">
              <a:solidFill>
                <a:srgbClr val="2F5496"/>
              </a:solidFill>
              <a:latin typeface="Cambria"/>
              <a:ea typeface="Cambria"/>
              <a:cs typeface="Cambria"/>
              <a:sym typeface="Cambria"/>
            </a:endParaRPr>
          </a:p>
        </p:txBody>
      </p:sp>
      <p:pic>
        <p:nvPicPr>
          <p:cNvPr id="493" name="Google Shape;493;p64"/>
          <p:cNvPicPr preferRelativeResize="0"/>
          <p:nvPr/>
        </p:nvPicPr>
        <p:blipFill>
          <a:blip r:embed="rId3">
            <a:alphaModFix/>
          </a:blip>
          <a:stretch>
            <a:fillRect/>
          </a:stretch>
        </p:blipFill>
        <p:spPr>
          <a:xfrm>
            <a:off x="2404537" y="751969"/>
            <a:ext cx="4214474" cy="3248175"/>
          </a:xfrm>
          <a:prstGeom prst="rect">
            <a:avLst/>
          </a:prstGeom>
          <a:noFill/>
          <a:ln>
            <a:noFill/>
          </a:ln>
        </p:spPr>
      </p:pic>
      <p:sp>
        <p:nvSpPr>
          <p:cNvPr id="494" name="Google Shape;494;p64"/>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FINAL  REVIEW PRESENTATION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65"/>
          <p:cNvSpPr txBox="1"/>
          <p:nvPr/>
        </p:nvSpPr>
        <p:spPr>
          <a:xfrm>
            <a:off x="723410" y="501423"/>
            <a:ext cx="6469425" cy="304425"/>
          </a:xfrm>
          <a:prstGeom prst="rect">
            <a:avLst/>
          </a:prstGeom>
          <a:noFill/>
          <a:ln>
            <a:noFill/>
          </a:ln>
        </p:spPr>
        <p:txBody>
          <a:bodyPr spcFirstLastPara="1" wrap="square" lIns="0" tIns="72875" rIns="0" bIns="0" anchor="t" anchorCtr="0">
            <a:spAutoFit/>
          </a:bodyPr>
          <a:lstStyle/>
          <a:p>
            <a:pPr marL="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500" name="Google Shape;500;p65"/>
          <p:cNvSpPr txBox="1">
            <a:spLocks noGrp="1"/>
          </p:cNvSpPr>
          <p:nvPr>
            <p:ph type="dt" idx="10"/>
          </p:nvPr>
        </p:nvSpPr>
        <p:spPr>
          <a:xfrm>
            <a:off x="683419" y="4827784"/>
            <a:ext cx="940950" cy="207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27-10-2025</a:t>
            </a:r>
            <a:endParaRPr sz="900" b="0">
              <a:solidFill>
                <a:srgbClr val="888888"/>
              </a:solidFill>
            </a:endParaRPr>
          </a:p>
        </p:txBody>
      </p:sp>
      <p:sp>
        <p:nvSpPr>
          <p:cNvPr id="501" name="Google Shape;501;p65"/>
          <p:cNvSpPr txBox="1">
            <a:spLocks noGrp="1"/>
          </p:cNvSpPr>
          <p:nvPr>
            <p:ph type="sldNum" idx="12"/>
          </p:nvPr>
        </p:nvSpPr>
        <p:spPr>
          <a:xfrm>
            <a:off x="8306618" y="4827794"/>
            <a:ext cx="182700" cy="2079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40</a:t>
            </a:fld>
            <a:endParaRPr b="0">
              <a:solidFill>
                <a:srgbClr val="888888"/>
              </a:solidFill>
            </a:endParaRPr>
          </a:p>
        </p:txBody>
      </p:sp>
      <p:sp>
        <p:nvSpPr>
          <p:cNvPr id="502" name="Google Shape;502;p65"/>
          <p:cNvSpPr txBox="1">
            <a:spLocks noGrp="1"/>
          </p:cNvSpPr>
          <p:nvPr>
            <p:ph type="title"/>
          </p:nvPr>
        </p:nvSpPr>
        <p:spPr>
          <a:xfrm>
            <a:off x="865800" y="-34018"/>
            <a:ext cx="7802325" cy="616950"/>
          </a:xfrm>
          <a:prstGeom prst="rect">
            <a:avLst/>
          </a:prstGeom>
          <a:noFill/>
          <a:ln>
            <a:noFill/>
          </a:ln>
        </p:spPr>
        <p:txBody>
          <a:bodyPr spcFirstLastPara="1" wrap="square" lIns="0" tIns="40475" rIns="0" bIns="0" anchor="t" anchorCtr="0">
            <a:spAutoFit/>
          </a:bodyPr>
          <a:lstStyle/>
          <a:p>
            <a:pPr marL="914400" marR="0" lvl="0" indent="-901700" algn="l" rtl="0">
              <a:lnSpc>
                <a:spcPct val="107916"/>
              </a:lnSpc>
              <a:spcBef>
                <a:spcPts val="0"/>
              </a:spcBef>
              <a:spcAft>
                <a:spcPts val="0"/>
              </a:spcAft>
              <a:buNone/>
            </a:pPr>
            <a:r>
              <a:rPr lang="en">
                <a:solidFill>
                  <a:srgbClr val="2F5496"/>
                </a:solidFill>
              </a:rPr>
              <a:t>CHOICE	OF	COMPONENTS / MODULES /  METHODS / TECHNIQUES EQUIPMENT USED FOR PROJECT DEVELOPMENT</a:t>
            </a:r>
            <a:endParaRPr/>
          </a:p>
        </p:txBody>
      </p:sp>
      <p:sp>
        <p:nvSpPr>
          <p:cNvPr id="503" name="Google Shape;503;p65"/>
          <p:cNvSpPr txBox="1"/>
          <p:nvPr/>
        </p:nvSpPr>
        <p:spPr>
          <a:xfrm>
            <a:off x="683419" y="664988"/>
            <a:ext cx="7916850" cy="4027500"/>
          </a:xfrm>
          <a:prstGeom prst="rect">
            <a:avLst/>
          </a:prstGeom>
          <a:noFill/>
          <a:ln>
            <a:noFill/>
          </a:ln>
        </p:spPr>
        <p:txBody>
          <a:bodyPr spcFirstLastPara="1" wrap="square" lIns="68575" tIns="68575" rIns="68575" bIns="68575" anchor="t" anchorCtr="0">
            <a:spAutoFit/>
          </a:bodyPr>
          <a:lstStyle/>
          <a:p>
            <a:pPr marL="0" lvl="0" indent="0" algn="l" rtl="0">
              <a:lnSpc>
                <a:spcPct val="115000"/>
              </a:lnSpc>
              <a:spcBef>
                <a:spcPts val="1100"/>
              </a:spcBef>
              <a:spcAft>
                <a:spcPts val="0"/>
              </a:spcAft>
              <a:buClr>
                <a:schemeClr val="dk1"/>
              </a:buClr>
              <a:buSzPts val="800"/>
              <a:buFont typeface="Arial"/>
              <a:buNone/>
            </a:pPr>
            <a:r>
              <a:rPr lang="en" sz="1800" b="1">
                <a:solidFill>
                  <a:schemeClr val="accent5"/>
                </a:solidFill>
                <a:latin typeface="Cambria"/>
                <a:ea typeface="Cambria"/>
                <a:cs typeface="Cambria"/>
                <a:sym typeface="Cambria"/>
              </a:rPr>
              <a:t>COMPONENTS:</a:t>
            </a:r>
            <a:endParaRPr sz="800" b="1">
              <a:solidFill>
                <a:schemeClr val="dk1"/>
              </a:solidFill>
            </a:endParaRPr>
          </a:p>
          <a:p>
            <a:pPr marL="342900" lvl="0" indent="-260350" algn="l" rtl="0">
              <a:lnSpc>
                <a:spcPct val="115000"/>
              </a:lnSpc>
              <a:spcBef>
                <a:spcPts val="90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User Interface Component - HTML structure + CSS styling</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Frontend: html , css</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Backend: Python</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Web framework: Flask (python)</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Database Module: Intents.json file (stores tags, patterns, responses)</a:t>
            </a:r>
            <a:endParaRPr sz="1500">
              <a:solidFill>
                <a:schemeClr val="dk1"/>
              </a:solidFill>
              <a:latin typeface="Cambria"/>
              <a:ea typeface="Cambria"/>
              <a:cs typeface="Cambria"/>
              <a:sym typeface="Cambria"/>
            </a:endParaRPr>
          </a:p>
          <a:p>
            <a:pPr marL="0" lvl="0" indent="0" algn="l" rtl="0">
              <a:lnSpc>
                <a:spcPct val="115000"/>
              </a:lnSpc>
              <a:spcBef>
                <a:spcPts val="1100"/>
              </a:spcBef>
              <a:spcAft>
                <a:spcPts val="0"/>
              </a:spcAft>
              <a:buNone/>
            </a:pPr>
            <a:r>
              <a:rPr lang="en" sz="1800" b="1">
                <a:solidFill>
                  <a:schemeClr val="accent5"/>
                </a:solidFill>
                <a:latin typeface="Cambria"/>
                <a:ea typeface="Cambria"/>
                <a:cs typeface="Cambria"/>
                <a:sym typeface="Cambria"/>
              </a:rPr>
              <a:t>METHODS:</a:t>
            </a:r>
            <a:endParaRPr sz="1500">
              <a:solidFill>
                <a:schemeClr val="dk1"/>
              </a:solidFill>
              <a:latin typeface="Cambria"/>
              <a:ea typeface="Cambria"/>
              <a:cs typeface="Cambria"/>
              <a:sym typeface="Cambria"/>
            </a:endParaRPr>
          </a:p>
          <a:p>
            <a:pPr marL="342900" lvl="0" indent="-260350" algn="l" rtl="0">
              <a:lnSpc>
                <a:spcPct val="115000"/>
              </a:lnSpc>
              <a:spcBef>
                <a:spcPts val="900"/>
              </a:spcBef>
              <a:spcAft>
                <a:spcPts val="0"/>
              </a:spcAft>
              <a:buClr>
                <a:schemeClr val="dk1"/>
              </a:buClr>
              <a:buSzPts val="1500"/>
              <a:buChar char="●"/>
            </a:pPr>
            <a:r>
              <a:rPr lang="en" sz="1500">
                <a:solidFill>
                  <a:schemeClr val="dk1"/>
                </a:solidFill>
                <a:latin typeface="Cambria"/>
                <a:ea typeface="Cambria"/>
                <a:cs typeface="Cambria"/>
                <a:sym typeface="Cambria"/>
              </a:rPr>
              <a:t>Natural Language Processing (NLP): Tokenization, Lemmatization, Stopword removal </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NLTK → A library for Natural Language Processing (NLP). For tokenization and lemmatization.</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Search &amp; Filter Module →  Text-based filtering (title, content, tags) , Tag-based filtering (clicking a tag to filter).</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Flask → Handles backend web server logic.</a:t>
            </a:r>
            <a:endParaRPr sz="1500">
              <a:solidFill>
                <a:schemeClr val="dk1"/>
              </a:solidFill>
              <a:latin typeface="Cambria"/>
              <a:ea typeface="Cambria"/>
              <a:cs typeface="Cambria"/>
              <a:sym typeface="Cambria"/>
            </a:endParaRPr>
          </a:p>
        </p:txBody>
      </p:sp>
      <p:sp>
        <p:nvSpPr>
          <p:cNvPr id="504" name="Google Shape;504;p65"/>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FINAL  REVIEW PRESENTATION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66"/>
          <p:cNvSpPr txBox="1">
            <a:spLocks noGrp="1"/>
          </p:cNvSpPr>
          <p:nvPr>
            <p:ph type="body" idx="1"/>
          </p:nvPr>
        </p:nvSpPr>
        <p:spPr>
          <a:xfrm>
            <a:off x="628649" y="581891"/>
            <a:ext cx="8006195" cy="4083627"/>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77800" lvl="0" indent="-38100" algn="l" rtl="0">
              <a:lnSpc>
                <a:spcPct val="90000"/>
              </a:lnSpc>
              <a:spcBef>
                <a:spcPts val="800"/>
              </a:spcBef>
              <a:spcAft>
                <a:spcPts val="0"/>
              </a:spcAft>
              <a:buClr>
                <a:schemeClr val="dk1"/>
              </a:buClr>
              <a:buSzPts val="2100"/>
              <a:buNone/>
            </a:pPr>
            <a:endParaRPr/>
          </a:p>
        </p:txBody>
      </p:sp>
      <p:sp>
        <p:nvSpPr>
          <p:cNvPr id="510" name="Google Shape;510;p6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27-10-2025</a:t>
            </a:r>
            <a:endParaRPr/>
          </a:p>
        </p:txBody>
      </p:sp>
      <p:sp>
        <p:nvSpPr>
          <p:cNvPr id="511" name="Google Shape;511;p6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41</a:t>
            </a:fld>
            <a:endParaRPr/>
          </a:p>
        </p:txBody>
      </p:sp>
      <p:sp>
        <p:nvSpPr>
          <p:cNvPr id="512" name="Google Shape;512;p66"/>
          <p:cNvSpPr txBox="1">
            <a:spLocks noGrp="1"/>
          </p:cNvSpPr>
          <p:nvPr>
            <p:ph type="title"/>
          </p:nvPr>
        </p:nvSpPr>
        <p:spPr>
          <a:xfrm>
            <a:off x="628650" y="180325"/>
            <a:ext cx="7886700" cy="328829"/>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pic>
        <p:nvPicPr>
          <p:cNvPr id="513" name="Google Shape;513;p66" descr="A screenshot of a chat&#10;&#10;AI-generated content may be incorrect."/>
          <p:cNvPicPr preferRelativeResize="0"/>
          <p:nvPr/>
        </p:nvPicPr>
        <p:blipFill>
          <a:blip r:embed="rId3">
            <a:alphaModFix/>
          </a:blip>
          <a:stretch>
            <a:fillRect/>
          </a:stretch>
        </p:blipFill>
        <p:spPr>
          <a:xfrm>
            <a:off x="1091869" y="1485525"/>
            <a:ext cx="3409955" cy="2011706"/>
          </a:xfrm>
          <a:prstGeom prst="rect">
            <a:avLst/>
          </a:prstGeom>
          <a:noFill/>
          <a:ln>
            <a:noFill/>
          </a:ln>
        </p:spPr>
      </p:pic>
      <p:pic>
        <p:nvPicPr>
          <p:cNvPr id="514" name="Google Shape;514;p66" descr="A screenshot of a chat&#10;&#10;AI-generated content may be incorrect."/>
          <p:cNvPicPr preferRelativeResize="0"/>
          <p:nvPr/>
        </p:nvPicPr>
        <p:blipFill>
          <a:blip r:embed="rId4">
            <a:alphaModFix/>
          </a:blip>
          <a:stretch>
            <a:fillRect/>
          </a:stretch>
        </p:blipFill>
        <p:spPr>
          <a:xfrm>
            <a:off x="4847738" y="1475660"/>
            <a:ext cx="3312751" cy="2011703"/>
          </a:xfrm>
          <a:prstGeom prst="rect">
            <a:avLst/>
          </a:prstGeom>
          <a:noFill/>
          <a:ln>
            <a:noFill/>
          </a:ln>
        </p:spPr>
      </p:pic>
      <p:sp>
        <p:nvSpPr>
          <p:cNvPr id="515" name="Google Shape;515;p66"/>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FINAL  REVIEW PRESENTATION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67"/>
          <p:cNvSpPr txBox="1">
            <a:spLocks noGrp="1"/>
          </p:cNvSpPr>
          <p:nvPr>
            <p:ph type="body" idx="1"/>
          </p:nvPr>
        </p:nvSpPr>
        <p:spPr>
          <a:xfrm>
            <a:off x="628649" y="572962"/>
            <a:ext cx="8006175" cy="4083525"/>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77800" lvl="0" indent="-38100" algn="l" rtl="0">
              <a:lnSpc>
                <a:spcPct val="90000"/>
              </a:lnSpc>
              <a:spcBef>
                <a:spcPts val="800"/>
              </a:spcBef>
              <a:spcAft>
                <a:spcPts val="0"/>
              </a:spcAft>
              <a:buClr>
                <a:schemeClr val="dk1"/>
              </a:buClr>
              <a:buSzPts val="2100"/>
              <a:buNone/>
            </a:pPr>
            <a:endParaRPr/>
          </a:p>
        </p:txBody>
      </p:sp>
      <p:sp>
        <p:nvSpPr>
          <p:cNvPr id="521" name="Google Shape;521;p67"/>
          <p:cNvSpPr txBox="1">
            <a:spLocks noGrp="1"/>
          </p:cNvSpPr>
          <p:nvPr>
            <p:ph type="dt" idx="10"/>
          </p:nvPr>
        </p:nvSpPr>
        <p:spPr>
          <a:xfrm>
            <a:off x="628650" y="4767263"/>
            <a:ext cx="2057400" cy="273825"/>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27-10-2025</a:t>
            </a:r>
            <a:endParaRPr/>
          </a:p>
        </p:txBody>
      </p:sp>
      <p:sp>
        <p:nvSpPr>
          <p:cNvPr id="522" name="Google Shape;522;p67"/>
          <p:cNvSpPr txBox="1">
            <a:spLocks noGrp="1"/>
          </p:cNvSpPr>
          <p:nvPr>
            <p:ph type="sldNum" idx="12"/>
          </p:nvPr>
        </p:nvSpPr>
        <p:spPr>
          <a:xfrm>
            <a:off x="6457950" y="4767263"/>
            <a:ext cx="2057400" cy="273825"/>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42</a:t>
            </a:fld>
            <a:endParaRPr/>
          </a:p>
        </p:txBody>
      </p:sp>
      <p:sp>
        <p:nvSpPr>
          <p:cNvPr id="523" name="Google Shape;523;p67"/>
          <p:cNvSpPr txBox="1">
            <a:spLocks noGrp="1"/>
          </p:cNvSpPr>
          <p:nvPr>
            <p:ph type="title"/>
          </p:nvPr>
        </p:nvSpPr>
        <p:spPr>
          <a:xfrm>
            <a:off x="628650" y="180326"/>
            <a:ext cx="7886700" cy="328725"/>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pic>
        <p:nvPicPr>
          <p:cNvPr id="524" name="Google Shape;524;p67" descr="A screenshot of a chat&#10;&#10;AI-generated content may be incorrect."/>
          <p:cNvPicPr preferRelativeResize="0"/>
          <p:nvPr/>
        </p:nvPicPr>
        <p:blipFill>
          <a:blip r:embed="rId3">
            <a:alphaModFix/>
          </a:blip>
          <a:stretch>
            <a:fillRect/>
          </a:stretch>
        </p:blipFill>
        <p:spPr>
          <a:xfrm>
            <a:off x="1029755" y="1503179"/>
            <a:ext cx="3312750" cy="1961249"/>
          </a:xfrm>
          <a:prstGeom prst="rect">
            <a:avLst/>
          </a:prstGeom>
          <a:noFill/>
          <a:ln>
            <a:noFill/>
          </a:ln>
        </p:spPr>
      </p:pic>
      <p:pic>
        <p:nvPicPr>
          <p:cNvPr id="525" name="Google Shape;525;p67" descr="A screenshot of a chat&#10;&#10;AI-generated content may be incorrect."/>
          <p:cNvPicPr preferRelativeResize="0"/>
          <p:nvPr/>
        </p:nvPicPr>
        <p:blipFill>
          <a:blip r:embed="rId4">
            <a:alphaModFix/>
          </a:blip>
          <a:stretch>
            <a:fillRect/>
          </a:stretch>
        </p:blipFill>
        <p:spPr>
          <a:xfrm>
            <a:off x="4619489" y="1476244"/>
            <a:ext cx="3312750" cy="2015118"/>
          </a:xfrm>
          <a:prstGeom prst="rect">
            <a:avLst/>
          </a:prstGeom>
          <a:noFill/>
          <a:ln>
            <a:noFill/>
          </a:ln>
        </p:spPr>
      </p:pic>
      <p:sp>
        <p:nvSpPr>
          <p:cNvPr id="526" name="Google Shape;526;p67"/>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FINAL  REVIEW PRESENTATION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68"/>
          <p:cNvSpPr txBox="1">
            <a:spLocks noGrp="1"/>
          </p:cNvSpPr>
          <p:nvPr>
            <p:ph type="body" idx="1"/>
          </p:nvPr>
        </p:nvSpPr>
        <p:spPr>
          <a:xfrm>
            <a:off x="628649" y="581891"/>
            <a:ext cx="8006175" cy="4083525"/>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77800" lvl="0" indent="-38100" algn="l" rtl="0">
              <a:lnSpc>
                <a:spcPct val="90000"/>
              </a:lnSpc>
              <a:spcBef>
                <a:spcPts val="800"/>
              </a:spcBef>
              <a:spcAft>
                <a:spcPts val="0"/>
              </a:spcAft>
              <a:buClr>
                <a:schemeClr val="dk1"/>
              </a:buClr>
              <a:buSzPts val="2100"/>
              <a:buNone/>
            </a:pPr>
            <a:endParaRPr/>
          </a:p>
        </p:txBody>
      </p:sp>
      <p:sp>
        <p:nvSpPr>
          <p:cNvPr id="532" name="Google Shape;532;p68"/>
          <p:cNvSpPr txBox="1">
            <a:spLocks noGrp="1"/>
          </p:cNvSpPr>
          <p:nvPr>
            <p:ph type="dt" idx="10"/>
          </p:nvPr>
        </p:nvSpPr>
        <p:spPr>
          <a:xfrm>
            <a:off x="628650" y="4767263"/>
            <a:ext cx="2057400" cy="273825"/>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27-10-2025</a:t>
            </a:r>
            <a:endParaRPr/>
          </a:p>
        </p:txBody>
      </p:sp>
      <p:sp>
        <p:nvSpPr>
          <p:cNvPr id="533" name="Google Shape;533;p68"/>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FINAL  REVIEW PRESENTATION</a:t>
            </a:r>
            <a:endParaRPr/>
          </a:p>
        </p:txBody>
      </p:sp>
      <p:sp>
        <p:nvSpPr>
          <p:cNvPr id="534" name="Google Shape;534;p68"/>
          <p:cNvSpPr txBox="1">
            <a:spLocks noGrp="1"/>
          </p:cNvSpPr>
          <p:nvPr>
            <p:ph type="sldNum" idx="12"/>
          </p:nvPr>
        </p:nvSpPr>
        <p:spPr>
          <a:xfrm>
            <a:off x="6457950" y="4767263"/>
            <a:ext cx="2057400" cy="273825"/>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43</a:t>
            </a:fld>
            <a:endParaRPr/>
          </a:p>
        </p:txBody>
      </p:sp>
      <p:sp>
        <p:nvSpPr>
          <p:cNvPr id="535" name="Google Shape;535;p68"/>
          <p:cNvSpPr txBox="1">
            <a:spLocks noGrp="1"/>
          </p:cNvSpPr>
          <p:nvPr>
            <p:ph type="title"/>
          </p:nvPr>
        </p:nvSpPr>
        <p:spPr>
          <a:xfrm>
            <a:off x="628650" y="180326"/>
            <a:ext cx="7886700" cy="328725"/>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pic>
        <p:nvPicPr>
          <p:cNvPr id="536" name="Google Shape;536;p68"/>
          <p:cNvPicPr preferRelativeResize="0"/>
          <p:nvPr/>
        </p:nvPicPr>
        <p:blipFill>
          <a:blip r:embed="rId3">
            <a:alphaModFix/>
          </a:blip>
          <a:stretch>
            <a:fillRect/>
          </a:stretch>
        </p:blipFill>
        <p:spPr>
          <a:xfrm>
            <a:off x="1004119" y="1420247"/>
            <a:ext cx="3464100" cy="2152593"/>
          </a:xfrm>
          <a:prstGeom prst="rect">
            <a:avLst/>
          </a:prstGeom>
          <a:noFill/>
          <a:ln>
            <a:noFill/>
          </a:ln>
        </p:spPr>
      </p:pic>
      <p:pic>
        <p:nvPicPr>
          <p:cNvPr id="537" name="Google Shape;537;p68" descr="A screenshot of a chat&#10;&#10;AI-generated content may be incorrect."/>
          <p:cNvPicPr preferRelativeResize="0"/>
          <p:nvPr/>
        </p:nvPicPr>
        <p:blipFill>
          <a:blip r:embed="rId4">
            <a:alphaModFix/>
          </a:blip>
          <a:stretch>
            <a:fillRect/>
          </a:stretch>
        </p:blipFill>
        <p:spPr>
          <a:xfrm>
            <a:off x="4818375" y="1458984"/>
            <a:ext cx="3528806" cy="20751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69"/>
          <p:cNvSpPr txBox="1">
            <a:spLocks noGrp="1"/>
          </p:cNvSpPr>
          <p:nvPr>
            <p:ph type="body" idx="1"/>
          </p:nvPr>
        </p:nvSpPr>
        <p:spPr>
          <a:xfrm>
            <a:off x="628649" y="581891"/>
            <a:ext cx="8006175" cy="4083525"/>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342900" lvl="0" indent="0" algn="l" rtl="0">
              <a:lnSpc>
                <a:spcPct val="90000"/>
              </a:lnSpc>
              <a:spcBef>
                <a:spcPts val="0"/>
              </a:spcBef>
              <a:spcAft>
                <a:spcPts val="0"/>
              </a:spcAft>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685800" lvl="2" indent="0" algn="l" rtl="0">
              <a:lnSpc>
                <a:spcPct val="90000"/>
              </a:lnSpc>
              <a:spcBef>
                <a:spcPts val="400"/>
              </a:spcBef>
              <a:spcAft>
                <a:spcPts val="0"/>
              </a:spcAft>
              <a:buClr>
                <a:schemeClr val="dk1"/>
              </a:buClr>
              <a:buSzPts val="1500"/>
              <a:buNone/>
            </a:pPr>
            <a:endParaRPr/>
          </a:p>
          <a:p>
            <a:pPr marL="863600" lvl="2" indent="-76200" algn="l" rtl="0">
              <a:lnSpc>
                <a:spcPct val="90000"/>
              </a:lnSpc>
              <a:spcBef>
                <a:spcPts val="400"/>
              </a:spcBef>
              <a:spcAft>
                <a:spcPts val="0"/>
              </a:spcAft>
              <a:buClr>
                <a:schemeClr val="dk1"/>
              </a:buClr>
              <a:buSzPts val="1500"/>
              <a:buNone/>
            </a:pPr>
            <a:endParaRPr/>
          </a:p>
          <a:p>
            <a:pPr marL="177800" lvl="0" indent="-38100" algn="l" rtl="0">
              <a:lnSpc>
                <a:spcPct val="90000"/>
              </a:lnSpc>
              <a:spcBef>
                <a:spcPts val="800"/>
              </a:spcBef>
              <a:spcAft>
                <a:spcPts val="0"/>
              </a:spcAft>
              <a:buClr>
                <a:schemeClr val="dk1"/>
              </a:buClr>
              <a:buSzPts val="2100"/>
              <a:buNone/>
            </a:pPr>
            <a:endParaRPr/>
          </a:p>
        </p:txBody>
      </p:sp>
      <p:sp>
        <p:nvSpPr>
          <p:cNvPr id="543" name="Google Shape;543;p69"/>
          <p:cNvSpPr txBox="1">
            <a:spLocks noGrp="1"/>
          </p:cNvSpPr>
          <p:nvPr>
            <p:ph type="dt" idx="10"/>
          </p:nvPr>
        </p:nvSpPr>
        <p:spPr>
          <a:xfrm>
            <a:off x="628650" y="4767263"/>
            <a:ext cx="2057400" cy="273825"/>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1100"/>
              <a:buNone/>
            </a:pPr>
            <a:r>
              <a:rPr lang="en"/>
              <a:t>09-10-2025</a:t>
            </a:r>
            <a:endParaRPr/>
          </a:p>
        </p:txBody>
      </p:sp>
      <p:sp>
        <p:nvSpPr>
          <p:cNvPr id="544" name="Google Shape;544;p69"/>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FINAL REVIEW PRESENTATION</a:t>
            </a:r>
            <a:endParaRPr/>
          </a:p>
        </p:txBody>
      </p:sp>
      <p:sp>
        <p:nvSpPr>
          <p:cNvPr id="545" name="Google Shape;545;p69"/>
          <p:cNvSpPr txBox="1">
            <a:spLocks noGrp="1"/>
          </p:cNvSpPr>
          <p:nvPr>
            <p:ph type="sldNum" idx="12"/>
          </p:nvPr>
        </p:nvSpPr>
        <p:spPr>
          <a:xfrm>
            <a:off x="6457950" y="4767263"/>
            <a:ext cx="2057400" cy="273825"/>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44</a:t>
            </a:fld>
            <a:endParaRPr/>
          </a:p>
        </p:txBody>
      </p:sp>
      <p:sp>
        <p:nvSpPr>
          <p:cNvPr id="546" name="Google Shape;546;p69"/>
          <p:cNvSpPr txBox="1">
            <a:spLocks noGrp="1"/>
          </p:cNvSpPr>
          <p:nvPr>
            <p:ph type="title"/>
          </p:nvPr>
        </p:nvSpPr>
        <p:spPr>
          <a:xfrm>
            <a:off x="628650" y="180326"/>
            <a:ext cx="7886700" cy="328725"/>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DESIGN(S) (HARDWARE / SOFTWARE ARCHITECTURE) </a:t>
            </a:r>
            <a:endParaRPr sz="1800" b="1">
              <a:solidFill>
                <a:srgbClr val="2F5496"/>
              </a:solidFill>
              <a:latin typeface="Cambria"/>
              <a:ea typeface="Cambria"/>
              <a:cs typeface="Cambria"/>
              <a:sym typeface="Cambria"/>
            </a:endParaRPr>
          </a:p>
        </p:txBody>
      </p:sp>
      <p:pic>
        <p:nvPicPr>
          <p:cNvPr id="547" name="Google Shape;547;p69" descr="A screenshot of a chat&#10;&#10;AI-generated content may be incorrect."/>
          <p:cNvPicPr preferRelativeResize="0"/>
          <p:nvPr/>
        </p:nvPicPr>
        <p:blipFill>
          <a:blip r:embed="rId3">
            <a:alphaModFix/>
          </a:blip>
          <a:stretch>
            <a:fillRect/>
          </a:stretch>
        </p:blipFill>
        <p:spPr>
          <a:xfrm>
            <a:off x="965850" y="1493868"/>
            <a:ext cx="3528806" cy="2063588"/>
          </a:xfrm>
          <a:prstGeom prst="rect">
            <a:avLst/>
          </a:prstGeom>
          <a:noFill/>
          <a:ln>
            <a:noFill/>
          </a:ln>
        </p:spPr>
      </p:pic>
      <p:pic>
        <p:nvPicPr>
          <p:cNvPr id="548" name="Google Shape;548;p69" descr="A screenshot of a chat&#10;&#10;AI-generated content may be incorrect."/>
          <p:cNvPicPr preferRelativeResize="0"/>
          <p:nvPr/>
        </p:nvPicPr>
        <p:blipFill>
          <a:blip r:embed="rId4">
            <a:alphaModFix/>
          </a:blip>
          <a:stretch>
            <a:fillRect/>
          </a:stretch>
        </p:blipFill>
        <p:spPr>
          <a:xfrm>
            <a:off x="4837294" y="1505219"/>
            <a:ext cx="3511125" cy="206358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70"/>
          <p:cNvSpPr txBox="1">
            <a:spLocks noGrp="1"/>
          </p:cNvSpPr>
          <p:nvPr>
            <p:ph type="body" idx="1"/>
          </p:nvPr>
        </p:nvSpPr>
        <p:spPr>
          <a:xfrm>
            <a:off x="628649" y="581891"/>
            <a:ext cx="8006175" cy="4083525"/>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0" lvl="2" indent="0" algn="l" rtl="0">
              <a:lnSpc>
                <a:spcPct val="150000"/>
              </a:lnSpc>
              <a:spcBef>
                <a:spcPts val="400"/>
              </a:spcBef>
              <a:spcAft>
                <a:spcPts val="0"/>
              </a:spcAft>
              <a:buClr>
                <a:schemeClr val="dk1"/>
              </a:buClr>
              <a:buSzPts val="1500"/>
              <a:buNone/>
            </a:pPr>
            <a:r>
              <a:rPr lang="en">
                <a:latin typeface="Cambria"/>
                <a:ea typeface="Cambria"/>
                <a:cs typeface="Cambria"/>
                <a:sym typeface="Cambria"/>
              </a:rPr>
              <a:t>The developed chatbot system successfully answers frequently asked admission-related queries such as course details, eligibility criteria, fee structure, and important dates. It uses a rule-based or keyword-matching approach to map user input to predefined responses, providing accurate answers for well-structured questions. The system is effective in reducing the manual workload on admission staff and offers 24/7 accessibility to prospective students. The chatbot performs best within its trained domain but struggles with vague or out-of-scope inputs. Future improvements could include integrating NLP models or machine learning techniques to enhance flexibility, context handling, and response accuracy. </a:t>
            </a:r>
            <a:endParaRPr>
              <a:latin typeface="Cambria"/>
              <a:ea typeface="Cambria"/>
              <a:cs typeface="Cambria"/>
              <a:sym typeface="Cambria"/>
            </a:endParaRPr>
          </a:p>
          <a:p>
            <a:pPr marL="0" lvl="2" indent="0" algn="l" rtl="0">
              <a:lnSpc>
                <a:spcPct val="150000"/>
              </a:lnSpc>
              <a:spcBef>
                <a:spcPts val="400"/>
              </a:spcBef>
              <a:spcAft>
                <a:spcPts val="0"/>
              </a:spcAft>
              <a:buClr>
                <a:schemeClr val="dk1"/>
              </a:buClr>
              <a:buSzPts val="1500"/>
              <a:buNone/>
            </a:pPr>
            <a:r>
              <a:rPr lang="en">
                <a:latin typeface="Cambria"/>
                <a:ea typeface="Cambria"/>
                <a:cs typeface="Cambria"/>
                <a:sym typeface="Cambria"/>
              </a:rPr>
              <a:t>Overall, the project demonstrates a practical and functional solution for automating admission inquiries, with clear potential for scalability and real-world deployment.</a:t>
            </a:r>
            <a:endParaRPr>
              <a:latin typeface="Cambria"/>
              <a:ea typeface="Cambria"/>
              <a:cs typeface="Cambria"/>
              <a:sym typeface="Cambria"/>
            </a:endParaRPr>
          </a:p>
        </p:txBody>
      </p:sp>
      <p:sp>
        <p:nvSpPr>
          <p:cNvPr id="554" name="Google Shape;554;p70"/>
          <p:cNvSpPr txBox="1">
            <a:spLocks noGrp="1"/>
          </p:cNvSpPr>
          <p:nvPr>
            <p:ph type="dt" idx="10"/>
          </p:nvPr>
        </p:nvSpPr>
        <p:spPr>
          <a:xfrm>
            <a:off x="628650" y="4767263"/>
            <a:ext cx="2057400" cy="273825"/>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27-10-2025</a:t>
            </a:r>
            <a:endParaRPr sz="1400" b="1">
              <a:solidFill>
                <a:srgbClr val="385623"/>
              </a:solidFill>
            </a:endParaRPr>
          </a:p>
        </p:txBody>
      </p:sp>
      <p:sp>
        <p:nvSpPr>
          <p:cNvPr id="555" name="Google Shape;555;p70"/>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1100"/>
              <a:buFont typeface="Arial"/>
              <a:buNone/>
            </a:pPr>
            <a:r>
              <a:rPr lang="en" sz="1400" b="1">
                <a:solidFill>
                  <a:srgbClr val="385623"/>
                </a:solidFill>
              </a:rPr>
              <a:t>FINAL REVIEW PRESENTATION</a:t>
            </a:r>
            <a:endParaRPr sz="1400" b="1">
              <a:solidFill>
                <a:srgbClr val="385623"/>
              </a:solidFill>
            </a:endParaRPr>
          </a:p>
        </p:txBody>
      </p:sp>
      <p:sp>
        <p:nvSpPr>
          <p:cNvPr id="556" name="Google Shape;556;p70"/>
          <p:cNvSpPr txBox="1">
            <a:spLocks noGrp="1"/>
          </p:cNvSpPr>
          <p:nvPr>
            <p:ph type="sldNum" idx="12"/>
          </p:nvPr>
        </p:nvSpPr>
        <p:spPr>
          <a:xfrm>
            <a:off x="6457950" y="4767263"/>
            <a:ext cx="2057400" cy="273825"/>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
              <a:t>45</a:t>
            </a:fld>
            <a:endParaRPr/>
          </a:p>
        </p:txBody>
      </p:sp>
      <p:sp>
        <p:nvSpPr>
          <p:cNvPr id="557" name="Google Shape;557;p70"/>
          <p:cNvSpPr txBox="1">
            <a:spLocks noGrp="1"/>
          </p:cNvSpPr>
          <p:nvPr>
            <p:ph type="title"/>
          </p:nvPr>
        </p:nvSpPr>
        <p:spPr>
          <a:xfrm>
            <a:off x="628650" y="180326"/>
            <a:ext cx="7886700" cy="328725"/>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ANALYSIS OF RESULTS AND DISCUSSION</a:t>
            </a:r>
            <a:endParaRPr sz="1800" b="1">
              <a:solidFill>
                <a:srgbClr val="2F5496"/>
              </a:solidFill>
              <a:latin typeface="Cambria"/>
              <a:ea typeface="Cambria"/>
              <a:cs typeface="Cambria"/>
              <a:sym typeface="Cambri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71"/>
          <p:cNvSpPr txBox="1">
            <a:spLocks noGrp="1"/>
          </p:cNvSpPr>
          <p:nvPr>
            <p:ph type="body" idx="1"/>
          </p:nvPr>
        </p:nvSpPr>
        <p:spPr>
          <a:xfrm>
            <a:off x="628649" y="581891"/>
            <a:ext cx="8006175" cy="4083525"/>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0" lvl="0" indent="12700" algn="just" rtl="0">
              <a:lnSpc>
                <a:spcPct val="150000"/>
              </a:lnSpc>
              <a:spcBef>
                <a:spcPts val="0"/>
              </a:spcBef>
              <a:spcAft>
                <a:spcPts val="0"/>
              </a:spcAft>
              <a:buClr>
                <a:schemeClr val="dk1"/>
              </a:buClr>
              <a:buSzPts val="800"/>
              <a:buFont typeface="Arial"/>
              <a:buNone/>
            </a:pPr>
            <a:r>
              <a:rPr lang="en" sz="1500">
                <a:latin typeface="Cambria"/>
                <a:ea typeface="Cambria"/>
                <a:cs typeface="Cambria"/>
                <a:sym typeface="Cambria"/>
              </a:rPr>
              <a:t>This bot was built to respond to the inquiries of students and parents regarding university's admission and their specializations, with extracted information for each specialization, familiarizing students and parents with the fees structure, and the required documents that students submit for their enrollment in the university. Implementing an admission chatbot can offer numerous benefits for the College. Chatbots can provide faster and more efficient responses to common admission-related queries, reduce the workload of staff during admission times,  improve the user experience for prospective students and parents, reduce parents waiting in lines for inquiry during admissions and potentially increase the number of applications submitted and enrolled students.</a:t>
            </a:r>
            <a:endParaRPr sz="1500">
              <a:latin typeface="Cambria"/>
              <a:ea typeface="Cambria"/>
              <a:cs typeface="Cambria"/>
              <a:sym typeface="Cambria"/>
            </a:endParaRPr>
          </a:p>
          <a:p>
            <a:pPr marL="863600" lvl="2" indent="-76200" algn="l" rtl="0">
              <a:lnSpc>
                <a:spcPct val="90000"/>
              </a:lnSpc>
              <a:spcBef>
                <a:spcPts val="400"/>
              </a:spcBef>
              <a:spcAft>
                <a:spcPts val="0"/>
              </a:spcAft>
              <a:buClr>
                <a:schemeClr val="dk1"/>
              </a:buClr>
              <a:buSzPts val="1500"/>
              <a:buNone/>
            </a:pPr>
            <a:endParaRPr>
              <a:latin typeface="Cambria"/>
              <a:ea typeface="Cambria"/>
              <a:cs typeface="Cambria"/>
              <a:sym typeface="Cambria"/>
            </a:endParaRPr>
          </a:p>
        </p:txBody>
      </p:sp>
      <p:sp>
        <p:nvSpPr>
          <p:cNvPr id="563" name="Google Shape;563;p71"/>
          <p:cNvSpPr txBox="1">
            <a:spLocks noGrp="1"/>
          </p:cNvSpPr>
          <p:nvPr>
            <p:ph type="dt" idx="10"/>
          </p:nvPr>
        </p:nvSpPr>
        <p:spPr>
          <a:xfrm>
            <a:off x="628650" y="4767263"/>
            <a:ext cx="2057400" cy="273825"/>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27-10-2025</a:t>
            </a:r>
            <a:endParaRPr sz="1400" b="1">
              <a:solidFill>
                <a:srgbClr val="385623"/>
              </a:solidFill>
            </a:endParaRPr>
          </a:p>
        </p:txBody>
      </p:sp>
      <p:sp>
        <p:nvSpPr>
          <p:cNvPr id="564" name="Google Shape;564;p71"/>
          <p:cNvSpPr txBox="1">
            <a:spLocks noGrp="1"/>
          </p:cNvSpPr>
          <p:nvPr>
            <p:ph type="ftr" idx="11"/>
          </p:nvPr>
        </p:nvSpPr>
        <p:spPr>
          <a:xfrm>
            <a:off x="3028950" y="4767263"/>
            <a:ext cx="3086100" cy="273825"/>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1100"/>
              <a:buFont typeface="Arial"/>
              <a:buNone/>
            </a:pPr>
            <a:r>
              <a:rPr lang="en" sz="1400" b="1">
                <a:solidFill>
                  <a:srgbClr val="385623"/>
                </a:solidFill>
              </a:rPr>
              <a:t>FINAL REVIEW PRESENTATION</a:t>
            </a:r>
            <a:endParaRPr sz="1400" b="1">
              <a:solidFill>
                <a:srgbClr val="385623"/>
              </a:solidFill>
            </a:endParaRPr>
          </a:p>
        </p:txBody>
      </p:sp>
      <p:sp>
        <p:nvSpPr>
          <p:cNvPr id="565" name="Google Shape;565;p71"/>
          <p:cNvSpPr txBox="1">
            <a:spLocks noGrp="1"/>
          </p:cNvSpPr>
          <p:nvPr>
            <p:ph type="sldNum" idx="12"/>
          </p:nvPr>
        </p:nvSpPr>
        <p:spPr>
          <a:xfrm>
            <a:off x="6457950" y="4767263"/>
            <a:ext cx="2057400" cy="273825"/>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46</a:t>
            </a:fld>
            <a:endParaRPr/>
          </a:p>
        </p:txBody>
      </p:sp>
      <p:sp>
        <p:nvSpPr>
          <p:cNvPr id="566" name="Google Shape;566;p71"/>
          <p:cNvSpPr txBox="1">
            <a:spLocks noGrp="1"/>
          </p:cNvSpPr>
          <p:nvPr>
            <p:ph type="title"/>
          </p:nvPr>
        </p:nvSpPr>
        <p:spPr>
          <a:xfrm>
            <a:off x="628650" y="180326"/>
            <a:ext cx="7886700" cy="328725"/>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2F5496"/>
              </a:buClr>
              <a:buSzPts val="1800"/>
              <a:buFont typeface="Cambria"/>
              <a:buNone/>
            </a:pPr>
            <a:r>
              <a:rPr lang="en" sz="1800" b="1">
                <a:solidFill>
                  <a:srgbClr val="2F5496"/>
                </a:solidFill>
                <a:latin typeface="Cambria"/>
                <a:ea typeface="Cambria"/>
                <a:cs typeface="Cambria"/>
                <a:sym typeface="Cambria"/>
              </a:rPr>
              <a:t>CONCLUSION</a:t>
            </a:r>
            <a:endParaRPr sz="1800" b="1">
              <a:solidFill>
                <a:srgbClr val="2F5496"/>
              </a:solidFill>
              <a:latin typeface="Cambria"/>
              <a:ea typeface="Cambria"/>
              <a:cs typeface="Cambria"/>
              <a:sym typeface="Cambri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72"/>
          <p:cNvSpPr txBox="1"/>
          <p:nvPr/>
        </p:nvSpPr>
        <p:spPr>
          <a:xfrm>
            <a:off x="614289" y="501431"/>
            <a:ext cx="8011125" cy="6232950"/>
          </a:xfrm>
          <a:prstGeom prst="rect">
            <a:avLst/>
          </a:prstGeom>
          <a:noFill/>
          <a:ln>
            <a:noFill/>
          </a:ln>
        </p:spPr>
        <p:txBody>
          <a:bodyPr spcFirstLastPara="1" wrap="square" lIns="0" tIns="72875" rIns="0" bIns="0" anchor="t" anchorCtr="0">
            <a:spAutoFit/>
          </a:bodyPr>
          <a:lstStyle/>
          <a:p>
            <a:pPr marL="76200" lvl="0" indent="0" algn="l" rtl="0">
              <a:lnSpc>
                <a:spcPct val="100000"/>
              </a:lnSpc>
              <a:spcBef>
                <a:spcPts val="0"/>
              </a:spcBef>
              <a:spcAft>
                <a:spcPts val="0"/>
              </a:spcAft>
              <a:buNone/>
            </a:pPr>
            <a:r>
              <a:rPr lang="en" sz="2100" b="1">
                <a:solidFill>
                  <a:srgbClr val="C00000"/>
                </a:solidFill>
                <a:latin typeface="Calibri"/>
                <a:ea typeface="Calibri"/>
                <a:cs typeface="Calibri"/>
                <a:sym typeface="Calibri"/>
              </a:rPr>
              <a:t>Batch Member 1 : (7376231MZ134</a:t>
            </a:r>
            <a:r>
              <a:rPr lang="en" sz="2100" b="1">
                <a:solidFill>
                  <a:srgbClr val="C00000"/>
                </a:solidFill>
                <a:latin typeface="Arial"/>
                <a:ea typeface="Arial"/>
                <a:cs typeface="Arial"/>
                <a:sym typeface="Arial"/>
              </a:rPr>
              <a:t> </a:t>
            </a:r>
            <a:r>
              <a:rPr lang="en" sz="2100" b="1">
                <a:solidFill>
                  <a:srgbClr val="C00000"/>
                </a:solidFill>
                <a:latin typeface="Calibri"/>
                <a:ea typeface="Calibri"/>
                <a:cs typeface="Calibri"/>
                <a:sym typeface="Calibri"/>
              </a:rPr>
              <a:t>&amp; PRINCIA I)</a:t>
            </a:r>
            <a:endParaRPr sz="2100" b="1">
              <a:solidFill>
                <a:srgbClr val="C00000"/>
              </a:solidFill>
              <a:latin typeface="Calibri"/>
              <a:ea typeface="Calibri"/>
              <a:cs typeface="Calibri"/>
              <a:sym typeface="Calibri"/>
            </a:endParaRPr>
          </a:p>
          <a:p>
            <a:pPr marL="76200" lvl="0" indent="0" algn="l" rtl="0">
              <a:lnSpc>
                <a:spcPct val="100000"/>
              </a:lnSpc>
              <a:spcBef>
                <a:spcPts val="0"/>
              </a:spcBef>
              <a:spcAft>
                <a:spcPts val="0"/>
              </a:spcAft>
              <a:buNone/>
            </a:pPr>
            <a:endParaRPr sz="2100" b="1">
              <a:solidFill>
                <a:srgbClr val="C00000"/>
              </a:solidFill>
              <a:latin typeface="Calibri"/>
              <a:ea typeface="Calibri"/>
              <a:cs typeface="Calibri"/>
              <a:sym typeface="Calibri"/>
            </a:endParaRPr>
          </a:p>
          <a:p>
            <a:pPr marL="76200" lvl="0" indent="0" algn="l" rtl="0">
              <a:lnSpc>
                <a:spcPct val="100000"/>
              </a:lnSpc>
              <a:spcBef>
                <a:spcPts val="0"/>
              </a:spcBef>
              <a:spcAft>
                <a:spcPts val="0"/>
              </a:spcAft>
              <a:buNone/>
            </a:pPr>
            <a:r>
              <a:rPr lang="en" sz="1500">
                <a:solidFill>
                  <a:schemeClr val="dk1"/>
                </a:solidFill>
                <a:latin typeface="Cambria"/>
                <a:ea typeface="Cambria"/>
                <a:cs typeface="Cambria"/>
                <a:sym typeface="Cambria"/>
              </a:rPr>
              <a:t>1.  Installation of Required Packages - Flask, NLTK, NumPy, and scikit-learn</a:t>
            </a: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r>
              <a:rPr lang="en" sz="1500">
                <a:solidFill>
                  <a:schemeClr val="dk1"/>
                </a:solidFill>
                <a:latin typeface="Cambria"/>
                <a:ea typeface="Cambria"/>
                <a:cs typeface="Cambria"/>
                <a:sym typeface="Cambria"/>
              </a:rPr>
              <a:t>2.  Set up a virtual environment and installed Flask, NLTK, NumPy, and scikit-learn for backend development, natural language processing, numerical computations, and machine learning tasks.</a:t>
            </a: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r>
              <a:rPr lang="en" sz="1500">
                <a:solidFill>
                  <a:schemeClr val="dk1"/>
                </a:solidFill>
                <a:latin typeface="Cambria"/>
                <a:ea typeface="Cambria"/>
                <a:cs typeface="Cambria"/>
                <a:sym typeface="Cambria"/>
              </a:rPr>
              <a:t>created API routes in Flask for handling user messages dynamically.</a:t>
            </a: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r>
              <a:rPr lang="en" sz="1500">
                <a:solidFill>
                  <a:schemeClr val="dk1"/>
                </a:solidFill>
                <a:latin typeface="Cambria"/>
                <a:ea typeface="Cambria"/>
                <a:cs typeface="Cambria"/>
                <a:sym typeface="Cambria"/>
              </a:rPr>
              <a:t>3 . Preprocessed text using tokenization, stemming(tense), and lemmatization (definition).</a:t>
            </a: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r>
              <a:rPr lang="en" sz="1500">
                <a:solidFill>
                  <a:schemeClr val="dk1"/>
                </a:solidFill>
                <a:latin typeface="Cambria"/>
                <a:ea typeface="Cambria"/>
                <a:cs typeface="Cambria"/>
                <a:sym typeface="Cambria"/>
              </a:rPr>
              <a:t>4. Conducted manual testing of all features to identify bugs and ensure smooth functionality.</a:t>
            </a: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r>
              <a:rPr lang="en" sz="1500">
                <a:solidFill>
                  <a:schemeClr val="dk1"/>
                </a:solidFill>
                <a:latin typeface="Cambria"/>
                <a:ea typeface="Cambria"/>
                <a:cs typeface="Cambria"/>
                <a:sym typeface="Cambria"/>
              </a:rPr>
              <a:t>5.  Integration the Flask framework to connect the chatbot’s frontend with the backend model.</a:t>
            </a: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r>
              <a:rPr lang="en" sz="1500">
                <a:solidFill>
                  <a:schemeClr val="dk1"/>
                </a:solidFill>
                <a:latin typeface="Cambria"/>
                <a:ea typeface="Cambria"/>
                <a:cs typeface="Cambria"/>
                <a:sym typeface="Cambria"/>
              </a:rPr>
              <a:t>6. Configuration of  Flask to load the trained model and respond to API calls efficiently and  JSON-based data exchange between frontend JavaScript and Flask.</a:t>
            </a: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endParaRPr sz="1500">
              <a:solidFill>
                <a:schemeClr val="dk1"/>
              </a:solidFill>
              <a:latin typeface="Cambria"/>
              <a:ea typeface="Cambria"/>
              <a:cs typeface="Cambria"/>
              <a:sym typeface="Cambria"/>
            </a:endParaRPr>
          </a:p>
          <a:p>
            <a:pPr marL="76200" lvl="0" indent="0" algn="l" rtl="0">
              <a:lnSpc>
                <a:spcPct val="100000"/>
              </a:lnSpc>
              <a:spcBef>
                <a:spcPts val="0"/>
              </a:spcBef>
              <a:spcAft>
                <a:spcPts val="0"/>
              </a:spcAft>
              <a:buNone/>
            </a:pPr>
            <a:endParaRPr sz="2100" b="1">
              <a:solidFill>
                <a:srgbClr val="C00000"/>
              </a:solidFill>
              <a:latin typeface="Calibri"/>
              <a:ea typeface="Calibri"/>
              <a:cs typeface="Calibri"/>
              <a:sym typeface="Calibri"/>
            </a:endParaRPr>
          </a:p>
          <a:p>
            <a:pPr marL="76200" lvl="0" indent="0" algn="l" rtl="0">
              <a:lnSpc>
                <a:spcPct val="100000"/>
              </a:lnSpc>
              <a:spcBef>
                <a:spcPts val="0"/>
              </a:spcBef>
              <a:spcAft>
                <a:spcPts val="0"/>
              </a:spcAft>
              <a:buNone/>
            </a:pPr>
            <a:endParaRPr sz="2100" b="1">
              <a:solidFill>
                <a:srgbClr val="C00000"/>
              </a:solidFill>
              <a:latin typeface="Calibri"/>
              <a:ea typeface="Calibri"/>
              <a:cs typeface="Calibri"/>
              <a:sym typeface="Calibri"/>
            </a:endParaRPr>
          </a:p>
          <a:p>
            <a:pPr marL="76200" lvl="0" indent="0" algn="l" rtl="0">
              <a:lnSpc>
                <a:spcPct val="100000"/>
              </a:lnSpc>
              <a:spcBef>
                <a:spcPts val="0"/>
              </a:spcBef>
              <a:spcAft>
                <a:spcPts val="0"/>
              </a:spcAft>
              <a:buNone/>
            </a:pPr>
            <a:endParaRPr sz="2100" b="1">
              <a:solidFill>
                <a:srgbClr val="C00000"/>
              </a:solidFill>
              <a:latin typeface="Calibri"/>
              <a:ea typeface="Calibri"/>
              <a:cs typeface="Calibri"/>
              <a:sym typeface="Calibri"/>
            </a:endParaRPr>
          </a:p>
          <a:p>
            <a:pPr marL="342900" lvl="0" indent="0" algn="l" rtl="0">
              <a:lnSpc>
                <a:spcPct val="100000"/>
              </a:lnSpc>
              <a:spcBef>
                <a:spcPts val="500"/>
              </a:spcBef>
              <a:spcAft>
                <a:spcPts val="0"/>
              </a:spcAft>
              <a:buNone/>
            </a:pPr>
            <a:endParaRPr sz="2100">
              <a:latin typeface="Calibri"/>
              <a:ea typeface="Calibri"/>
              <a:cs typeface="Calibri"/>
              <a:sym typeface="Calibri"/>
            </a:endParaRPr>
          </a:p>
        </p:txBody>
      </p:sp>
      <p:sp>
        <p:nvSpPr>
          <p:cNvPr id="572" name="Google Shape;572;p72"/>
          <p:cNvSpPr txBox="1">
            <a:spLocks noGrp="1"/>
          </p:cNvSpPr>
          <p:nvPr>
            <p:ph type="dt" idx="10"/>
          </p:nvPr>
        </p:nvSpPr>
        <p:spPr>
          <a:xfrm>
            <a:off x="683419" y="4827794"/>
            <a:ext cx="818100" cy="207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
                <a:solidFill>
                  <a:srgbClr val="385623"/>
                </a:solidFill>
              </a:rPr>
              <a:t>27-10-2025</a:t>
            </a:r>
            <a:endParaRPr sz="900" b="0">
              <a:solidFill>
                <a:srgbClr val="888888"/>
              </a:solidFill>
            </a:endParaRPr>
          </a:p>
        </p:txBody>
      </p:sp>
      <p:sp>
        <p:nvSpPr>
          <p:cNvPr id="573" name="Google Shape;573;p72"/>
          <p:cNvSpPr txBox="1">
            <a:spLocks noGrp="1"/>
          </p:cNvSpPr>
          <p:nvPr>
            <p:ph type="ftr" idx="11"/>
          </p:nvPr>
        </p:nvSpPr>
        <p:spPr>
          <a:xfrm>
            <a:off x="3879542" y="4850081"/>
            <a:ext cx="1720575" cy="138600"/>
          </a:xfrm>
          <a:prstGeom prst="rect">
            <a:avLst/>
          </a:prstGeom>
          <a:noFill/>
          <a:ln>
            <a:noFill/>
          </a:ln>
        </p:spPr>
        <p:txBody>
          <a:bodyPr spcFirstLastPara="1" wrap="square" lIns="0" tIns="0" rIns="0" bIns="0" anchor="t" anchorCtr="0">
            <a:spAutoFit/>
          </a:bodyPr>
          <a:lstStyle/>
          <a:p>
            <a:pPr marL="12700" lvl="0" indent="0" algn="ctr" rtl="0">
              <a:lnSpc>
                <a:spcPct val="103333"/>
              </a:lnSpc>
              <a:spcBef>
                <a:spcPts val="0"/>
              </a:spcBef>
              <a:spcAft>
                <a:spcPts val="0"/>
              </a:spcAft>
              <a:buNone/>
            </a:pPr>
            <a:r>
              <a:rPr lang="en"/>
              <a:t>FINAL REVIEW PRESENTATION</a:t>
            </a:r>
            <a:endParaRPr/>
          </a:p>
        </p:txBody>
      </p:sp>
      <p:sp>
        <p:nvSpPr>
          <p:cNvPr id="574" name="Google Shape;574;p72"/>
          <p:cNvSpPr txBox="1">
            <a:spLocks noGrp="1"/>
          </p:cNvSpPr>
          <p:nvPr>
            <p:ph type="sldNum" idx="12"/>
          </p:nvPr>
        </p:nvSpPr>
        <p:spPr>
          <a:xfrm>
            <a:off x="8138781" y="4897090"/>
            <a:ext cx="350550" cy="2079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47</a:t>
            </a:fld>
            <a:endParaRPr b="0">
              <a:solidFill>
                <a:srgbClr val="888888"/>
              </a:solidFill>
            </a:endParaRPr>
          </a:p>
        </p:txBody>
      </p:sp>
      <p:sp>
        <p:nvSpPr>
          <p:cNvPr id="575" name="Google Shape;575;p72"/>
          <p:cNvSpPr txBox="1">
            <a:spLocks noGrp="1"/>
          </p:cNvSpPr>
          <p:nvPr>
            <p:ph type="title"/>
          </p:nvPr>
        </p:nvSpPr>
        <p:spPr>
          <a:xfrm>
            <a:off x="1713011" y="180681"/>
            <a:ext cx="5717925" cy="286650"/>
          </a:xfrm>
          <a:prstGeom prst="rect">
            <a:avLst/>
          </a:prstGeom>
          <a:noFill/>
          <a:ln>
            <a:noFill/>
          </a:ln>
        </p:spPr>
        <p:txBody>
          <a:bodyPr spcFirstLastPara="1" wrap="square" lIns="0" tIns="9525" rIns="0" bIns="0" anchor="t" anchorCtr="0">
            <a:spAutoFit/>
          </a:bodyPr>
          <a:lstStyle/>
          <a:p>
            <a:pPr marL="520700" lvl="0" indent="0" algn="l" rtl="0">
              <a:lnSpc>
                <a:spcPct val="100000"/>
              </a:lnSpc>
              <a:spcBef>
                <a:spcPts val="0"/>
              </a:spcBef>
              <a:spcAft>
                <a:spcPts val="0"/>
              </a:spcAft>
              <a:buNone/>
            </a:pPr>
            <a:r>
              <a:rPr lang="en"/>
              <a:t>INDIVIDUAL CONTRIBUTIONS TO THE WORK</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73"/>
          <p:cNvSpPr txBox="1">
            <a:spLocks noGrp="1"/>
          </p:cNvSpPr>
          <p:nvPr>
            <p:ph type="body" idx="1"/>
          </p:nvPr>
        </p:nvSpPr>
        <p:spPr>
          <a:xfrm>
            <a:off x="628649" y="581891"/>
            <a:ext cx="8006195" cy="4083627"/>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76200" lvl="0" indent="0" algn="l" rtl="0">
              <a:lnSpc>
                <a:spcPct val="100000"/>
              </a:lnSpc>
              <a:spcBef>
                <a:spcPts val="0"/>
              </a:spcBef>
              <a:spcAft>
                <a:spcPts val="0"/>
              </a:spcAft>
              <a:buClr>
                <a:schemeClr val="dk1"/>
              </a:buClr>
              <a:buFont typeface="Arial"/>
              <a:buNone/>
            </a:pPr>
            <a:r>
              <a:rPr lang="en" b="1">
                <a:solidFill>
                  <a:srgbClr val="C00000"/>
                </a:solidFill>
              </a:rPr>
              <a:t>Batch Member 2 : (7376231CS114 &amp; ANUSHA G )</a:t>
            </a:r>
            <a:endParaRPr/>
          </a:p>
          <a:p>
            <a:pPr marL="76200" lvl="0" indent="0" algn="l" rtl="0">
              <a:lnSpc>
                <a:spcPct val="100000"/>
              </a:lnSpc>
              <a:spcBef>
                <a:spcPts val="0"/>
              </a:spcBef>
              <a:spcAft>
                <a:spcPts val="0"/>
              </a:spcAft>
              <a:buClr>
                <a:schemeClr val="dk1"/>
              </a:buClr>
              <a:buFont typeface="Arial"/>
              <a:buNone/>
            </a:pPr>
            <a:r>
              <a:rPr lang="en" sz="1800" b="1">
                <a:solidFill>
                  <a:srgbClr val="4BACC6"/>
                </a:solidFill>
                <a:latin typeface="Cambria"/>
                <a:ea typeface="Cambria"/>
                <a:cs typeface="Cambria"/>
                <a:sym typeface="Cambria"/>
              </a:rPr>
              <a:t>Styling and Layout</a:t>
            </a:r>
            <a:r>
              <a:rPr lang="en" sz="1500">
                <a:latin typeface="Cambria"/>
                <a:ea typeface="Cambria"/>
                <a:cs typeface="Cambria"/>
                <a:sym typeface="Cambria"/>
              </a:rPr>
              <a:t> </a:t>
            </a:r>
            <a:r>
              <a:rPr lang="en" sz="1800">
                <a:solidFill>
                  <a:srgbClr val="4BACC6"/>
                </a:solidFill>
                <a:latin typeface="Cambria"/>
                <a:ea typeface="Cambria"/>
                <a:cs typeface="Cambria"/>
                <a:sym typeface="Cambria"/>
              </a:rPr>
              <a:t>:</a:t>
            </a:r>
            <a:r>
              <a:rPr lang="en" sz="1500">
                <a:latin typeface="Cambria"/>
                <a:ea typeface="Cambria"/>
                <a:cs typeface="Cambria"/>
                <a:sym typeface="Cambria"/>
              </a:rPr>
              <a:t> </a:t>
            </a:r>
            <a:endParaRPr sz="1500">
              <a:latin typeface="Cambria"/>
              <a:ea typeface="Cambria"/>
              <a:cs typeface="Cambria"/>
              <a:sym typeface="Cambria"/>
            </a:endParaRPr>
          </a:p>
          <a:p>
            <a:pPr marL="76200" lvl="0" indent="0" algn="l" rtl="0">
              <a:lnSpc>
                <a:spcPct val="100000"/>
              </a:lnSpc>
              <a:spcBef>
                <a:spcPts val="0"/>
              </a:spcBef>
              <a:spcAft>
                <a:spcPts val="0"/>
              </a:spcAft>
              <a:buClr>
                <a:schemeClr val="dk1"/>
              </a:buClr>
              <a:buFont typeface="Arial"/>
              <a:buNone/>
            </a:pPr>
            <a:r>
              <a:rPr lang="en" sz="1500">
                <a:latin typeface="Cambria"/>
                <a:ea typeface="Cambria"/>
                <a:cs typeface="Cambria"/>
                <a:sym typeface="Cambria"/>
              </a:rPr>
              <a:t>CSS is used to style HTML elements by adding colors, fonts, margins, padding, borders, and controlling the overall layout of a webpage.</a:t>
            </a:r>
            <a:endParaRPr sz="1500">
              <a:latin typeface="Cambria"/>
              <a:ea typeface="Cambria"/>
              <a:cs typeface="Cambria"/>
              <a:sym typeface="Cambria"/>
            </a:endParaRPr>
          </a:p>
          <a:p>
            <a:pPr marL="76200" lvl="0" indent="0" algn="l" rtl="0">
              <a:lnSpc>
                <a:spcPct val="100000"/>
              </a:lnSpc>
              <a:spcBef>
                <a:spcPts val="0"/>
              </a:spcBef>
              <a:spcAft>
                <a:spcPts val="0"/>
              </a:spcAft>
              <a:buClr>
                <a:schemeClr val="dk1"/>
              </a:buClr>
              <a:buFont typeface="Arial"/>
              <a:buNone/>
            </a:pPr>
            <a:br>
              <a:rPr lang="en" sz="1500">
                <a:latin typeface="Cambria"/>
                <a:ea typeface="Cambria"/>
                <a:cs typeface="Cambria"/>
                <a:sym typeface="Cambria"/>
              </a:rPr>
            </a:br>
            <a:r>
              <a:rPr lang="en" sz="1800" b="1">
                <a:solidFill>
                  <a:srgbClr val="4BACC6"/>
                </a:solidFill>
                <a:latin typeface="Cambria"/>
                <a:ea typeface="Cambria"/>
                <a:cs typeface="Cambria"/>
                <a:sym typeface="Cambria"/>
              </a:rPr>
              <a:t>Responsive Design</a:t>
            </a:r>
            <a:r>
              <a:rPr lang="en" sz="1800">
                <a:solidFill>
                  <a:srgbClr val="4BACC6"/>
                </a:solidFill>
                <a:latin typeface="Cambria"/>
                <a:ea typeface="Cambria"/>
                <a:cs typeface="Cambria"/>
                <a:sym typeface="Cambria"/>
              </a:rPr>
              <a:t> :</a:t>
            </a:r>
            <a:endParaRPr sz="1500">
              <a:latin typeface="Cambria"/>
              <a:ea typeface="Cambria"/>
              <a:cs typeface="Cambria"/>
              <a:sym typeface="Cambria"/>
            </a:endParaRPr>
          </a:p>
          <a:p>
            <a:pPr marL="76200" lvl="0" indent="0" algn="l" rtl="0">
              <a:lnSpc>
                <a:spcPct val="100000"/>
              </a:lnSpc>
              <a:spcBef>
                <a:spcPts val="0"/>
              </a:spcBef>
              <a:spcAft>
                <a:spcPts val="0"/>
              </a:spcAft>
              <a:buClr>
                <a:schemeClr val="dk1"/>
              </a:buClr>
              <a:buFont typeface="Arial"/>
              <a:buNone/>
            </a:pPr>
            <a:r>
              <a:rPr lang="en" sz="1500">
                <a:latin typeface="Cambria"/>
                <a:ea typeface="Cambria"/>
                <a:cs typeface="Cambria"/>
                <a:sym typeface="Cambria"/>
              </a:rPr>
              <a:t> CSS enables webpages to adapt to different screen sizes and devices using media queries and flexible layouts.</a:t>
            </a:r>
            <a:endParaRPr sz="1500">
              <a:latin typeface="Cambria"/>
              <a:ea typeface="Cambria"/>
              <a:cs typeface="Cambria"/>
              <a:sym typeface="Cambria"/>
            </a:endParaRPr>
          </a:p>
          <a:p>
            <a:pPr marL="76200" lvl="0" indent="0" algn="l" rtl="0">
              <a:lnSpc>
                <a:spcPct val="100000"/>
              </a:lnSpc>
              <a:spcBef>
                <a:spcPts val="0"/>
              </a:spcBef>
              <a:spcAft>
                <a:spcPts val="0"/>
              </a:spcAft>
              <a:buClr>
                <a:schemeClr val="dk1"/>
              </a:buClr>
              <a:buFont typeface="Arial"/>
              <a:buNone/>
            </a:pPr>
            <a:br>
              <a:rPr lang="en" sz="1500">
                <a:latin typeface="Cambria"/>
                <a:ea typeface="Cambria"/>
                <a:cs typeface="Cambria"/>
                <a:sym typeface="Cambria"/>
              </a:rPr>
            </a:br>
            <a:r>
              <a:rPr lang="en" sz="1800" b="1">
                <a:solidFill>
                  <a:srgbClr val="4BACC6"/>
                </a:solidFill>
                <a:latin typeface="Cambria"/>
                <a:ea typeface="Cambria"/>
                <a:cs typeface="Cambria"/>
                <a:sym typeface="Cambria"/>
              </a:rPr>
              <a:t>Separation of Content and Design:</a:t>
            </a:r>
            <a:r>
              <a:rPr lang="en" sz="1500">
                <a:latin typeface="Cambria"/>
                <a:ea typeface="Cambria"/>
                <a:cs typeface="Cambria"/>
                <a:sym typeface="Cambria"/>
              </a:rPr>
              <a:t> </a:t>
            </a:r>
            <a:endParaRPr sz="1500">
              <a:latin typeface="Cambria"/>
              <a:ea typeface="Cambria"/>
              <a:cs typeface="Cambria"/>
              <a:sym typeface="Cambria"/>
            </a:endParaRPr>
          </a:p>
          <a:p>
            <a:pPr marL="76200" lvl="0" indent="0" algn="l" rtl="0">
              <a:lnSpc>
                <a:spcPct val="100000"/>
              </a:lnSpc>
              <a:spcBef>
                <a:spcPts val="0"/>
              </a:spcBef>
              <a:spcAft>
                <a:spcPts val="0"/>
              </a:spcAft>
              <a:buClr>
                <a:schemeClr val="dk1"/>
              </a:buClr>
              <a:buFont typeface="Arial"/>
              <a:buNone/>
            </a:pPr>
            <a:r>
              <a:rPr lang="en" sz="1500">
                <a:latin typeface="Cambria"/>
                <a:ea typeface="Cambria"/>
                <a:cs typeface="Cambria"/>
                <a:sym typeface="Cambria"/>
              </a:rPr>
              <a:t>CSS keeps design separate from HTML structure, making code cleaner, reusable, and easier to maintain.</a:t>
            </a:r>
            <a:endParaRPr sz="1500">
              <a:latin typeface="Cambria"/>
              <a:ea typeface="Cambria"/>
              <a:cs typeface="Cambria"/>
              <a:sym typeface="Cambria"/>
            </a:endParaRPr>
          </a:p>
          <a:p>
            <a:pPr marL="76200" lvl="0" indent="0" algn="l" rtl="0">
              <a:lnSpc>
                <a:spcPct val="100000"/>
              </a:lnSpc>
              <a:spcBef>
                <a:spcPts val="0"/>
              </a:spcBef>
              <a:spcAft>
                <a:spcPts val="0"/>
              </a:spcAft>
              <a:buClr>
                <a:schemeClr val="dk1"/>
              </a:buClr>
              <a:buFont typeface="Arial"/>
              <a:buNone/>
            </a:pPr>
            <a:br>
              <a:rPr lang="en" sz="1500">
                <a:latin typeface="Cambria"/>
                <a:ea typeface="Cambria"/>
                <a:cs typeface="Cambria"/>
                <a:sym typeface="Cambria"/>
              </a:rPr>
            </a:br>
            <a:r>
              <a:rPr lang="en" sz="1800" b="1">
                <a:solidFill>
                  <a:srgbClr val="4BACC6"/>
                </a:solidFill>
                <a:latin typeface="Cambria"/>
                <a:ea typeface="Cambria"/>
                <a:cs typeface="Cambria"/>
                <a:sym typeface="Cambria"/>
              </a:rPr>
              <a:t>Advanced Features:</a:t>
            </a:r>
            <a:r>
              <a:rPr lang="en" sz="1500">
                <a:latin typeface="Cambria"/>
                <a:ea typeface="Cambria"/>
                <a:cs typeface="Cambria"/>
                <a:sym typeface="Cambria"/>
              </a:rPr>
              <a:t> </a:t>
            </a:r>
            <a:endParaRPr sz="1500">
              <a:latin typeface="Cambria"/>
              <a:ea typeface="Cambria"/>
              <a:cs typeface="Cambria"/>
              <a:sym typeface="Cambria"/>
            </a:endParaRPr>
          </a:p>
          <a:p>
            <a:pPr marL="76200" lvl="0" indent="0" algn="l" rtl="0">
              <a:lnSpc>
                <a:spcPct val="100000"/>
              </a:lnSpc>
              <a:spcBef>
                <a:spcPts val="0"/>
              </a:spcBef>
              <a:spcAft>
                <a:spcPts val="0"/>
              </a:spcAft>
              <a:buClr>
                <a:schemeClr val="dk1"/>
              </a:buClr>
              <a:buFont typeface="Arial"/>
              <a:buNone/>
            </a:pPr>
            <a:r>
              <a:rPr lang="en" sz="1500">
                <a:latin typeface="Cambria"/>
                <a:ea typeface="Cambria"/>
                <a:cs typeface="Cambria"/>
                <a:sym typeface="Cambria"/>
              </a:rPr>
              <a:t>CSS provides animations, transitions, flexbox, and grid systems to create interactive and modern user inter</a:t>
            </a:r>
            <a:endParaRPr sz="2800">
              <a:latin typeface="Cambria"/>
              <a:ea typeface="Cambria"/>
              <a:cs typeface="Cambria"/>
              <a:sym typeface="Cambria"/>
            </a:endParaRPr>
          </a:p>
          <a:p>
            <a:pPr marL="0" lvl="0" indent="0" algn="l" rtl="0">
              <a:lnSpc>
                <a:spcPct val="90000"/>
              </a:lnSpc>
              <a:spcBef>
                <a:spcPts val="800"/>
              </a:spcBef>
              <a:spcAft>
                <a:spcPts val="0"/>
              </a:spcAft>
              <a:buClr>
                <a:schemeClr val="dk1"/>
              </a:buClr>
              <a:buSzPts val="2100"/>
              <a:buNone/>
            </a:pPr>
            <a:endParaRPr b="1">
              <a:solidFill>
                <a:srgbClr val="C00000"/>
              </a:solidFill>
            </a:endParaRPr>
          </a:p>
        </p:txBody>
      </p:sp>
      <p:sp>
        <p:nvSpPr>
          <p:cNvPr id="581" name="Google Shape;581;p7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27-10-2025</a:t>
            </a:r>
            <a:endParaRPr sz="1400" b="1">
              <a:solidFill>
                <a:srgbClr val="385623"/>
              </a:solidFill>
            </a:endParaRPr>
          </a:p>
        </p:txBody>
      </p:sp>
      <p:sp>
        <p:nvSpPr>
          <p:cNvPr id="582" name="Google Shape;582;p7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FINAL  REVIEW PRESENTATION</a:t>
            </a:r>
            <a:endParaRPr/>
          </a:p>
        </p:txBody>
      </p:sp>
      <p:sp>
        <p:nvSpPr>
          <p:cNvPr id="583" name="Google Shape;583;p7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48</a:t>
            </a:fld>
            <a:endParaRPr/>
          </a:p>
        </p:txBody>
      </p:sp>
      <p:sp>
        <p:nvSpPr>
          <p:cNvPr id="584" name="Google Shape;584;p73"/>
          <p:cNvSpPr txBox="1">
            <a:spLocks noGrp="1"/>
          </p:cNvSpPr>
          <p:nvPr>
            <p:ph type="title"/>
          </p:nvPr>
        </p:nvSpPr>
        <p:spPr>
          <a:xfrm>
            <a:off x="628650" y="180325"/>
            <a:ext cx="7886700" cy="328829"/>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0070C0"/>
              </a:buClr>
              <a:buSzPts val="1800"/>
              <a:buFont typeface="Cambria"/>
              <a:buNone/>
            </a:pPr>
            <a:r>
              <a:rPr lang="en" sz="1800" b="1">
                <a:solidFill>
                  <a:srgbClr val="0070C0"/>
                </a:solidFill>
                <a:latin typeface="Cambria"/>
                <a:ea typeface="Cambria"/>
                <a:cs typeface="Cambria"/>
                <a:sym typeface="Cambria"/>
              </a:rPr>
              <a:t>INDIVIDUAL CONTRIBUTIONS TO THE WORK </a:t>
            </a:r>
            <a:endParaRPr sz="1800" b="1">
              <a:solidFill>
                <a:srgbClr val="0070C0"/>
              </a:solidFill>
              <a:latin typeface="Cambria"/>
              <a:ea typeface="Cambria"/>
              <a:cs typeface="Cambria"/>
              <a:sym typeface="Cambri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74"/>
          <p:cNvSpPr txBox="1">
            <a:spLocks noGrp="1"/>
          </p:cNvSpPr>
          <p:nvPr>
            <p:ph type="dt" idx="10"/>
          </p:nvPr>
        </p:nvSpPr>
        <p:spPr>
          <a:xfrm>
            <a:off x="683419" y="4827794"/>
            <a:ext cx="818100" cy="41557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a:solidFill>
                  <a:srgbClr val="385623"/>
                </a:solidFill>
              </a:rPr>
              <a:t>27-10-2025</a:t>
            </a:r>
            <a:endParaRPr>
              <a:solidFill>
                <a:srgbClr val="385623"/>
              </a:solidFill>
            </a:endParaRPr>
          </a:p>
          <a:p>
            <a:pPr marL="12700" lvl="0" indent="0" algn="l" rtl="0">
              <a:lnSpc>
                <a:spcPct val="103333"/>
              </a:lnSpc>
              <a:spcBef>
                <a:spcPts val="0"/>
              </a:spcBef>
              <a:spcAft>
                <a:spcPts val="0"/>
              </a:spcAft>
              <a:buNone/>
            </a:pPr>
            <a:endParaRPr b="0">
              <a:solidFill>
                <a:srgbClr val="888888"/>
              </a:solidFill>
            </a:endParaRPr>
          </a:p>
        </p:txBody>
      </p:sp>
      <p:sp>
        <p:nvSpPr>
          <p:cNvPr id="590" name="Google Shape;590;p74"/>
          <p:cNvSpPr txBox="1">
            <a:spLocks noGrp="1"/>
          </p:cNvSpPr>
          <p:nvPr>
            <p:ph type="ftr" idx="11"/>
          </p:nvPr>
        </p:nvSpPr>
        <p:spPr>
          <a:xfrm>
            <a:off x="3879543" y="4850081"/>
            <a:ext cx="1695150" cy="138600"/>
          </a:xfrm>
          <a:prstGeom prst="rect">
            <a:avLst/>
          </a:prstGeom>
          <a:noFill/>
          <a:ln>
            <a:noFill/>
          </a:ln>
        </p:spPr>
        <p:txBody>
          <a:bodyPr spcFirstLastPara="1" wrap="square" lIns="0" tIns="0" rIns="0" bIns="0" anchor="t" anchorCtr="0">
            <a:spAutoFit/>
          </a:bodyPr>
          <a:lstStyle/>
          <a:p>
            <a:pPr marL="12700" lvl="0" indent="0" algn="ctr" rtl="0">
              <a:lnSpc>
                <a:spcPct val="103333"/>
              </a:lnSpc>
              <a:spcBef>
                <a:spcPts val="0"/>
              </a:spcBef>
              <a:spcAft>
                <a:spcPts val="0"/>
              </a:spcAft>
              <a:buNone/>
            </a:pPr>
            <a:r>
              <a:rPr lang="en"/>
              <a:t>FINAL REVIEW PRESENTATION</a:t>
            </a:r>
            <a:endParaRPr/>
          </a:p>
        </p:txBody>
      </p:sp>
      <p:sp>
        <p:nvSpPr>
          <p:cNvPr id="591" name="Google Shape;591;p74"/>
          <p:cNvSpPr txBox="1">
            <a:spLocks noGrp="1"/>
          </p:cNvSpPr>
          <p:nvPr>
            <p:ph type="sldNum" idx="12"/>
          </p:nvPr>
        </p:nvSpPr>
        <p:spPr>
          <a:xfrm>
            <a:off x="8306632" y="4827788"/>
            <a:ext cx="366075" cy="207900"/>
          </a:xfrm>
          <a:prstGeom prst="rect">
            <a:avLst/>
          </a:prstGeom>
          <a:noFill/>
          <a:ln>
            <a:noFill/>
          </a:ln>
        </p:spPr>
        <p:txBody>
          <a:bodyPr spcFirstLastPara="1" wrap="square" lIns="0" tIns="0" rIns="0" bIns="0" anchor="t" anchorCtr="0">
            <a:spAutoFit/>
          </a:bodyPr>
          <a:lstStyle/>
          <a:p>
            <a:pPr marL="25400" lvl="0" indent="0" algn="r" rtl="0">
              <a:lnSpc>
                <a:spcPct val="103333"/>
              </a:lnSpc>
              <a:spcBef>
                <a:spcPts val="0"/>
              </a:spcBef>
              <a:spcAft>
                <a:spcPts val="0"/>
              </a:spcAft>
              <a:buNone/>
            </a:pPr>
            <a:fld id="{00000000-1234-1234-1234-123412341234}" type="slidenum">
              <a:rPr lang="en"/>
              <a:t>49</a:t>
            </a:fld>
            <a:endParaRPr/>
          </a:p>
        </p:txBody>
      </p:sp>
      <p:sp>
        <p:nvSpPr>
          <p:cNvPr id="592" name="Google Shape;592;p74"/>
          <p:cNvSpPr txBox="1"/>
          <p:nvPr/>
        </p:nvSpPr>
        <p:spPr>
          <a:xfrm>
            <a:off x="760838" y="659888"/>
            <a:ext cx="7799175" cy="40347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2100" b="1">
                <a:solidFill>
                  <a:srgbClr val="C00000"/>
                </a:solidFill>
                <a:latin typeface="Calibri"/>
                <a:ea typeface="Calibri"/>
                <a:cs typeface="Calibri"/>
                <a:sym typeface="Calibri"/>
              </a:rPr>
              <a:t>Batch Member 3 : (7376232IT184 &amp; KONDAMMAL C )</a:t>
            </a:r>
            <a:endParaRPr sz="2100" b="1">
              <a:solidFill>
                <a:srgbClr val="C00000"/>
              </a:solidFill>
              <a:latin typeface="Calibri"/>
              <a:ea typeface="Calibri"/>
              <a:cs typeface="Calibri"/>
              <a:sym typeface="Calibri"/>
            </a:endParaRPr>
          </a:p>
          <a:p>
            <a:pPr marL="342900" lvl="0" indent="-260350" algn="l" rtl="0">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Created real-time search and filter feature that instantly displays relevant results as the user types.</a:t>
            </a:r>
            <a:endParaRPr sz="1500">
              <a:solidFill>
                <a:schemeClr val="dk1"/>
              </a:solidFill>
              <a:latin typeface="Cambria"/>
              <a:ea typeface="Cambria"/>
              <a:cs typeface="Cambria"/>
              <a:sym typeface="Cambria"/>
            </a:endParaRPr>
          </a:p>
          <a:p>
            <a:pPr marL="342900" lvl="0" indent="0" algn="l" rtl="0">
              <a:spcBef>
                <a:spcPts val="0"/>
              </a:spcBef>
              <a:spcAft>
                <a:spcPts val="0"/>
              </a:spcAft>
              <a:buNone/>
            </a:pPr>
            <a:endParaRPr sz="1500">
              <a:solidFill>
                <a:schemeClr val="dk1"/>
              </a:solidFill>
              <a:latin typeface="Cambria"/>
              <a:ea typeface="Cambria"/>
              <a:cs typeface="Cambria"/>
              <a:sym typeface="Cambria"/>
            </a:endParaRPr>
          </a:p>
          <a:p>
            <a:pPr marL="342900" lvl="0" indent="-260350" algn="l" rtl="0">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Built responsive UI behavior (show/hide sections, highlight active tags) through JavaScript DOM control.</a:t>
            </a:r>
            <a:endParaRPr sz="1500">
              <a:solidFill>
                <a:schemeClr val="dk1"/>
              </a:solidFill>
              <a:latin typeface="Cambria"/>
              <a:ea typeface="Cambria"/>
              <a:cs typeface="Cambria"/>
              <a:sym typeface="Cambria"/>
            </a:endParaRPr>
          </a:p>
          <a:p>
            <a:pPr marL="342900" lvl="0" indent="0" algn="l" rtl="0">
              <a:spcBef>
                <a:spcPts val="0"/>
              </a:spcBef>
              <a:spcAft>
                <a:spcPts val="0"/>
              </a:spcAft>
              <a:buNone/>
            </a:pPr>
            <a:endParaRPr sz="1500">
              <a:solidFill>
                <a:schemeClr val="dk1"/>
              </a:solidFill>
              <a:latin typeface="Cambria"/>
              <a:ea typeface="Cambria"/>
              <a:cs typeface="Cambria"/>
              <a:sym typeface="Cambria"/>
            </a:endParaRPr>
          </a:p>
          <a:p>
            <a:pPr marL="342900" lvl="0" indent="-260350" algn="l" rtl="0">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Developed core logic for adding, editing, and deleting items/snippets using pure JavaScript (DOM manipulation &amp; event handling).</a:t>
            </a:r>
            <a:endParaRPr sz="1500">
              <a:solidFill>
                <a:schemeClr val="dk1"/>
              </a:solidFill>
              <a:latin typeface="Cambria"/>
              <a:ea typeface="Cambria"/>
              <a:cs typeface="Cambria"/>
              <a:sym typeface="Cambria"/>
            </a:endParaRPr>
          </a:p>
          <a:p>
            <a:pPr marL="342900" lvl="0" indent="0" algn="l" rtl="0">
              <a:spcBef>
                <a:spcPts val="0"/>
              </a:spcBef>
              <a:spcAft>
                <a:spcPts val="0"/>
              </a:spcAft>
              <a:buNone/>
            </a:pPr>
            <a:endParaRPr sz="1500">
              <a:solidFill>
                <a:schemeClr val="dk1"/>
              </a:solidFill>
              <a:latin typeface="Cambria"/>
              <a:ea typeface="Cambria"/>
              <a:cs typeface="Cambria"/>
              <a:sym typeface="Cambria"/>
            </a:endParaRPr>
          </a:p>
          <a:p>
            <a:pPr marL="342900" lvl="0" indent="-260350" algn="l" rtl="0">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Optimized code readability and modularity by organizing functions for CRUD operations, rendering, and event binding separately.</a:t>
            </a:r>
            <a:endParaRPr sz="1500">
              <a:solidFill>
                <a:schemeClr val="dk1"/>
              </a:solidFill>
              <a:latin typeface="Cambria"/>
              <a:ea typeface="Cambria"/>
              <a:cs typeface="Cambria"/>
              <a:sym typeface="Cambria"/>
            </a:endParaRPr>
          </a:p>
          <a:p>
            <a:pPr marL="342900" lvl="0" indent="0" algn="l" rtl="0">
              <a:spcBef>
                <a:spcPts val="0"/>
              </a:spcBef>
              <a:spcAft>
                <a:spcPts val="0"/>
              </a:spcAft>
              <a:buNone/>
            </a:pPr>
            <a:endParaRPr sz="1500">
              <a:solidFill>
                <a:schemeClr val="dk1"/>
              </a:solidFill>
              <a:latin typeface="Cambria"/>
              <a:ea typeface="Cambria"/>
              <a:cs typeface="Cambria"/>
              <a:sym typeface="Cambria"/>
            </a:endParaRPr>
          </a:p>
          <a:p>
            <a:pPr marL="342900" lvl="0" indent="-260350" algn="l" rtl="0">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Handled user interactions efficiently using modern ES6+ features like arrow functions, template literals, and array methods.</a:t>
            </a:r>
            <a:endParaRPr sz="1500">
              <a:solidFill>
                <a:schemeClr val="dk1"/>
              </a:solidFill>
              <a:latin typeface="Cambria"/>
              <a:ea typeface="Cambria"/>
              <a:cs typeface="Cambria"/>
              <a:sym typeface="Cambria"/>
            </a:endParaRPr>
          </a:p>
          <a:p>
            <a:pPr marL="0" lvl="0" indent="0" algn="l" rtl="0">
              <a:spcBef>
                <a:spcPts val="500"/>
              </a:spcBef>
              <a:spcAft>
                <a:spcPts val="0"/>
              </a:spcAft>
              <a:buNone/>
            </a:pPr>
            <a:endParaRPr sz="1800">
              <a:solidFill>
                <a:schemeClr val="dk1"/>
              </a:solidFill>
              <a:latin typeface="Cambria"/>
              <a:ea typeface="Cambria"/>
              <a:cs typeface="Cambria"/>
              <a:sym typeface="Cambria"/>
            </a:endParaRPr>
          </a:p>
        </p:txBody>
      </p:sp>
      <p:sp>
        <p:nvSpPr>
          <p:cNvPr id="593" name="Google Shape;593;p74"/>
          <p:cNvSpPr txBox="1">
            <a:spLocks noGrp="1"/>
          </p:cNvSpPr>
          <p:nvPr>
            <p:ph type="title"/>
          </p:nvPr>
        </p:nvSpPr>
        <p:spPr>
          <a:xfrm>
            <a:off x="1713011" y="180681"/>
            <a:ext cx="5717925" cy="286650"/>
          </a:xfrm>
          <a:prstGeom prst="rect">
            <a:avLst/>
          </a:prstGeom>
          <a:noFill/>
          <a:ln>
            <a:noFill/>
          </a:ln>
        </p:spPr>
        <p:txBody>
          <a:bodyPr spcFirstLastPara="1" wrap="square" lIns="0" tIns="9525" rIns="0" bIns="0" anchor="t" anchorCtr="0">
            <a:spAutoFit/>
          </a:bodyPr>
          <a:lstStyle/>
          <a:p>
            <a:pPr marL="520700" lvl="0" indent="0" algn="l" rtl="0">
              <a:lnSpc>
                <a:spcPct val="100000"/>
              </a:lnSpc>
              <a:spcBef>
                <a:spcPts val="0"/>
              </a:spcBef>
              <a:spcAft>
                <a:spcPts val="0"/>
              </a:spcAft>
              <a:buNone/>
            </a:pPr>
            <a:r>
              <a:rPr lang="en"/>
              <a:t>INDIVIDUAL CONTRIBUTIONS TO THE WORK</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75"/>
          <p:cNvSpPr txBox="1">
            <a:spLocks noGrp="1"/>
          </p:cNvSpPr>
          <p:nvPr>
            <p:ph type="title"/>
          </p:nvPr>
        </p:nvSpPr>
        <p:spPr>
          <a:xfrm>
            <a:off x="1713011" y="180681"/>
            <a:ext cx="5717925" cy="498825"/>
          </a:xfrm>
          <a:prstGeom prst="rect">
            <a:avLst/>
          </a:prstGeom>
        </p:spPr>
        <p:txBody>
          <a:bodyPr spcFirstLastPara="1" wrap="square" lIns="0" tIns="0" rIns="0" bIns="0" anchor="t" anchorCtr="0">
            <a:spAutoFit/>
          </a:bodyPr>
          <a:lstStyle/>
          <a:p>
            <a:pPr marL="520700" lvl="0" indent="0" algn="l" rtl="0">
              <a:spcBef>
                <a:spcPts val="0"/>
              </a:spcBef>
              <a:spcAft>
                <a:spcPts val="0"/>
              </a:spcAft>
              <a:buClr>
                <a:srgbClr val="000000"/>
              </a:buClr>
              <a:buFont typeface="Arial"/>
              <a:buNone/>
            </a:pPr>
            <a:r>
              <a:rPr lang="en"/>
              <a:t>INDIVIDUAL CONTRIBUTIONS TO THE WORK</a:t>
            </a:r>
            <a:endParaRPr/>
          </a:p>
          <a:p>
            <a:pPr marL="0" lvl="0" indent="0" algn="l" rtl="0">
              <a:spcBef>
                <a:spcPts val="0"/>
              </a:spcBef>
              <a:spcAft>
                <a:spcPts val="0"/>
              </a:spcAft>
              <a:buNone/>
            </a:pPr>
            <a:endParaRPr/>
          </a:p>
        </p:txBody>
      </p:sp>
      <p:sp>
        <p:nvSpPr>
          <p:cNvPr id="599" name="Google Shape;599;p75"/>
          <p:cNvSpPr txBox="1"/>
          <p:nvPr/>
        </p:nvSpPr>
        <p:spPr>
          <a:xfrm>
            <a:off x="661894" y="574613"/>
            <a:ext cx="7945875" cy="4467600"/>
          </a:xfrm>
          <a:prstGeom prst="rect">
            <a:avLst/>
          </a:prstGeom>
          <a:noFill/>
          <a:ln>
            <a:noFill/>
          </a:ln>
        </p:spPr>
        <p:txBody>
          <a:bodyPr spcFirstLastPara="1" wrap="square" lIns="68575" tIns="68575" rIns="68575" bIns="68575" anchor="t" anchorCtr="0">
            <a:spAutoFit/>
          </a:bodyPr>
          <a:lstStyle/>
          <a:p>
            <a:pPr marL="76200" lvl="0" indent="0" algn="l" rtl="0">
              <a:spcBef>
                <a:spcPts val="0"/>
              </a:spcBef>
              <a:spcAft>
                <a:spcPts val="0"/>
              </a:spcAft>
              <a:buNone/>
            </a:pPr>
            <a:r>
              <a:rPr lang="en" sz="2100" b="1">
                <a:solidFill>
                  <a:srgbClr val="C00000"/>
                </a:solidFill>
                <a:latin typeface="Calibri"/>
                <a:ea typeface="Calibri"/>
                <a:cs typeface="Calibri"/>
                <a:sym typeface="Calibri"/>
              </a:rPr>
              <a:t>Batch Member 4 : (7376231MZ108 &amp; GOKUL RITHIS N )</a:t>
            </a:r>
            <a:endParaRPr sz="1000" b="1">
              <a:solidFill>
                <a:schemeClr val="dk1"/>
              </a:solidFill>
            </a:endParaRPr>
          </a:p>
          <a:p>
            <a:pPr marL="342900" lvl="0" indent="-260350" algn="l" rtl="0">
              <a:lnSpc>
                <a:spcPct val="115000"/>
              </a:lnSpc>
              <a:spcBef>
                <a:spcPts val="900"/>
              </a:spcBef>
              <a:spcAft>
                <a:spcPts val="0"/>
              </a:spcAft>
              <a:buClr>
                <a:schemeClr val="dk1"/>
              </a:buClr>
              <a:buSzPts val="1500"/>
              <a:buChar char="●"/>
            </a:pPr>
            <a:r>
              <a:rPr lang="en" sz="1500">
                <a:solidFill>
                  <a:schemeClr val="dk1"/>
                </a:solidFill>
                <a:latin typeface="Cambria"/>
                <a:ea typeface="Cambria"/>
                <a:cs typeface="Cambria"/>
                <a:sym typeface="Cambria"/>
              </a:rPr>
              <a:t>Defined Chatbot Objective: Identified the purpose of the chatbot to assist students with admission, fees, courses, and other queries.</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Char char="●"/>
            </a:pPr>
            <a:r>
              <a:rPr lang="en" sz="1500">
                <a:solidFill>
                  <a:schemeClr val="dk1"/>
                </a:solidFill>
                <a:latin typeface="Cambria"/>
                <a:ea typeface="Cambria"/>
                <a:cs typeface="Cambria"/>
                <a:sym typeface="Cambria"/>
              </a:rPr>
              <a:t>Collected Real Questions: Gathered FAQs from the college website and through interactions with students to understand common queries.</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Char char="●"/>
            </a:pPr>
            <a:r>
              <a:rPr lang="en" sz="1500">
                <a:solidFill>
                  <a:schemeClr val="dk1"/>
                </a:solidFill>
                <a:latin typeface="Cambria"/>
                <a:ea typeface="Cambria"/>
                <a:cs typeface="Cambria"/>
                <a:sym typeface="Cambria"/>
              </a:rPr>
              <a:t>Organized Intents: Structured collected questions into intents with unique tags representing different categories like “admission_procedure,” “fee_structure,” and “course_offerings.”</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Char char="●"/>
            </a:pPr>
            <a:r>
              <a:rPr lang="en" sz="1500">
                <a:solidFill>
                  <a:schemeClr val="dk1"/>
                </a:solidFill>
                <a:latin typeface="Cambria"/>
                <a:ea typeface="Cambria"/>
                <a:cs typeface="Cambria"/>
                <a:sym typeface="Cambria"/>
              </a:rPr>
              <a:t>Created Patterns: For each intent, wrote multiple patterns representing different ways users might ask the same question.</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Char char="●"/>
            </a:pPr>
            <a:r>
              <a:rPr lang="en" sz="1500">
                <a:solidFill>
                  <a:schemeClr val="dk1"/>
                </a:solidFill>
                <a:latin typeface="Cambria"/>
                <a:ea typeface="Cambria"/>
                <a:cs typeface="Cambria"/>
                <a:sym typeface="Cambria"/>
              </a:rPr>
              <a:t>Defined Responses: Paired each intent with appropriate responses the chatbot should provide to user queries.</a:t>
            </a:r>
            <a:endParaRPr sz="1500">
              <a:solidFill>
                <a:schemeClr val="dk1"/>
              </a:solidFill>
              <a:latin typeface="Cambria"/>
              <a:ea typeface="Cambria"/>
              <a:cs typeface="Cambria"/>
              <a:sym typeface="Cambria"/>
            </a:endParaRPr>
          </a:p>
          <a:p>
            <a:pPr marL="342900" lvl="0" indent="-260350" algn="l" rtl="0">
              <a:lnSpc>
                <a:spcPct val="115000"/>
              </a:lnSpc>
              <a:spcBef>
                <a:spcPts val="0"/>
              </a:spcBef>
              <a:spcAft>
                <a:spcPts val="0"/>
              </a:spcAft>
              <a:buClr>
                <a:schemeClr val="dk1"/>
              </a:buClr>
              <a:buSzPts val="1500"/>
              <a:buChar char="●"/>
            </a:pPr>
            <a:r>
              <a:rPr lang="en" sz="1500">
                <a:solidFill>
                  <a:schemeClr val="dk1"/>
                </a:solidFill>
                <a:latin typeface="Cambria"/>
                <a:ea typeface="Cambria"/>
                <a:cs typeface="Cambria"/>
                <a:sym typeface="Cambria"/>
              </a:rPr>
              <a:t>Created sample data structures and defined how data will be stored or retrieved in the project.</a:t>
            </a:r>
            <a:endParaRPr sz="1500">
              <a:solidFill>
                <a:schemeClr val="dk1"/>
              </a:solidFill>
              <a:latin typeface="Cambria"/>
              <a:ea typeface="Cambria"/>
              <a:cs typeface="Cambria"/>
              <a:sym typeface="Cambria"/>
            </a:endParaRPr>
          </a:p>
          <a:p>
            <a:pPr marL="0" lvl="0" indent="0" algn="l" rtl="0">
              <a:spcBef>
                <a:spcPts val="900"/>
              </a:spcBef>
              <a:spcAft>
                <a:spcPts val="0"/>
              </a:spcAft>
              <a:buNone/>
            </a:pPr>
            <a:endParaRPr sz="2100">
              <a:solidFill>
                <a:srgbClr val="C00000"/>
              </a:solidFill>
              <a:latin typeface="Calibri"/>
              <a:ea typeface="Calibri"/>
              <a:cs typeface="Calibri"/>
              <a:sym typeface="Calibri"/>
            </a:endParaRPr>
          </a:p>
        </p:txBody>
      </p:sp>
      <p:sp>
        <p:nvSpPr>
          <p:cNvPr id="600" name="Google Shape;600;p75"/>
          <p:cNvSpPr txBox="1">
            <a:spLocks noGrp="1"/>
          </p:cNvSpPr>
          <p:nvPr>
            <p:ph type="sldNum" idx="12"/>
          </p:nvPr>
        </p:nvSpPr>
        <p:spPr>
          <a:xfrm>
            <a:off x="8306633" y="4765123"/>
            <a:ext cx="391275" cy="207900"/>
          </a:xfrm>
          <a:prstGeom prst="rect">
            <a:avLst/>
          </a:prstGeom>
          <a:noFill/>
          <a:ln>
            <a:noFill/>
          </a:ln>
        </p:spPr>
        <p:txBody>
          <a:bodyPr spcFirstLastPara="1" wrap="square" lIns="0" tIns="0" rIns="0" bIns="0" anchor="t" anchorCtr="0">
            <a:spAutoFit/>
          </a:bodyPr>
          <a:lstStyle/>
          <a:p>
            <a:pPr marL="63500" lvl="0" indent="0" algn="r" rtl="0">
              <a:spcBef>
                <a:spcPts val="0"/>
              </a:spcBef>
              <a:spcAft>
                <a:spcPts val="0"/>
              </a:spcAft>
              <a:buClr>
                <a:srgbClr val="000000"/>
              </a:buClr>
              <a:buFont typeface="Arial"/>
              <a:buNone/>
            </a:pPr>
            <a:fld id="{00000000-1234-1234-1234-123412341234}" type="slidenum">
              <a:rPr lang="en"/>
              <a:t>50</a:t>
            </a:fld>
            <a:endParaRPr b="0">
              <a:solidFill>
                <a:srgbClr val="888888"/>
              </a:solidFill>
            </a:endParaRPr>
          </a:p>
        </p:txBody>
      </p:sp>
      <p:sp>
        <p:nvSpPr>
          <p:cNvPr id="601" name="Google Shape;601;p75"/>
          <p:cNvSpPr txBox="1"/>
          <p:nvPr/>
        </p:nvSpPr>
        <p:spPr>
          <a:xfrm>
            <a:off x="497513" y="4695938"/>
            <a:ext cx="2250000" cy="346275"/>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400" b="1">
                <a:solidFill>
                  <a:srgbClr val="385623"/>
                </a:solidFill>
                <a:latin typeface="Calibri"/>
                <a:ea typeface="Calibri"/>
                <a:cs typeface="Calibri"/>
                <a:sym typeface="Calibri"/>
              </a:rPr>
              <a:t>27-10-2025</a:t>
            </a:r>
            <a:endParaRPr sz="1400">
              <a:solidFill>
                <a:srgbClr val="888888"/>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76"/>
          <p:cNvSpPr txBox="1">
            <a:spLocks noGrp="1"/>
          </p:cNvSpPr>
          <p:nvPr>
            <p:ph type="body" idx="1"/>
          </p:nvPr>
        </p:nvSpPr>
        <p:spPr>
          <a:xfrm>
            <a:off x="628650" y="683636"/>
            <a:ext cx="8006195" cy="4083627"/>
          </a:xfrm>
          <a:prstGeom prst="rect">
            <a:avLst/>
          </a:prstGeom>
          <a:noFill/>
          <a:ln w="9525" cap="flat" cmpd="sng">
            <a:solidFill>
              <a:srgbClr val="C00000"/>
            </a:solidFill>
            <a:prstDash val="solid"/>
            <a:round/>
            <a:headEnd type="none" w="sm" len="sm"/>
            <a:tailEnd type="none" w="sm" len="sm"/>
          </a:ln>
        </p:spPr>
        <p:txBody>
          <a:bodyPr spcFirstLastPara="1" wrap="square" lIns="68575" tIns="34275" rIns="68575" bIns="34275" anchor="t" anchorCtr="0">
            <a:normAutofit/>
          </a:bodyPr>
          <a:lstStyle/>
          <a:p>
            <a:pPr marL="12700" lvl="0" indent="0" algn="l" rtl="0">
              <a:lnSpc>
                <a:spcPct val="100000"/>
              </a:lnSpc>
              <a:spcBef>
                <a:spcPts val="0"/>
              </a:spcBef>
              <a:spcAft>
                <a:spcPts val="0"/>
              </a:spcAft>
              <a:buClr>
                <a:schemeClr val="dk1"/>
              </a:buClr>
              <a:buFont typeface="Arial"/>
              <a:buNone/>
            </a:pPr>
            <a:r>
              <a:rPr lang="en" sz="1800">
                <a:solidFill>
                  <a:srgbClr val="C00000"/>
                </a:solidFill>
              </a:rPr>
              <a:t>Journal</a:t>
            </a:r>
            <a:endParaRPr sz="1800"/>
          </a:p>
          <a:p>
            <a:pPr marL="12700" lvl="0" indent="0" algn="l" rtl="0">
              <a:lnSpc>
                <a:spcPct val="113888"/>
              </a:lnSpc>
              <a:spcBef>
                <a:spcPts val="600"/>
              </a:spcBef>
              <a:spcAft>
                <a:spcPts val="0"/>
              </a:spcAft>
              <a:buClr>
                <a:schemeClr val="dk1"/>
              </a:buClr>
              <a:buFont typeface="Arial"/>
              <a:buNone/>
            </a:pPr>
            <a:r>
              <a:rPr lang="en" sz="1500">
                <a:latin typeface="Cambria"/>
                <a:ea typeface="Cambria"/>
                <a:cs typeface="Cambria"/>
                <a:sym typeface="Cambria"/>
              </a:rPr>
              <a:t>R. Winkler and M. Söllner, "Unleashing the Potential of Chatbots in Education: A State-of-the-Art Analysis," </a:t>
            </a:r>
            <a:r>
              <a:rPr lang="en" sz="1500" i="1">
                <a:latin typeface="Cambria"/>
                <a:ea typeface="Cambria"/>
                <a:cs typeface="Cambria"/>
                <a:sym typeface="Cambria"/>
              </a:rPr>
              <a:t>Academy of Management Learning &amp; Education</a:t>
            </a:r>
            <a:r>
              <a:rPr lang="en" sz="1500">
                <a:latin typeface="Cambria"/>
                <a:ea typeface="Cambria"/>
                <a:cs typeface="Cambria"/>
                <a:sym typeface="Cambria"/>
              </a:rPr>
              <a:t>, vol. 19, no. 4, pp. 443–456, 2020.</a:t>
            </a:r>
            <a:endParaRPr>
              <a:latin typeface="Cambria"/>
              <a:ea typeface="Cambria"/>
              <a:cs typeface="Cambria"/>
              <a:sym typeface="Cambria"/>
            </a:endParaRPr>
          </a:p>
          <a:p>
            <a:pPr marL="12700" lvl="0" indent="0" algn="l" rtl="0">
              <a:lnSpc>
                <a:spcPct val="100000"/>
              </a:lnSpc>
              <a:spcBef>
                <a:spcPts val="500"/>
              </a:spcBef>
              <a:spcAft>
                <a:spcPts val="0"/>
              </a:spcAft>
              <a:buClr>
                <a:schemeClr val="dk1"/>
              </a:buClr>
              <a:buFont typeface="Arial"/>
              <a:buNone/>
            </a:pPr>
            <a:r>
              <a:rPr lang="en" sz="1800">
                <a:solidFill>
                  <a:srgbClr val="C00000"/>
                </a:solidFill>
              </a:rPr>
              <a:t>Books</a:t>
            </a:r>
            <a:endParaRPr sz="1800">
              <a:latin typeface="Cambria"/>
              <a:ea typeface="Cambria"/>
              <a:cs typeface="Cambria"/>
              <a:sym typeface="Cambria"/>
            </a:endParaRPr>
          </a:p>
          <a:p>
            <a:pPr marL="0" lvl="0" indent="0" algn="l" rtl="0">
              <a:lnSpc>
                <a:spcPct val="115000"/>
              </a:lnSpc>
              <a:spcBef>
                <a:spcPts val="900"/>
              </a:spcBef>
              <a:spcAft>
                <a:spcPts val="0"/>
              </a:spcAft>
              <a:buClr>
                <a:schemeClr val="dk1"/>
              </a:buClr>
              <a:buSzPts val="800"/>
              <a:buFont typeface="Arial"/>
              <a:buNone/>
            </a:pPr>
            <a:r>
              <a:rPr lang="en" sz="1200">
                <a:latin typeface="Arial"/>
                <a:ea typeface="Arial"/>
                <a:cs typeface="Arial"/>
                <a:sym typeface="Arial"/>
              </a:rPr>
              <a:t> </a:t>
            </a:r>
            <a:r>
              <a:rPr lang="en" sz="1500">
                <a:latin typeface="Cambria"/>
                <a:ea typeface="Cambria"/>
                <a:cs typeface="Cambria"/>
                <a:sym typeface="Cambria"/>
              </a:rPr>
              <a:t>A. Tsvetkov, </a:t>
            </a:r>
            <a:r>
              <a:rPr lang="en" sz="1500" i="1">
                <a:latin typeface="Cambria"/>
                <a:ea typeface="Cambria"/>
                <a:cs typeface="Cambria"/>
                <a:sym typeface="Cambria"/>
              </a:rPr>
              <a:t>Chatbots and Conversational Agents: A Practical Guide</a:t>
            </a:r>
            <a:r>
              <a:rPr lang="en" sz="1500">
                <a:latin typeface="Cambria"/>
                <a:ea typeface="Cambria"/>
                <a:cs typeface="Cambria"/>
                <a:sym typeface="Cambria"/>
              </a:rPr>
              <a:t>, Springer, 2021.</a:t>
            </a:r>
            <a:endParaRPr sz="1500">
              <a:latin typeface="Cambria"/>
              <a:ea typeface="Cambria"/>
              <a:cs typeface="Cambria"/>
              <a:sym typeface="Cambria"/>
            </a:endParaRPr>
          </a:p>
          <a:p>
            <a:pPr marL="0" lvl="0" indent="0" algn="l" rtl="0">
              <a:lnSpc>
                <a:spcPct val="100000"/>
              </a:lnSpc>
              <a:spcBef>
                <a:spcPts val="900"/>
              </a:spcBef>
              <a:spcAft>
                <a:spcPts val="0"/>
              </a:spcAft>
              <a:buClr>
                <a:schemeClr val="dk1"/>
              </a:buClr>
              <a:buFont typeface="Arial"/>
              <a:buNone/>
            </a:pPr>
            <a:r>
              <a:rPr lang="en" sz="1800">
                <a:solidFill>
                  <a:srgbClr val="C00000"/>
                </a:solidFill>
              </a:rPr>
              <a:t>Patent</a:t>
            </a:r>
            <a:endParaRPr sz="1800"/>
          </a:p>
          <a:p>
            <a:pPr marL="12700" lvl="0" indent="0" algn="l" rtl="0">
              <a:lnSpc>
                <a:spcPct val="100000"/>
              </a:lnSpc>
              <a:spcBef>
                <a:spcPts val="800"/>
              </a:spcBef>
              <a:spcAft>
                <a:spcPts val="0"/>
              </a:spcAft>
              <a:buClr>
                <a:schemeClr val="dk1"/>
              </a:buClr>
              <a:buFont typeface="Arial"/>
              <a:buNone/>
            </a:pPr>
            <a:r>
              <a:rPr lang="en" sz="1500">
                <a:latin typeface="Cambria"/>
                <a:ea typeface="Cambria"/>
                <a:cs typeface="Cambria"/>
                <a:sym typeface="Cambria"/>
              </a:rPr>
              <a:t>S. K. Choudhury, "System and Method for Providing Educational Chatbot Assistance," U.S. Patent 10,965,112, Mar. 30, 2021</a:t>
            </a:r>
            <a:endParaRPr sz="1500">
              <a:latin typeface="Cambria"/>
              <a:ea typeface="Cambria"/>
              <a:cs typeface="Cambria"/>
              <a:sym typeface="Cambria"/>
            </a:endParaRPr>
          </a:p>
          <a:p>
            <a:pPr marL="12700" lvl="0" indent="0" algn="l" rtl="0">
              <a:lnSpc>
                <a:spcPct val="100000"/>
              </a:lnSpc>
              <a:spcBef>
                <a:spcPts val="600"/>
              </a:spcBef>
              <a:spcAft>
                <a:spcPts val="0"/>
              </a:spcAft>
              <a:buClr>
                <a:schemeClr val="dk1"/>
              </a:buClr>
              <a:buFont typeface="Arial"/>
              <a:buNone/>
            </a:pPr>
            <a:r>
              <a:rPr lang="en" sz="1800">
                <a:solidFill>
                  <a:srgbClr val="C00000"/>
                </a:solidFill>
              </a:rPr>
              <a:t>Website</a:t>
            </a:r>
            <a:endParaRPr sz="1800"/>
          </a:p>
          <a:p>
            <a:pPr marL="0" marR="2514600" lvl="0" indent="0" algn="l" rtl="0">
              <a:lnSpc>
                <a:spcPct val="95000"/>
              </a:lnSpc>
              <a:spcBef>
                <a:spcPts val="1300"/>
              </a:spcBef>
              <a:spcAft>
                <a:spcPts val="0"/>
              </a:spcAft>
              <a:buClr>
                <a:schemeClr val="dk1"/>
              </a:buClr>
              <a:buFont typeface="Arial"/>
              <a:buNone/>
            </a:pPr>
            <a:r>
              <a:rPr lang="en" sz="1500">
                <a:latin typeface="Cambria"/>
                <a:ea typeface="Cambria"/>
                <a:cs typeface="Cambria"/>
                <a:sym typeface="Cambria"/>
              </a:rPr>
              <a:t>R. Sharma, "AI Chatbots Transforming College Admissions:Automating Student Support," </a:t>
            </a:r>
            <a:r>
              <a:rPr lang="en" sz="1500" i="1">
                <a:latin typeface="Cambria"/>
                <a:ea typeface="Cambria"/>
                <a:cs typeface="Cambria"/>
                <a:sym typeface="Cambria"/>
              </a:rPr>
              <a:t>edtechmagazine.com</a:t>
            </a:r>
            <a:r>
              <a:rPr lang="en" sz="1500">
                <a:latin typeface="Cambria"/>
                <a:ea typeface="Cambria"/>
                <a:cs typeface="Cambria"/>
                <a:sym typeface="Cambria"/>
              </a:rPr>
              <a:t>. Available:https://edtechmagazine.com/article/ai-chatbots-college-admissions (accessed Sep. 8, 2025).</a:t>
            </a:r>
            <a:endParaRPr sz="1500">
              <a:latin typeface="Cambria"/>
              <a:ea typeface="Cambria"/>
              <a:cs typeface="Cambria"/>
              <a:sym typeface="Cambria"/>
            </a:endParaRPr>
          </a:p>
          <a:p>
            <a:pPr marL="0" lvl="0" indent="0" algn="l" rtl="0">
              <a:lnSpc>
                <a:spcPct val="90000"/>
              </a:lnSpc>
              <a:spcBef>
                <a:spcPts val="800"/>
              </a:spcBef>
              <a:spcAft>
                <a:spcPts val="0"/>
              </a:spcAft>
              <a:buClr>
                <a:schemeClr val="dk1"/>
              </a:buClr>
              <a:buSzPts val="1400"/>
              <a:buNone/>
            </a:pPr>
            <a:endParaRPr sz="1800">
              <a:solidFill>
                <a:srgbClr val="C00000"/>
              </a:solidFill>
            </a:endParaRPr>
          </a:p>
        </p:txBody>
      </p:sp>
      <p:sp>
        <p:nvSpPr>
          <p:cNvPr id="607" name="Google Shape;607;p7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SzPts val="1100"/>
              <a:buNone/>
            </a:pPr>
            <a:r>
              <a:rPr lang="en" sz="1400" b="1">
                <a:solidFill>
                  <a:srgbClr val="385623"/>
                </a:solidFill>
              </a:rPr>
              <a:t>27-10-2025</a:t>
            </a:r>
            <a:endParaRPr sz="1400" b="1">
              <a:solidFill>
                <a:srgbClr val="385623"/>
              </a:solidFill>
            </a:endParaRPr>
          </a:p>
        </p:txBody>
      </p:sp>
      <p:sp>
        <p:nvSpPr>
          <p:cNvPr id="608" name="Google Shape;608;p7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
              <a:t>FINAL REVIEW PRESENTATION</a:t>
            </a:r>
            <a:endParaRPr/>
          </a:p>
        </p:txBody>
      </p:sp>
      <p:sp>
        <p:nvSpPr>
          <p:cNvPr id="609" name="Google Shape;609;p7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a:t>51</a:t>
            </a:fld>
            <a:endParaRPr/>
          </a:p>
        </p:txBody>
      </p:sp>
      <p:sp>
        <p:nvSpPr>
          <p:cNvPr id="610" name="Google Shape;610;p76"/>
          <p:cNvSpPr txBox="1">
            <a:spLocks noGrp="1"/>
          </p:cNvSpPr>
          <p:nvPr>
            <p:ph type="title"/>
          </p:nvPr>
        </p:nvSpPr>
        <p:spPr>
          <a:xfrm>
            <a:off x="628650" y="180325"/>
            <a:ext cx="7886700" cy="328829"/>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0070C0"/>
              </a:buClr>
              <a:buSzPts val="1800"/>
              <a:buFont typeface="Cambria"/>
              <a:buNone/>
            </a:pPr>
            <a:r>
              <a:rPr lang="en" sz="1800" b="1">
                <a:solidFill>
                  <a:srgbClr val="0070C0"/>
                </a:solidFill>
                <a:latin typeface="Cambria"/>
                <a:ea typeface="Cambria"/>
                <a:cs typeface="Cambria"/>
                <a:sym typeface="Cambria"/>
              </a:rPr>
              <a:t>REFERENCES</a:t>
            </a:r>
            <a:br>
              <a:rPr lang="en" sz="1800" b="1">
                <a:solidFill>
                  <a:srgbClr val="0070C0"/>
                </a:solidFill>
                <a:latin typeface="Cambria"/>
                <a:ea typeface="Cambria"/>
                <a:cs typeface="Cambria"/>
                <a:sym typeface="Cambria"/>
              </a:rPr>
            </a:br>
            <a:r>
              <a:rPr lang="en" sz="1400" b="1">
                <a:solidFill>
                  <a:srgbClr val="00B050"/>
                </a:solidFill>
                <a:latin typeface="Cambria"/>
                <a:ea typeface="Cambria"/>
                <a:cs typeface="Cambria"/>
                <a:sym typeface="Cambria"/>
              </a:rPr>
              <a:t>( Journal Papers/ Books / Website in IEEE Format )</a:t>
            </a:r>
            <a:endParaRPr sz="1400" b="1">
              <a:solidFill>
                <a:srgbClr val="00B050"/>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2993</Words>
  <Application>Microsoft Office PowerPoint</Application>
  <PresentationFormat>On-screen Show (16:9)</PresentationFormat>
  <Paragraphs>458</Paragraphs>
  <Slides>51</Slides>
  <Notes>51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51</vt:i4>
      </vt:variant>
    </vt:vector>
  </HeadingPairs>
  <TitlesOfParts>
    <vt:vector size="57" baseType="lpstr">
      <vt:lpstr>Arial</vt:lpstr>
      <vt:lpstr>Calibri</vt:lpstr>
      <vt:lpstr>Cambria</vt:lpstr>
      <vt:lpstr>Times New Roman</vt:lpstr>
      <vt:lpstr>Simple Light</vt:lpstr>
      <vt:lpstr>Office Theme</vt:lpstr>
      <vt:lpstr>Academic Year 2025 - 26   MINI PROJECT  Phase - 2 Review </vt:lpstr>
      <vt:lpstr>Academic Year 2025 - 26   MINI PROJECT  Phase - 2 Review </vt:lpstr>
      <vt:lpstr>AIM &amp; OBJECTIVES OF THE PROJECT  (Problem Statement)</vt:lpstr>
      <vt:lpstr>LITERATURE SURVEY </vt:lpstr>
      <vt:lpstr>CHOICE OF COMPONENTS / MODULES /  METHODS / TECHNIQUES EQUIPMENT USED FOR PROJECT DEVELOPMENT</vt:lpstr>
      <vt:lpstr>PROPOSED METHODOLOGY</vt:lpstr>
      <vt:lpstr>PROPOSED METHODOLOGY</vt:lpstr>
      <vt:lpstr>PROPOSED METHODOLOGY</vt:lpstr>
      <vt:lpstr>PROPOSED METHODOLOGY</vt:lpstr>
      <vt:lpstr>DESIGN(S) (HARDWARE / SOFTWARE ARCHITECTURE) </vt:lpstr>
      <vt:lpstr>DESIGN(S) (HARDWARE / SOFTWARE ARCHITECTURE) </vt:lpstr>
      <vt:lpstr>DESIGN(S) (HARDWARE / SOFTWARE ARCHITECTURE) </vt:lpstr>
      <vt:lpstr>DESIGN(S) (HARDWARE / SOFTWARE ARCHITECTURE) </vt:lpstr>
      <vt:lpstr>DATABASE SCHEMA</vt:lpstr>
      <vt:lpstr>DATABASE SCHEMA</vt:lpstr>
      <vt:lpstr>DATABASE SCHEMA</vt:lpstr>
      <vt:lpstr>REFERENCES ( Journal Papers/ Books / Patent)</vt:lpstr>
      <vt:lpstr>Academic Year 2025 - 26   MINI PROJECT  Phase - 2 Review </vt:lpstr>
      <vt:lpstr>Academic Year 2025 - 26   MINI PROJECT  Phase - 2 Review </vt:lpstr>
      <vt:lpstr>AIM &amp; OBJECTIVES OF THE PROJECT  (Problem Statement)</vt:lpstr>
      <vt:lpstr>LITERATURE SURVEY </vt:lpstr>
      <vt:lpstr>CHOICE OF COMPONENTS / MODULES /  METHODS / TECHNIQUES EQUIPMENT USED FOR PROJECT DEVELOPMENT</vt:lpstr>
      <vt:lpstr>PROPOSED METHODOLOGY</vt:lpstr>
      <vt:lpstr>PROPOSED METHODOLOGY</vt:lpstr>
      <vt:lpstr>PROPOSED METHODOLOGY</vt:lpstr>
      <vt:lpstr>PROPOSED METHODOLOGY</vt:lpstr>
      <vt:lpstr>DESIGN(S) (HARDWARE / SOFTWARE ARCHITECTURE) </vt:lpstr>
      <vt:lpstr>DESIGN(S) (HARDWARE / SOFTWARE ARCHITECTURE) </vt:lpstr>
      <vt:lpstr>DESIGN(S) (HARDWARE / SOFTWARE ARCHITECTURE) </vt:lpstr>
      <vt:lpstr>DESIGN(S) (HARDWARE / SOFTWARE ARCHITECTURE) </vt:lpstr>
      <vt:lpstr>DATABASE SCHEMA</vt:lpstr>
      <vt:lpstr>DATABASE SCHEMA</vt:lpstr>
      <vt:lpstr>DATABASE SCHEMA</vt:lpstr>
      <vt:lpstr>REFERENCES ( Journal Papers/ Books / Patent)</vt:lpstr>
      <vt:lpstr>AIM &amp; OBJECTIVES OF THE PROJECT  (Problem Statement)</vt:lpstr>
      <vt:lpstr>LITERATURE SURVEY </vt:lpstr>
      <vt:lpstr>SCOPE OF THE PROJECT</vt:lpstr>
      <vt:lpstr>NEED FOR THE CURRENT STUDY </vt:lpstr>
      <vt:lpstr>PROPOSED METHODOLOGY ( Flow Chart) </vt:lpstr>
      <vt:lpstr>CHOICE OF COMPONENTS / MODULES /  METHODS / TECHNIQUES EQUIPMENT USED FOR PROJECT DEVELOPMENT</vt:lpstr>
      <vt:lpstr>DESIGN(S) (HARDWARE / SOFTWARE ARCHITECTURE) </vt:lpstr>
      <vt:lpstr>DESIGN(S) (HARDWARE / SOFTWARE ARCHITECTURE) </vt:lpstr>
      <vt:lpstr>DESIGN(S) (HARDWARE / SOFTWARE ARCHITECTURE) </vt:lpstr>
      <vt:lpstr>DESIGN(S) (HARDWARE / SOFTWARE ARCHITECTURE) </vt:lpstr>
      <vt:lpstr>ANALYSIS OF RESULTS AND DISCUSSION</vt:lpstr>
      <vt:lpstr>CONCLUSION</vt:lpstr>
      <vt:lpstr>INDIVIDUAL CONTRIBUTIONS TO THE WORK</vt:lpstr>
      <vt:lpstr>INDIVIDUAL CONTRIBUTIONS TO THE WORK </vt:lpstr>
      <vt:lpstr>INDIVIDUAL CONTRIBUTIONS TO THE WORK</vt:lpstr>
      <vt:lpstr>INDIVIDUAL CONTRIBUTIONS TO THE WORK </vt:lpstr>
      <vt:lpstr>REFERENCES ( Journal Papers/ Books / Website in IEEE Format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Ashok Ash</cp:lastModifiedBy>
  <cp:revision>1</cp:revision>
  <dcterms:modified xsi:type="dcterms:W3CDTF">2026-03-23T12:00:30Z</dcterms:modified>
</cp:coreProperties>
</file>